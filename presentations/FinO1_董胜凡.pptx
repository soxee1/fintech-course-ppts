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4.svg" ContentType="image/svg+xml"/>
  <Override PartName="/ppt/media/image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32"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32"/>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viewProps" Target="viewProps.xml"/><Relationship Id="rId8" Type="http://schemas.openxmlformats.org/officeDocument/2006/relationships/presProps" Target="presProps.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0" Type="http://schemas.openxmlformats.org/officeDocument/2006/relationships/tableStyles" Target="tableStyles.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Good morning everyone. Today I will present Fin-o1, a NeurIPS 2025 paper from the FinAI team. The paper asks a simple question: do the reasoning-enhanced LLMs and reinforcement learning techniques behind models like o1 and DeepSeek-R1 actually transfer to finance?</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The answer is not obvious, because finance is hindered by three gaps: there is no high-quality public financial chain-of-thought dataset, the major RL algorithms have never been compared on financial tasks, and there is no comprehensive benchmark. This paper closes all three gaps with FinCoT, the Fin-o1 models, and the FinReason benchmark.</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Now the method, which has two parts. First, they build FinCoT, the first high-fidelity financial chain-of-thought corpus. They start from seven existing QA datasets, then apply a three-stage pipeline: domain-guided supervision using programmatic steps and expert-curated sub-questions; iterative LLM refinement, where GPT-4o revises and verifies the reasoning over multiple rounds; and difficulty-aware filtering, which discards pairs a small model can already solve. This yields 9,186 pairs, split into 7,686 for supervised fine-tuning and 1,500 for reinforcement learning.</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Second, they train Fin-o1 on a Qwen3 backbone: SFT followed by RL. Their GRPO reward is multi-faceted — it rewards accuracy, logical consistency, format, and response length, which is crucial for long financial documents. And the key finding is that GRPO yields reliable gains, while PPO and DPO do not.</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Finally, they introduce FinReason, which covers four complementary tasks — reasoning over tables, long contexts, equations, and multiple tables. They evaluate 29 LLMs using an LLM-as-judge paradigm.</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Two findings stand out. First, general reasoning models fail to transfer: specialized models like Fin-R1 score only about 35 on average, and strong models drop sharply on long-context and multi-table tasks. Second, Fin-o1-14B reaches 61.07, essentially tied with DeepSeek-V3 and GPT-o1, while the 8B model beats GPT-4o-mini at one-tenth the scale.</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The ablation on the right explains why: SFT data helps, but among the RL methods, only GRPO improves over SFT. The takeaway is that financial reasoning needs specialized data, models, and optimization — it cannot be solved by scaling alone. Thank you.</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12.xml"/><Relationship Id="rId4" Type="http://schemas.openxmlformats.org/officeDocument/2006/relationships/image" Target="../media/image6.svg"/><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t="12" b="12"/>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7112000" cy="6858000"/>
          </a:xfrm>
          <a:prstGeom prst="roundRect">
            <a:avLst>
              <a:gd name="adj" fmla="val 0"/>
            </a:avLst>
          </a:prstGeom>
          <a:solidFill>
            <a:srgbClr val="18263A">
              <a:alpha val="92000"/>
            </a:srgbClr>
          </a:solidFill>
          <a:ln w="25400" cap="flat" cmpd="sng">
            <a:noFill/>
            <a:prstDash val="solid"/>
            <a:round/>
          </a:ln>
        </p:spPr>
        <p:txBody>
          <a:bodyPr vert="horz" wrap="square" lIns="63500" tIns="63500" rIns="63500" bIns="63500" rtlCol="0" anchor="ctr"/>
          <a:lstStyle/>
          <a:p>
            <a:pPr algn="ctr">
              <a:defRPr/>
            </a:pPr>
            <a:endParaRPr b="1"/>
          </a:p>
        </p:txBody>
      </p:sp>
      <p:sp>
        <p:nvSpPr>
          <p:cNvPr id="4" name="AutoShape 4"/>
          <p:cNvSpPr/>
          <p:nvPr/>
        </p:nvSpPr>
        <p:spPr>
          <a:xfrm>
            <a:off x="7112000" y="0"/>
            <a:ext cx="1651000" cy="6858000"/>
          </a:xfrm>
          <a:prstGeom prst="roundRect">
            <a:avLst>
              <a:gd name="adj" fmla="val 0"/>
            </a:avLst>
          </a:prstGeom>
          <a:gradFill rotWithShape="1">
            <a:gsLst>
              <a:gs pos="0">
                <a:srgbClr val="18263A">
                  <a:alpha val="92000"/>
                </a:srgbClr>
              </a:gs>
              <a:gs pos="100000">
                <a:srgbClr val="18263A">
                  <a:alpha val="0"/>
                </a:srgbClr>
              </a:gs>
            </a:gsLst>
            <a:lin ang="0"/>
          </a:gradFill>
          <a:ln w="25400" cap="flat" cmpd="sng">
            <a:noFill/>
            <a:prstDash val="solid"/>
            <a:round/>
          </a:ln>
        </p:spPr>
        <p:txBody>
          <a:bodyPr vert="horz" wrap="square" lIns="63500" tIns="63500" rIns="63500" bIns="63500" rtlCol="0" anchor="ctr"/>
          <a:lstStyle/>
          <a:p>
            <a:pPr algn="ctr">
              <a:defRPr/>
            </a:pPr>
            <a:endParaRPr b="1"/>
          </a:p>
        </p:txBody>
      </p:sp>
      <p:sp>
        <p:nvSpPr>
          <p:cNvPr id="5" name="AutoShape 5"/>
          <p:cNvSpPr txBox="1"/>
          <p:nvPr/>
        </p:nvSpPr>
        <p:spPr>
          <a:xfrm>
            <a:off x="711200" y="889000"/>
            <a:ext cx="6096000" cy="2794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100" b="1" i="0" u="none" strike="noStrike">
                <a:solidFill>
                  <a:srgbClr val="9BC7DF"/>
                </a:solidFill>
                <a:latin typeface="微软雅黑" panose="020B0503020204020204" charset="-122"/>
                <a:ea typeface="微软雅黑" panose="020B0503020204020204" charset="-122"/>
                <a:cs typeface="Inter"/>
                <a:sym typeface="Inter"/>
              </a:rPr>
              <a:t>NEURIPS 2025 · PAPER READING</a:t>
            </a:r>
            <a:endParaRPr lang="en-US" sz="1100" b="1" i="0" u="none" strike="noStrike">
              <a:solidFill>
                <a:srgbClr val="9BC7DF"/>
              </a:solidFill>
              <a:latin typeface="微软雅黑" panose="020B0503020204020204" charset="-122"/>
              <a:ea typeface="微软雅黑" panose="020B0503020204020204" charset="-122"/>
              <a:cs typeface="Inter"/>
              <a:sym typeface="Inter"/>
            </a:endParaRPr>
          </a:p>
        </p:txBody>
      </p:sp>
      <p:cxnSp>
        <p:nvCxnSpPr>
          <p:cNvPr id="6" name="Connector 6"/>
          <p:cNvCxnSpPr/>
          <p:nvPr/>
        </p:nvCxnSpPr>
        <p:spPr>
          <a:xfrm rot="-53710">
            <a:off x="711250" y="1339850"/>
            <a:ext cx="812800" cy="12700"/>
          </a:xfrm>
          <a:prstGeom prst="straightConnector1">
            <a:avLst/>
          </a:prstGeom>
          <a:solidFill>
            <a:srgbClr val="DEE0E3">
              <a:alpha val="100000"/>
            </a:srgbClr>
          </a:solidFill>
          <a:ln w="25400" cap="flat" cmpd="sng">
            <a:solidFill>
              <a:srgbClr val="519D78">
                <a:alpha val="100000"/>
              </a:srgbClr>
            </a:solidFill>
            <a:prstDash val="solid"/>
            <a:round/>
            <a:headEnd type="none" w="lg" len="lg"/>
            <a:tailEnd type="none" w="lg" len="lg"/>
          </a:ln>
        </p:spPr>
      </p:cxnSp>
      <p:sp>
        <p:nvSpPr>
          <p:cNvPr id="7" name="AutoShape 7"/>
          <p:cNvSpPr txBox="1"/>
          <p:nvPr/>
        </p:nvSpPr>
        <p:spPr>
          <a:xfrm>
            <a:off x="711200" y="1600200"/>
            <a:ext cx="6350000" cy="1979930"/>
          </a:xfrm>
          <a:prstGeom prst="rect">
            <a:avLst/>
          </a:prstGeom>
          <a:noFill/>
          <a:ln w="12700" cap="flat" cmpd="sng">
            <a:noFill/>
            <a:prstDash val="solid"/>
            <a:round/>
          </a:ln>
        </p:spPr>
        <p:txBody>
          <a:bodyPr vert="horz" wrap="square" lIns="0" tIns="0" rIns="0" bIns="0" rtlCol="0" anchor="ctr" anchorCtr="0"/>
          <a:lstStyle/>
          <a:p>
            <a:pPr marL="0" indent="0" algn="l">
              <a:lnSpc>
                <a:spcPct val="107000"/>
              </a:lnSpc>
              <a:defRPr/>
            </a:pPr>
            <a:r>
              <a:rPr lang="en-US" sz="3000" b="1" i="0" u="none" strike="noStrike">
                <a:solidFill>
                  <a:srgbClr val="FFFFFF"/>
                </a:solidFill>
                <a:latin typeface="微软雅黑" panose="020B0503020204020204" charset="-122"/>
                <a:ea typeface="微软雅黑" panose="020B0503020204020204" charset="-122"/>
                <a:cs typeface="Inter"/>
                <a:sym typeface="Inter"/>
              </a:rPr>
              <a:t>Fin-o1: On the Transferability of Reasoning-Enhanced</a:t>
            </a:r>
            <a:endParaRPr lang="en-US" sz="1100" b="1">
              <a:latin typeface="微软雅黑" panose="020B0503020204020204" charset="-122"/>
              <a:ea typeface="微软雅黑" panose="020B0503020204020204" charset="-122"/>
            </a:endParaRPr>
          </a:p>
          <a:p>
            <a:pPr marL="0" indent="0" algn="l">
              <a:lnSpc>
                <a:spcPct val="107000"/>
              </a:lnSpc>
            </a:pPr>
            <a:r>
              <a:rPr lang="en-US" sz="3000" b="1" i="0" u="none" strike="noStrike">
                <a:solidFill>
                  <a:srgbClr val="FFFFFF"/>
                </a:solidFill>
                <a:latin typeface="微软雅黑" panose="020B0503020204020204" charset="-122"/>
                <a:ea typeface="微软雅黑" panose="020B0503020204020204" charset="-122"/>
                <a:cs typeface="Inter"/>
                <a:sym typeface="Inter"/>
              </a:rPr>
              <a:t>LLMs and Reinforcement Learning to Finance</a:t>
            </a:r>
            <a:endParaRPr lang="en-US" sz="3000" b="1" i="0" u="none" strike="noStrike">
              <a:solidFill>
                <a:srgbClr val="FFFFFF"/>
              </a:solidFill>
              <a:latin typeface="微软雅黑" panose="020B0503020204020204" charset="-122"/>
              <a:ea typeface="微软雅黑" panose="020B0503020204020204" charset="-122"/>
              <a:cs typeface="Inter"/>
              <a:sym typeface="Inter"/>
            </a:endParaRPr>
          </a:p>
        </p:txBody>
      </p:sp>
      <p:sp>
        <p:nvSpPr>
          <p:cNvPr id="8" name="AutoShape 8"/>
          <p:cNvSpPr txBox="1"/>
          <p:nvPr/>
        </p:nvSpPr>
        <p:spPr>
          <a:xfrm>
            <a:off x="711200" y="3759200"/>
            <a:ext cx="6350000" cy="584200"/>
          </a:xfrm>
          <a:prstGeom prst="rect">
            <a:avLst/>
          </a:prstGeom>
          <a:noFill/>
          <a:ln w="12700" cap="flat" cmpd="sng">
            <a:noFill/>
            <a:prstDash val="solid"/>
            <a:round/>
          </a:ln>
        </p:spPr>
        <p:txBody>
          <a:bodyPr vert="horz" wrap="square" lIns="0" tIns="0" rIns="0" bIns="0" rtlCol="0" anchor="ctr" anchorCtr="0"/>
          <a:lstStyle/>
          <a:p>
            <a:pPr marL="0" indent="0" algn="l">
              <a:lnSpc>
                <a:spcPct val="121000"/>
              </a:lnSpc>
              <a:defRPr/>
            </a:pPr>
            <a:r>
              <a:rPr lang="en-US" sz="1300" b="1" i="0" u="none" strike="noStrike">
                <a:solidFill>
                  <a:srgbClr val="C6CFDA"/>
                </a:solidFill>
                <a:latin typeface="微软雅黑" panose="020B0503020204020204" charset="-122"/>
                <a:ea typeface="微软雅黑" panose="020B0503020204020204" charset="-122"/>
                <a:cs typeface="Inter"/>
                <a:sym typeface="Inter"/>
              </a:rPr>
              <a:t>Lingfei Qian, Yan Wang, Xueqing Xie, Jian-Yun Nie, et al.</a:t>
            </a:r>
            <a:endParaRPr lang="en-US" sz="1100" b="1">
              <a:latin typeface="微软雅黑" panose="020B0503020204020204" charset="-122"/>
              <a:ea typeface="微软雅黑" panose="020B0503020204020204" charset="-122"/>
            </a:endParaRPr>
          </a:p>
          <a:p>
            <a:pPr marL="0" indent="0" algn="l">
              <a:lnSpc>
                <a:spcPct val="121000"/>
              </a:lnSpc>
            </a:pPr>
            <a:r>
              <a:rPr lang="en-US" sz="1300" b="1" i="0" u="none" strike="noStrike">
                <a:solidFill>
                  <a:srgbClr val="C6CFDA"/>
                </a:solidFill>
                <a:latin typeface="微软雅黑" panose="020B0503020204020204" charset="-122"/>
                <a:ea typeface="微软雅黑" panose="020B0503020204020204" charset="-122"/>
                <a:cs typeface="Inter"/>
                <a:sym typeface="Inter"/>
              </a:rPr>
              <a:t>The FinAI · Georgia Tech · Yale · U. Montreal</a:t>
            </a:r>
            <a:endParaRPr lang="en-US" sz="1300" b="1" i="0" u="none" strike="noStrike">
              <a:solidFill>
                <a:srgbClr val="C6CFDA"/>
              </a:solidFill>
              <a:latin typeface="微软雅黑" panose="020B0503020204020204" charset="-122"/>
              <a:ea typeface="微软雅黑" panose="020B0503020204020204" charset="-122"/>
              <a:cs typeface="Inter"/>
              <a:sym typeface="Inter"/>
            </a:endParaRPr>
          </a:p>
        </p:txBody>
      </p:sp>
      <p:cxnSp>
        <p:nvCxnSpPr>
          <p:cNvPr id="9" name="Connector 9"/>
          <p:cNvCxnSpPr/>
          <p:nvPr/>
        </p:nvCxnSpPr>
        <p:spPr>
          <a:xfrm rot="-7252">
            <a:off x="711207" y="4464050"/>
            <a:ext cx="6019800" cy="12700"/>
          </a:xfrm>
          <a:prstGeom prst="straightConnector1">
            <a:avLst/>
          </a:prstGeom>
          <a:solidFill>
            <a:srgbClr val="DEE0E3">
              <a:alpha val="100000"/>
            </a:srgbClr>
          </a:solidFill>
          <a:ln w="12700" cap="flat" cmpd="sng">
            <a:solidFill>
              <a:srgbClr val="9BC7DF">
                <a:alpha val="35000"/>
              </a:srgbClr>
            </a:solidFill>
            <a:prstDash val="solid"/>
            <a:round/>
            <a:headEnd type="none" w="med" len="med"/>
            <a:tailEnd type="none" w="med" len="med"/>
          </a:ln>
        </p:spPr>
      </p:cxnSp>
      <p:sp>
        <p:nvSpPr>
          <p:cNvPr id="10" name="AutoShape 10"/>
          <p:cNvSpPr txBox="1"/>
          <p:nvPr/>
        </p:nvSpPr>
        <p:spPr>
          <a:xfrm>
            <a:off x="711200" y="4673600"/>
            <a:ext cx="6350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7FB0DD"/>
                </a:solidFill>
                <a:latin typeface="微软雅黑" panose="020B0503020204020204" charset="-122"/>
                <a:ea typeface="微软雅黑" panose="020B0503020204020204" charset="-122"/>
                <a:cs typeface="Inter"/>
                <a:sym typeface="Inter"/>
              </a:rPr>
              <a:t>Question.</a:t>
            </a:r>
            <a:r>
              <a:rPr lang="en-US" sz="1300" b="1" i="0" u="none" strike="noStrike">
                <a:solidFill>
                  <a:srgbClr val="DCE2EA"/>
                </a:solidFill>
                <a:latin typeface="微软雅黑" panose="020B0503020204020204" charset="-122"/>
                <a:ea typeface="微软雅黑" panose="020B0503020204020204" charset="-122"/>
                <a:cs typeface="Inter"/>
                <a:sym typeface="Inter"/>
              </a:rPr>
              <a:t> Do reasoning-enhanced LLMs and RL transfer to finance?</a:t>
            </a:r>
            <a:endParaRPr lang="en-US" sz="1100" b="1">
              <a:latin typeface="微软雅黑" panose="020B0503020204020204" charset="-122"/>
              <a:ea typeface="微软雅黑" panose="020B0503020204020204" charset="-122"/>
            </a:endParaRPr>
          </a:p>
          <a:p>
            <a:pPr marL="0" indent="0" algn="l">
              <a:lnSpc>
                <a:spcPct val="125000"/>
              </a:lnSpc>
            </a:pPr>
            <a:r>
              <a:rPr lang="en-US" sz="1300" b="1" i="0" u="none" strike="noStrike">
                <a:solidFill>
                  <a:srgbClr val="5FC39A"/>
                </a:solidFill>
                <a:latin typeface="微软雅黑" panose="020B0503020204020204" charset="-122"/>
                <a:ea typeface="微软雅黑" panose="020B0503020204020204" charset="-122"/>
                <a:cs typeface="Inter"/>
                <a:sym typeface="Inter"/>
              </a:rPr>
              <a:t>Answer.</a:t>
            </a:r>
            <a:r>
              <a:rPr lang="en-US" sz="1300" b="1" i="0" u="none" strike="noStrike">
                <a:solidFill>
                  <a:srgbClr val="DCE2EA"/>
                </a:solidFill>
                <a:latin typeface="微软雅黑" panose="020B0503020204020204" charset="-122"/>
                <a:ea typeface="微软雅黑" panose="020B0503020204020204" charset="-122"/>
                <a:cs typeface="Inter"/>
                <a:sym typeface="Inter"/>
              </a:rPr>
              <a:t> Financial CoT data + GRPO: Fin-o1 rivals models 10x larger.</a:t>
            </a:r>
            <a:endParaRPr lang="en-US" sz="1300" b="1" i="0" u="none" strike="noStrike">
              <a:solidFill>
                <a:srgbClr val="DCE2EA"/>
              </a:solidFill>
              <a:latin typeface="微软雅黑" panose="020B0503020204020204" charset="-122"/>
              <a:ea typeface="微软雅黑" panose="020B0503020204020204" charset="-122"/>
              <a:cs typeface="Inter"/>
              <a:sym typeface="Inte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4181F">
            <a:alpha val="100000"/>
          </a:srgbClr>
        </a:solidFill>
        <a:effectLst/>
      </p:bgPr>
    </p:bg>
    <p:spTree>
      <p:nvGrpSpPr>
        <p:cNvPr id="1" name=""/>
        <p:cNvGrpSpPr/>
        <p:nvPr/>
      </p:nvGrpSpPr>
      <p:grpSpPr>
        <a:xfrm>
          <a:off x="0" y="0"/>
          <a:ext cx="0" cy="0"/>
          <a:chOff x="0" y="0"/>
          <a:chExt cx="0" cy="0"/>
        </a:xfrm>
      </p:grpSpPr>
      <p:sp>
        <p:nvSpPr>
          <p:cNvPr id="2" name="AutoShape 2"/>
          <p:cNvSpPr txBox="1"/>
          <p:nvPr/>
        </p:nvSpPr>
        <p:spPr>
          <a:xfrm>
            <a:off x="609600" y="508000"/>
            <a:ext cx="10972800" cy="2794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100" b="1" i="0" u="none" strike="noStrike">
                <a:solidFill>
                  <a:srgbClr val="7FB0DD"/>
                </a:solidFill>
                <a:latin typeface="微软雅黑" panose="020B0503020204020204" charset="-122"/>
                <a:ea typeface="微软雅黑" panose="020B0503020204020204" charset="-122"/>
                <a:cs typeface="Inter"/>
                <a:sym typeface="Inter"/>
              </a:rPr>
              <a:t>SECTION 2 · METHOD</a:t>
            </a:r>
            <a:endParaRPr lang="en-US" sz="1100" b="1" i="0" u="none" strike="noStrike">
              <a:solidFill>
                <a:srgbClr val="7FB0DD"/>
              </a:solidFill>
              <a:latin typeface="微软雅黑" panose="020B0503020204020204" charset="-122"/>
              <a:ea typeface="微软雅黑" panose="020B0503020204020204" charset="-122"/>
              <a:cs typeface="Inter"/>
              <a:sym typeface="Inter"/>
            </a:endParaRPr>
          </a:p>
        </p:txBody>
      </p:sp>
      <p:sp>
        <p:nvSpPr>
          <p:cNvPr id="3" name="AutoShape 3"/>
          <p:cNvSpPr txBox="1"/>
          <p:nvPr/>
        </p:nvSpPr>
        <p:spPr>
          <a:xfrm>
            <a:off x="609600" y="838200"/>
            <a:ext cx="10972800" cy="4572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400" b="1" i="0" u="none" strike="noStrike">
                <a:solidFill>
                  <a:srgbClr val="EEF2F6"/>
                </a:solidFill>
                <a:latin typeface="微软雅黑" panose="020B0503020204020204" charset="-122"/>
                <a:ea typeface="微软雅黑" panose="020B0503020204020204" charset="-122"/>
                <a:cs typeface="Inter"/>
                <a:sym typeface="Inter"/>
              </a:rPr>
              <a:t>Build High-Fidelity Financial CoT, Then Train with RL</a:t>
            </a:r>
            <a:endParaRPr lang="en-US" sz="2400" b="1" i="0" u="none" strike="noStrike">
              <a:solidFill>
                <a:srgbClr val="EEF2F6"/>
              </a:solidFill>
              <a:latin typeface="微软雅黑" panose="020B0503020204020204" charset="-122"/>
              <a:ea typeface="微软雅黑" panose="020B0503020204020204" charset="-122"/>
              <a:cs typeface="Inter"/>
              <a:sym typeface="Inter"/>
            </a:endParaRPr>
          </a:p>
        </p:txBody>
      </p:sp>
      <p:cxnSp>
        <p:nvCxnSpPr>
          <p:cNvPr id="4" name="Connector 4"/>
          <p:cNvCxnSpPr/>
          <p:nvPr/>
        </p:nvCxnSpPr>
        <p:spPr>
          <a:xfrm rot="-53710">
            <a:off x="609650" y="1416050"/>
            <a:ext cx="812800" cy="12700"/>
          </a:xfrm>
          <a:prstGeom prst="straightConnector1">
            <a:avLst/>
          </a:prstGeom>
          <a:solidFill>
            <a:srgbClr val="DEE0E3">
              <a:alpha val="100000"/>
            </a:srgbClr>
          </a:solidFill>
          <a:ln w="25400" cap="flat" cmpd="sng">
            <a:solidFill>
              <a:srgbClr val="5FC39A">
                <a:alpha val="100000"/>
              </a:srgbClr>
            </a:solidFill>
            <a:prstDash val="solid"/>
            <a:round/>
            <a:headEnd type="none" w="lg" len="lg"/>
            <a:tailEnd type="none" w="lg" len="lg"/>
          </a:ln>
        </p:spPr>
      </p:cxnSp>
      <p:sp>
        <p:nvSpPr>
          <p:cNvPr id="5" name="AutoShape 5"/>
          <p:cNvSpPr txBox="1"/>
          <p:nvPr/>
        </p:nvSpPr>
        <p:spPr>
          <a:xfrm>
            <a:off x="609600" y="1625600"/>
            <a:ext cx="381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1" i="0" u="none" strike="noStrike">
                <a:solidFill>
                  <a:srgbClr val="5FC39A"/>
                </a:solidFill>
                <a:latin typeface="微软雅黑" panose="020B0503020204020204" charset="-122"/>
                <a:ea typeface="微软雅黑" panose="020B0503020204020204" charset="-122"/>
                <a:cs typeface="Inter"/>
                <a:sym typeface="Inter"/>
              </a:rPr>
              <a:t>FinCoT · 9,186 QA PAIRS</a:t>
            </a:r>
            <a:endParaRPr lang="en-US" sz="1300" b="1" i="0" u="none" strike="noStrike">
              <a:solidFill>
                <a:srgbClr val="5FC39A"/>
              </a:solidFill>
              <a:latin typeface="微软雅黑" panose="020B0503020204020204" charset="-122"/>
              <a:ea typeface="微软雅黑" panose="020B0503020204020204" charset="-122"/>
              <a:cs typeface="Inter"/>
              <a:sym typeface="Inter"/>
            </a:endParaRPr>
          </a:p>
        </p:txBody>
      </p:sp>
      <p:sp>
        <p:nvSpPr>
          <p:cNvPr id="6" name="AutoShape 6"/>
          <p:cNvSpPr txBox="1"/>
          <p:nvPr/>
        </p:nvSpPr>
        <p:spPr>
          <a:xfrm>
            <a:off x="609600" y="2006600"/>
            <a:ext cx="3810000" cy="2159000"/>
          </a:xfrm>
          <a:prstGeom prst="rect">
            <a:avLst/>
          </a:prstGeom>
          <a:noFill/>
          <a:ln w="12700" cap="flat" cmpd="sng">
            <a:noFill/>
            <a:prstDash val="solid"/>
            <a:round/>
          </a:ln>
        </p:spPr>
        <p:txBody>
          <a:bodyPr vert="horz" wrap="square" lIns="0" tIns="0" rIns="0" bIns="0" rtlCol="0" anchor="ctr" anchorCtr="0"/>
          <a:lstStyle/>
          <a:p>
            <a:pPr marL="0" indent="0" algn="l">
              <a:lnSpc>
                <a:spcPct val="118000"/>
              </a:lnSpc>
              <a:defRPr/>
            </a:pPr>
            <a:r>
              <a:rPr lang="en-US" sz="1250" b="1" i="0" u="none" strike="noStrike">
                <a:solidFill>
                  <a:srgbClr val="5FC39A"/>
                </a:solidFill>
                <a:latin typeface="微软雅黑" panose="020B0503020204020204" charset="-122"/>
                <a:ea typeface="微软雅黑" panose="020B0503020204020204" charset="-122"/>
                <a:cs typeface="Inter"/>
                <a:sym typeface="Inter"/>
              </a:rPr>
              <a:t>1 </a:t>
            </a:r>
            <a:r>
              <a:rPr lang="en-US" sz="1250" b="1" i="0" u="none" strike="noStrike">
                <a:solidFill>
                  <a:srgbClr val="BEC7D1"/>
                </a:solidFill>
                <a:latin typeface="微软雅黑" panose="020B0503020204020204" charset="-122"/>
                <a:ea typeface="微软雅黑" panose="020B0503020204020204" charset="-122"/>
                <a:cs typeface="Inter"/>
                <a:sym typeface="Inter"/>
              </a:rPr>
              <a:t>Domain-guided supervision — programmatic steps plus expert sub-questions</a:t>
            </a:r>
            <a:endParaRPr lang="en-US" sz="1100" b="1">
              <a:latin typeface="微软雅黑" panose="020B0503020204020204" charset="-122"/>
              <a:ea typeface="微软雅黑" panose="020B0503020204020204" charset="-122"/>
            </a:endParaRPr>
          </a:p>
          <a:p>
            <a:pPr marL="0" indent="0" algn="l">
              <a:lnSpc>
                <a:spcPct val="118000"/>
              </a:lnSpc>
            </a:pPr>
            <a:endParaRPr b="1">
              <a:latin typeface="微软雅黑" panose="020B0503020204020204" charset="-122"/>
              <a:ea typeface="微软雅黑" panose="020B0503020204020204" charset="-122"/>
            </a:endParaRPr>
          </a:p>
          <a:p>
            <a:pPr marL="0" indent="0" algn="l">
              <a:lnSpc>
                <a:spcPct val="118000"/>
              </a:lnSpc>
            </a:pPr>
            <a:r>
              <a:rPr lang="en-US" sz="1250" b="1" i="0" u="none" strike="noStrike">
                <a:solidFill>
                  <a:srgbClr val="5FC39A"/>
                </a:solidFill>
                <a:latin typeface="微软雅黑" panose="020B0503020204020204" charset="-122"/>
                <a:ea typeface="微软雅黑" panose="020B0503020204020204" charset="-122"/>
                <a:cs typeface="Inter"/>
                <a:sym typeface="Inter"/>
              </a:rPr>
              <a:t>2 </a:t>
            </a:r>
            <a:r>
              <a:rPr lang="en-US" sz="1250" b="1" i="0" u="none" strike="noStrike">
                <a:solidFill>
                  <a:srgbClr val="BEC7D1"/>
                </a:solidFill>
                <a:latin typeface="微软雅黑" panose="020B0503020204020204" charset="-122"/>
                <a:ea typeface="微软雅黑" panose="020B0503020204020204" charset="-122"/>
                <a:cs typeface="Inter"/>
                <a:sym typeface="Inter"/>
              </a:rPr>
              <a:t>Iterative LLM refinement — multi-round verification via GPT-4o</a:t>
            </a:r>
            <a:endParaRPr lang="en-US" sz="1250" b="1" i="0" u="none" strike="noStrike">
              <a:solidFill>
                <a:srgbClr val="BEC7D1"/>
              </a:solidFill>
              <a:latin typeface="微软雅黑" panose="020B0503020204020204" charset="-122"/>
              <a:ea typeface="微软雅黑" panose="020B0503020204020204" charset="-122"/>
              <a:cs typeface="Inter"/>
              <a:sym typeface="Inter"/>
            </a:endParaRPr>
          </a:p>
          <a:p>
            <a:pPr marL="0" indent="0" algn="l">
              <a:lnSpc>
                <a:spcPct val="118000"/>
              </a:lnSpc>
            </a:pPr>
            <a:endParaRPr b="1">
              <a:latin typeface="微软雅黑" panose="020B0503020204020204" charset="-122"/>
              <a:ea typeface="微软雅黑" panose="020B0503020204020204" charset="-122"/>
            </a:endParaRPr>
          </a:p>
          <a:p>
            <a:pPr marL="0" indent="0" algn="l">
              <a:lnSpc>
                <a:spcPct val="118000"/>
              </a:lnSpc>
            </a:pPr>
            <a:r>
              <a:rPr lang="en-US" sz="1250" b="1" i="0" u="none" strike="noStrike">
                <a:solidFill>
                  <a:srgbClr val="5FC39A"/>
                </a:solidFill>
                <a:latin typeface="微软雅黑" panose="020B0503020204020204" charset="-122"/>
                <a:ea typeface="微软雅黑" panose="020B0503020204020204" charset="-122"/>
                <a:cs typeface="Inter"/>
                <a:sym typeface="Inter"/>
              </a:rPr>
              <a:t>3 </a:t>
            </a:r>
            <a:r>
              <a:rPr lang="en-US" sz="1250" b="1" i="0" u="none" strike="noStrike">
                <a:solidFill>
                  <a:srgbClr val="BEC7D1"/>
                </a:solidFill>
                <a:latin typeface="微软雅黑" panose="020B0503020204020204" charset="-122"/>
                <a:ea typeface="微软雅黑" panose="020B0503020204020204" charset="-122"/>
                <a:cs typeface="Inter"/>
                <a:sym typeface="Inter"/>
              </a:rPr>
              <a:t>Difficulty-aware filtering — keep only challenging pairs</a:t>
            </a:r>
            <a:endParaRPr lang="en-US" sz="1250" b="1" i="0" u="none" strike="noStrike">
              <a:solidFill>
                <a:srgbClr val="BEC7D1"/>
              </a:solidFill>
              <a:latin typeface="微软雅黑" panose="020B0503020204020204" charset="-122"/>
              <a:ea typeface="微软雅黑" panose="020B0503020204020204" charset="-122"/>
              <a:cs typeface="Inter"/>
              <a:sym typeface="Inter"/>
            </a:endParaRPr>
          </a:p>
          <a:p>
            <a:pPr marL="0" indent="0" algn="l">
              <a:lnSpc>
                <a:spcPct val="118000"/>
              </a:lnSpc>
            </a:pPr>
            <a:endParaRPr b="1">
              <a:latin typeface="微软雅黑" panose="020B0503020204020204" charset="-122"/>
              <a:ea typeface="微软雅黑" panose="020B0503020204020204" charset="-122"/>
            </a:endParaRPr>
          </a:p>
          <a:p>
            <a:pPr marL="0" indent="0" algn="l">
              <a:lnSpc>
                <a:spcPct val="118000"/>
              </a:lnSpc>
            </a:pPr>
            <a:r>
              <a:rPr lang="en-US" sz="1250" b="1" i="0" u="none" strike="noStrike">
                <a:solidFill>
                  <a:srgbClr val="BEC7D1"/>
                </a:solidFill>
                <a:latin typeface="微软雅黑" panose="020B0503020204020204" charset="-122"/>
                <a:ea typeface="微软雅黑" panose="020B0503020204020204" charset="-122"/>
                <a:cs typeface="Inter"/>
                <a:sym typeface="Inter"/>
              </a:rPr>
              <a:t>Split: 7,686 for SFT + 1,500 for RL</a:t>
            </a:r>
            <a:endParaRPr lang="en-US" sz="1250" b="1" i="0" u="none" strike="noStrike">
              <a:solidFill>
                <a:srgbClr val="BEC7D1"/>
              </a:solidFill>
              <a:latin typeface="微软雅黑" panose="020B0503020204020204" charset="-122"/>
              <a:ea typeface="微软雅黑" panose="020B0503020204020204" charset="-122"/>
              <a:cs typeface="Inter"/>
              <a:sym typeface="Inter"/>
            </a:endParaRPr>
          </a:p>
        </p:txBody>
      </p:sp>
      <p:cxnSp>
        <p:nvCxnSpPr>
          <p:cNvPr id="7" name="Connector 7"/>
          <p:cNvCxnSpPr/>
          <p:nvPr/>
        </p:nvCxnSpPr>
        <p:spPr>
          <a:xfrm rot="-11459">
            <a:off x="609611" y="4260850"/>
            <a:ext cx="3810000" cy="12700"/>
          </a:xfrm>
          <a:prstGeom prst="straightConnector1">
            <a:avLst/>
          </a:prstGeom>
          <a:solidFill>
            <a:srgbClr val="DEE0E3">
              <a:alpha val="100000"/>
            </a:srgbClr>
          </a:solidFill>
          <a:ln w="12700" cap="flat" cmpd="sng">
            <a:solidFill>
              <a:srgbClr val="7FB0DD">
                <a:alpha val="30000"/>
              </a:srgbClr>
            </a:solidFill>
            <a:prstDash val="solid"/>
            <a:round/>
            <a:headEnd type="none" w="med" len="med"/>
            <a:tailEnd type="none" w="med" len="med"/>
          </a:ln>
        </p:spPr>
      </p:cxnSp>
      <p:sp>
        <p:nvSpPr>
          <p:cNvPr id="8" name="AutoShape 8"/>
          <p:cNvSpPr txBox="1"/>
          <p:nvPr/>
        </p:nvSpPr>
        <p:spPr>
          <a:xfrm>
            <a:off x="609600" y="4419600"/>
            <a:ext cx="381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1" i="0" u="none" strike="noStrike">
                <a:solidFill>
                  <a:srgbClr val="7FB0DD"/>
                </a:solidFill>
                <a:latin typeface="微软雅黑" panose="020B0503020204020204" charset="-122"/>
                <a:ea typeface="微软雅黑" panose="020B0503020204020204" charset="-122"/>
                <a:cs typeface="Inter"/>
                <a:sym typeface="Inter"/>
              </a:rPr>
              <a:t>Fin-o1 · QWEN3 BACKBONE</a:t>
            </a:r>
            <a:endParaRPr lang="en-US" sz="1300" b="1" i="0" u="none" strike="noStrike">
              <a:solidFill>
                <a:srgbClr val="7FB0DD"/>
              </a:solidFill>
              <a:latin typeface="微软雅黑" panose="020B0503020204020204" charset="-122"/>
              <a:ea typeface="微软雅黑" panose="020B0503020204020204" charset="-122"/>
              <a:cs typeface="Inter"/>
              <a:sym typeface="Inter"/>
            </a:endParaRPr>
          </a:p>
        </p:txBody>
      </p:sp>
      <p:sp>
        <p:nvSpPr>
          <p:cNvPr id="9" name="AutoShape 9"/>
          <p:cNvSpPr txBox="1"/>
          <p:nvPr/>
        </p:nvSpPr>
        <p:spPr>
          <a:xfrm>
            <a:off x="609600" y="4800600"/>
            <a:ext cx="381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50" b="1" i="0" u="none" strike="noStrike">
                <a:solidFill>
                  <a:srgbClr val="BEC7D1"/>
                </a:solidFill>
                <a:latin typeface="微软雅黑" panose="020B0503020204020204" charset="-122"/>
                <a:ea typeface="微软雅黑" panose="020B0503020204020204" charset="-122"/>
                <a:cs typeface="Inter"/>
                <a:sym typeface="Inter"/>
              </a:rPr>
              <a:t>Backbone → SFT → RL (GRPO)</a:t>
            </a:r>
            <a:endParaRPr lang="en-US" sz="1100" b="1">
              <a:latin typeface="微软雅黑" panose="020B0503020204020204" charset="-122"/>
              <a:ea typeface="微软雅黑" panose="020B0503020204020204" charset="-122"/>
            </a:endParaRPr>
          </a:p>
          <a:p>
            <a:pPr marL="0" indent="0" algn="l">
              <a:lnSpc>
                <a:spcPct val="117000"/>
              </a:lnSpc>
            </a:pPr>
            <a:r>
              <a:rPr lang="en-US" sz="1250" b="1" i="0" u="none" strike="noStrike">
                <a:solidFill>
                  <a:srgbClr val="BEC7D1"/>
                </a:solidFill>
                <a:latin typeface="微软雅黑" panose="020B0503020204020204" charset="-122"/>
                <a:ea typeface="微软雅黑" panose="020B0503020204020204" charset="-122"/>
                <a:cs typeface="Inter"/>
                <a:sym typeface="Inter"/>
              </a:rPr>
              <a:t>Multi-faceted reward: accuracy · logic · format · length</a:t>
            </a:r>
            <a:endParaRPr lang="en-US" sz="1250" b="1" i="0" u="none" strike="noStrike">
              <a:solidFill>
                <a:srgbClr val="BEC7D1"/>
              </a:solidFill>
              <a:latin typeface="微软雅黑" panose="020B0503020204020204" charset="-122"/>
              <a:ea typeface="微软雅黑" panose="020B0503020204020204" charset="-122"/>
              <a:cs typeface="Inter"/>
              <a:sym typeface="Inter"/>
            </a:endParaRPr>
          </a:p>
        </p:txBody>
      </p:sp>
      <p:pic>
        <p:nvPicPr>
          <p:cNvPr id="10" name="Picture 10"/>
          <p:cNvPicPr>
            <a:picLocks noChangeAspect="1"/>
          </p:cNvPicPr>
          <p:nvPr/>
        </p:nvPicPr>
        <p:blipFill>
          <a:blip r:embed="rId1"/>
          <a:srcRect l="60" r="60"/>
          <a:stretch>
            <a:fillRect/>
          </a:stretch>
        </p:blipFill>
        <p:spPr>
          <a:xfrm>
            <a:off x="4419600" y="1480185"/>
            <a:ext cx="7461250" cy="3650615"/>
          </a:xfrm>
          <a:prstGeom prst="rect">
            <a:avLst/>
          </a:prstGeom>
          <a:noFill/>
          <a:ln w="25400" cap="flat" cmpd="sng">
            <a:noFill/>
            <a:prstDash val="solid"/>
            <a:round/>
          </a:ln>
        </p:spPr>
      </p:pic>
      <p:sp>
        <p:nvSpPr>
          <p:cNvPr id="11" name="AutoShape 11"/>
          <p:cNvSpPr txBox="1"/>
          <p:nvPr/>
        </p:nvSpPr>
        <p:spPr>
          <a:xfrm>
            <a:off x="4724400" y="5130800"/>
            <a:ext cx="7061200" cy="2286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1000" b="1" i="0" u="none" strike="noStrike">
                <a:solidFill>
                  <a:srgbClr val="828C98"/>
                </a:solidFill>
                <a:latin typeface="Inter"/>
                <a:ea typeface="Inter"/>
                <a:cs typeface="Inter"/>
                <a:sym typeface="Inter"/>
              </a:rPr>
              <a:t>Figure 1. Overall framework of FinCoT, Fin-o1, and FinReason (Qian et al., 2025)</a:t>
            </a:r>
            <a:endParaRPr lang="en-US" sz="1000" b="1" i="0" u="none" strike="noStrike">
              <a:solidFill>
                <a:srgbClr val="828C98"/>
              </a:solidFill>
              <a:latin typeface="Inter"/>
              <a:ea typeface="Inter"/>
              <a:cs typeface="Inter"/>
              <a:sym typeface="Inter"/>
            </a:endParaRPr>
          </a:p>
        </p:txBody>
      </p:sp>
      <p:cxnSp>
        <p:nvCxnSpPr>
          <p:cNvPr id="12" name="Connector 12"/>
          <p:cNvCxnSpPr/>
          <p:nvPr/>
        </p:nvCxnSpPr>
        <p:spPr>
          <a:xfrm rot="-3906">
            <a:off x="609604" y="5657850"/>
            <a:ext cx="11176000" cy="12700"/>
          </a:xfrm>
          <a:prstGeom prst="straightConnector1">
            <a:avLst/>
          </a:prstGeom>
          <a:solidFill>
            <a:srgbClr val="DEE0E3">
              <a:alpha val="100000"/>
            </a:srgbClr>
          </a:solidFill>
          <a:ln w="12700" cap="flat" cmpd="sng">
            <a:solidFill>
              <a:srgbClr val="7FB0DD">
                <a:alpha val="30000"/>
              </a:srgbClr>
            </a:solidFill>
            <a:prstDash val="solid"/>
            <a:round/>
            <a:headEnd type="none" w="med" len="med"/>
            <a:tailEnd type="none" w="med" len="med"/>
          </a:ln>
        </p:spPr>
      </p:cxnSp>
      <p:sp>
        <p:nvSpPr>
          <p:cNvPr id="13" name="AutoShape 13"/>
          <p:cNvSpPr txBox="1"/>
          <p:nvPr/>
        </p:nvSpPr>
        <p:spPr>
          <a:xfrm>
            <a:off x="609600" y="5816600"/>
            <a:ext cx="889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50" b="1" i="0" u="none" strike="noStrike">
                <a:solidFill>
                  <a:srgbClr val="5FC39A"/>
                </a:solidFill>
                <a:latin typeface="微软雅黑" panose="020B0503020204020204" charset="-122"/>
                <a:ea typeface="微软雅黑" panose="020B0503020204020204" charset="-122"/>
                <a:cs typeface="Inter"/>
                <a:sym typeface="Inter"/>
              </a:rPr>
              <a:t>Key finding: </a:t>
            </a:r>
            <a:r>
              <a:rPr lang="en-US" sz="1250" b="1" i="0" u="none" strike="noStrike">
                <a:solidFill>
                  <a:srgbClr val="DCE2E8"/>
                </a:solidFill>
                <a:latin typeface="微软雅黑" panose="020B0503020204020204" charset="-122"/>
                <a:ea typeface="微软雅黑" panose="020B0503020204020204" charset="-122"/>
                <a:cs typeface="Inter"/>
                <a:sym typeface="Inter"/>
              </a:rPr>
              <a:t>GRPO yields reliable gains across all tasks; PPO and DPO do not.</a:t>
            </a:r>
            <a:endParaRPr lang="en-US" sz="1100" b="1">
              <a:latin typeface="微软雅黑" panose="020B0503020204020204" charset="-122"/>
              <a:ea typeface="微软雅黑" panose="020B0503020204020204" charset="-122"/>
            </a:endParaRPr>
          </a:p>
        </p:txBody>
      </p:sp>
      <p:sp>
        <p:nvSpPr>
          <p:cNvPr id="14" name="AutoShape 14"/>
          <p:cNvSpPr txBox="1"/>
          <p:nvPr/>
        </p:nvSpPr>
        <p:spPr>
          <a:xfrm>
            <a:off x="10414000" y="5816600"/>
            <a:ext cx="1117600" cy="304800"/>
          </a:xfrm>
          <a:prstGeom prst="rect">
            <a:avLst/>
          </a:prstGeom>
          <a:noFill/>
          <a:ln w="12700" cap="flat" cmpd="sng">
            <a:noFill/>
            <a:prstDash val="solid"/>
            <a:round/>
          </a:ln>
        </p:spPr>
        <p:txBody>
          <a:bodyPr vert="horz" wrap="square" lIns="0" tIns="0" rIns="0" bIns="0" rtlCol="0" anchor="ctr" anchorCtr="0"/>
          <a:lstStyle/>
          <a:p>
            <a:pPr marL="0" indent="0" algn="r">
              <a:lnSpc>
                <a:spcPct val="100000"/>
              </a:lnSpc>
              <a:defRPr/>
            </a:pPr>
            <a:r>
              <a:rPr lang="en-US" sz="1000" b="1" i="0" u="none" strike="noStrike">
                <a:solidFill>
                  <a:srgbClr val="828C98"/>
                </a:solidFill>
                <a:latin typeface="Inter"/>
                <a:ea typeface="Inter"/>
                <a:cs typeface="Inter"/>
                <a:sym typeface="Inter"/>
              </a:rPr>
              <a:t>2 / 3</a:t>
            </a:r>
            <a:endParaRPr lang="en-US" sz="1000" b="1" i="0" u="none" strike="noStrike">
              <a:solidFill>
                <a:srgbClr val="828C98"/>
              </a:solidFill>
              <a:latin typeface="Inter"/>
              <a:ea typeface="Inter"/>
              <a:cs typeface="Inter"/>
              <a:sym typeface="Inte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CFCFA">
            <a:alpha val="100000"/>
          </a:srgbClr>
        </a:solidFill>
        <a:effectLst/>
      </p:bgPr>
    </p:bg>
    <p:spTree>
      <p:nvGrpSpPr>
        <p:cNvPr id="1" name=""/>
        <p:cNvGrpSpPr/>
        <p:nvPr/>
      </p:nvGrpSpPr>
      <p:grpSpPr>
        <a:xfrm>
          <a:off x="0" y="0"/>
          <a:ext cx="0" cy="0"/>
          <a:chOff x="0" y="0"/>
          <a:chExt cx="0" cy="0"/>
        </a:xfrm>
      </p:grpSpPr>
      <p:sp>
        <p:nvSpPr>
          <p:cNvPr id="2" name="AutoShape 2"/>
          <p:cNvSpPr txBox="1"/>
          <p:nvPr/>
        </p:nvSpPr>
        <p:spPr>
          <a:xfrm>
            <a:off x="508000" y="482600"/>
            <a:ext cx="11176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100" b="1" i="0" u="none" strike="noStrike">
                <a:solidFill>
                  <a:srgbClr val="5385BD"/>
                </a:solidFill>
                <a:latin typeface="微软雅黑" panose="020B0503020204020204" charset="-122"/>
                <a:ea typeface="微软雅黑" panose="020B0503020204020204" charset="-122"/>
                <a:cs typeface="Inter"/>
                <a:sym typeface="Inter"/>
              </a:rPr>
              <a:t>SECTION 3 · EVALUATION</a:t>
            </a:r>
            <a:endParaRPr lang="en-US" sz="1100" b="1" i="0" u="none" strike="noStrike">
              <a:solidFill>
                <a:srgbClr val="5385BD"/>
              </a:solidFill>
              <a:latin typeface="微软雅黑" panose="020B0503020204020204" charset="-122"/>
              <a:ea typeface="微软雅黑" panose="020B0503020204020204" charset="-122"/>
              <a:cs typeface="Inter"/>
              <a:sym typeface="Inter"/>
            </a:endParaRPr>
          </a:p>
        </p:txBody>
      </p:sp>
      <p:sp>
        <p:nvSpPr>
          <p:cNvPr id="3" name="AutoShape 3"/>
          <p:cNvSpPr txBox="1"/>
          <p:nvPr/>
        </p:nvSpPr>
        <p:spPr>
          <a:xfrm>
            <a:off x="508000" y="787400"/>
            <a:ext cx="11176000" cy="4318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300" b="1" i="0" u="none" strike="noStrike">
                <a:solidFill>
                  <a:srgbClr val="18263A"/>
                </a:solidFill>
                <a:latin typeface="Inter"/>
                <a:ea typeface="Inter"/>
                <a:cs typeface="Inter"/>
                <a:sym typeface="Inter"/>
              </a:rPr>
              <a:t>FinReason: </a:t>
            </a:r>
            <a:r>
              <a:rPr lang="en-US" sz="2300" b="1" i="0" u="none" strike="noStrike">
                <a:solidFill>
                  <a:srgbClr val="18263A"/>
                </a:solidFill>
                <a:latin typeface="微软雅黑" panose="020B0503020204020204" charset="-122"/>
                <a:ea typeface="微软雅黑" panose="020B0503020204020204" charset="-122"/>
                <a:cs typeface="Inter"/>
                <a:sym typeface="Inter"/>
              </a:rPr>
              <a:t>General </a:t>
            </a:r>
            <a:r>
              <a:rPr lang="en-US" sz="2300" b="1" i="0" u="none" strike="noStrike">
                <a:solidFill>
                  <a:srgbClr val="18263A"/>
                </a:solidFill>
                <a:latin typeface="Inter"/>
                <a:ea typeface="Inter"/>
                <a:cs typeface="Inter"/>
                <a:sym typeface="Inter"/>
              </a:rPr>
              <a:t>Models Fail; Fin-o1 Matches Models 10x Larger</a:t>
            </a:r>
            <a:endParaRPr lang="en-US" sz="2300" b="1" i="0" u="none" strike="noStrike">
              <a:solidFill>
                <a:srgbClr val="18263A"/>
              </a:solidFill>
              <a:latin typeface="Inter"/>
              <a:ea typeface="Inter"/>
              <a:cs typeface="Inter"/>
              <a:sym typeface="Inter"/>
            </a:endParaRPr>
          </a:p>
        </p:txBody>
      </p:sp>
      <p:cxnSp>
        <p:nvCxnSpPr>
          <p:cNvPr id="4" name="Connector 4"/>
          <p:cNvCxnSpPr/>
          <p:nvPr/>
        </p:nvCxnSpPr>
        <p:spPr>
          <a:xfrm rot="-53710">
            <a:off x="508050" y="1314450"/>
            <a:ext cx="812800" cy="12700"/>
          </a:xfrm>
          <a:prstGeom prst="straightConnector1">
            <a:avLst/>
          </a:prstGeom>
          <a:solidFill>
            <a:srgbClr val="DEE0E3">
              <a:alpha val="100000"/>
            </a:srgbClr>
          </a:solidFill>
          <a:ln w="25400" cap="flat" cmpd="sng">
            <a:solidFill>
              <a:srgbClr val="519D78">
                <a:alpha val="100000"/>
              </a:srgbClr>
            </a:solidFill>
            <a:prstDash val="solid"/>
            <a:round/>
            <a:headEnd type="none" w="lg" len="lg"/>
            <a:tailEnd type="none" w="lg" len="lg"/>
          </a:ln>
        </p:spPr>
      </p:cxnSp>
      <p:sp>
        <p:nvSpPr>
          <p:cNvPr id="5" name="AutoShape 5"/>
          <p:cNvSpPr txBox="1"/>
          <p:nvPr/>
        </p:nvSpPr>
        <p:spPr>
          <a:xfrm>
            <a:off x="508000" y="1447800"/>
            <a:ext cx="11176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150" b="1" i="0" u="none" strike="noStrike">
                <a:solidFill>
                  <a:srgbClr val="69788C"/>
                </a:solidFill>
                <a:latin typeface="微软雅黑" panose="020B0503020204020204" charset="-122"/>
                <a:ea typeface="微软雅黑" panose="020B0503020204020204" charset="-122"/>
                <a:cs typeface="Inter"/>
                <a:sym typeface="Inter"/>
              </a:rPr>
              <a:t>FinReason benchmark: 4 tasks — tables (FinQA), long context (Simplong), equations (XBRL-Math), multi-table (Complong) · 29 LLMs · LLM-as-judge</a:t>
            </a:r>
            <a:endParaRPr lang="en-US" sz="1150" b="1" i="0" u="none" strike="noStrike">
              <a:solidFill>
                <a:srgbClr val="69788C"/>
              </a:solidFill>
              <a:latin typeface="微软雅黑" panose="020B0503020204020204" charset="-122"/>
              <a:ea typeface="微软雅黑" panose="020B0503020204020204" charset="-122"/>
              <a:cs typeface="Inter"/>
              <a:sym typeface="Inter"/>
            </a:endParaRPr>
          </a:p>
        </p:txBody>
      </p:sp>
      <p:cxnSp>
        <p:nvCxnSpPr>
          <p:cNvPr id="6" name="Connector 6"/>
          <p:cNvCxnSpPr/>
          <p:nvPr/>
        </p:nvCxnSpPr>
        <p:spPr>
          <a:xfrm rot="-3906">
            <a:off x="508004" y="5327650"/>
            <a:ext cx="11176000" cy="12700"/>
          </a:xfrm>
          <a:prstGeom prst="straightConnector1">
            <a:avLst/>
          </a:prstGeom>
          <a:solidFill>
            <a:srgbClr val="DEE0E3">
              <a:alpha val="100000"/>
            </a:srgbClr>
          </a:solidFill>
          <a:ln w="12700" cap="flat" cmpd="sng">
            <a:solidFill>
              <a:srgbClr val="D2D6DC">
                <a:alpha val="100000"/>
              </a:srgbClr>
            </a:solidFill>
            <a:prstDash val="solid"/>
            <a:round/>
            <a:headEnd type="none" w="med" len="med"/>
            <a:tailEnd type="none" w="med" len="med"/>
          </a:ln>
        </p:spPr>
      </p:cxnSp>
      <p:sp>
        <p:nvSpPr>
          <p:cNvPr id="7" name="AutoShape 7"/>
          <p:cNvSpPr txBox="1"/>
          <p:nvPr/>
        </p:nvSpPr>
        <p:spPr>
          <a:xfrm>
            <a:off x="508000" y="5461000"/>
            <a:ext cx="3556000" cy="558800"/>
          </a:xfrm>
          <a:prstGeom prst="rect">
            <a:avLst/>
          </a:prstGeom>
          <a:noFill/>
          <a:ln w="12700" cap="flat" cmpd="sng">
            <a:noFill/>
            <a:prstDash val="solid"/>
            <a:round/>
          </a:ln>
        </p:spPr>
        <p:txBody>
          <a:bodyPr vert="horz" wrap="square" lIns="0" tIns="0" rIns="0" bIns="0" rtlCol="0" anchor="ctr" anchorCtr="0"/>
          <a:lstStyle/>
          <a:p>
            <a:pPr marL="0" indent="0" algn="l">
              <a:lnSpc>
                <a:spcPct val="113000"/>
              </a:lnSpc>
              <a:defRPr/>
            </a:pPr>
            <a:r>
              <a:rPr lang="en-US" sz="1100" b="1" i="0" u="none" strike="noStrike">
                <a:solidFill>
                  <a:srgbClr val="5385BD"/>
                </a:solidFill>
                <a:latin typeface="微软雅黑" panose="020B0503020204020204" charset="-122"/>
                <a:ea typeface="微软雅黑" panose="020B0503020204020204" charset="-122"/>
                <a:cs typeface="Inter"/>
                <a:sym typeface="Inter"/>
              </a:rPr>
              <a:t>01 </a:t>
            </a:r>
            <a:r>
              <a:rPr lang="en-US" sz="1100" b="1" i="0" u="none" strike="noStrike">
                <a:solidFill>
                  <a:srgbClr val="3C485A"/>
                </a:solidFill>
                <a:latin typeface="微软雅黑" panose="020B0503020204020204" charset="-122"/>
                <a:ea typeface="微软雅黑" panose="020B0503020204020204" charset="-122"/>
                <a:cs typeface="Inter"/>
                <a:sym typeface="Inter"/>
              </a:rPr>
              <a:t>General reasoning models degrade on finance, especially long-context and multi-table.</a:t>
            </a:r>
            <a:endParaRPr lang="en-US" sz="1100" b="1">
              <a:latin typeface="微软雅黑" panose="020B0503020204020204" charset="-122"/>
              <a:ea typeface="微软雅黑" panose="020B0503020204020204" charset="-122"/>
            </a:endParaRPr>
          </a:p>
        </p:txBody>
      </p:sp>
      <p:sp>
        <p:nvSpPr>
          <p:cNvPr id="8" name="AutoShape 8"/>
          <p:cNvSpPr txBox="1"/>
          <p:nvPr/>
        </p:nvSpPr>
        <p:spPr>
          <a:xfrm>
            <a:off x="4191000" y="5461000"/>
            <a:ext cx="3556000" cy="558800"/>
          </a:xfrm>
          <a:prstGeom prst="rect">
            <a:avLst/>
          </a:prstGeom>
          <a:noFill/>
          <a:ln w="12700" cap="flat" cmpd="sng">
            <a:noFill/>
            <a:prstDash val="solid"/>
            <a:round/>
          </a:ln>
        </p:spPr>
        <p:txBody>
          <a:bodyPr vert="horz" wrap="square" lIns="0" tIns="0" rIns="0" bIns="0" rtlCol="0" anchor="ctr" anchorCtr="0"/>
          <a:lstStyle/>
          <a:p>
            <a:pPr marL="0" indent="0" algn="l">
              <a:lnSpc>
                <a:spcPct val="113000"/>
              </a:lnSpc>
              <a:defRPr/>
            </a:pPr>
            <a:r>
              <a:rPr lang="en-US" sz="1100" b="1" i="0" u="none" strike="noStrike">
                <a:solidFill>
                  <a:srgbClr val="519D78"/>
                </a:solidFill>
                <a:latin typeface="微软雅黑" panose="020B0503020204020204" charset="-122"/>
                <a:ea typeface="微软雅黑" panose="020B0503020204020204" charset="-122"/>
                <a:cs typeface="Inter"/>
                <a:sym typeface="Inter"/>
              </a:rPr>
              <a:t>02 </a:t>
            </a:r>
            <a:r>
              <a:rPr lang="en-US" sz="1100" b="1" i="0" u="none" strike="noStrike">
                <a:solidFill>
                  <a:srgbClr val="3C485A"/>
                </a:solidFill>
                <a:latin typeface="微软雅黑" panose="020B0503020204020204" charset="-122"/>
                <a:ea typeface="微软雅黑" panose="020B0503020204020204" charset="-122"/>
                <a:cs typeface="Inter"/>
                <a:sym typeface="Inter"/>
              </a:rPr>
              <a:t>Fin-o1-14B (61.07) rivals DeepSeek-V3; 8B beats GPT-4o-mini at 1/10 scale.</a:t>
            </a:r>
            <a:endParaRPr lang="en-US" sz="1100" b="1">
              <a:latin typeface="微软雅黑" panose="020B0503020204020204" charset="-122"/>
              <a:ea typeface="微软雅黑" panose="020B0503020204020204" charset="-122"/>
            </a:endParaRPr>
          </a:p>
        </p:txBody>
      </p:sp>
      <p:sp>
        <p:nvSpPr>
          <p:cNvPr id="9" name="AutoShape 9"/>
          <p:cNvSpPr txBox="1"/>
          <p:nvPr/>
        </p:nvSpPr>
        <p:spPr>
          <a:xfrm>
            <a:off x="7874000" y="5461000"/>
            <a:ext cx="3556000" cy="558800"/>
          </a:xfrm>
          <a:prstGeom prst="rect">
            <a:avLst/>
          </a:prstGeom>
          <a:noFill/>
          <a:ln w="12700" cap="flat" cmpd="sng">
            <a:noFill/>
            <a:prstDash val="solid"/>
            <a:round/>
          </a:ln>
        </p:spPr>
        <p:txBody>
          <a:bodyPr vert="horz" wrap="square" lIns="0" tIns="0" rIns="0" bIns="0" rtlCol="0" anchor="ctr" anchorCtr="0"/>
          <a:lstStyle/>
          <a:p>
            <a:pPr marL="0" indent="0" algn="l">
              <a:lnSpc>
                <a:spcPct val="113000"/>
              </a:lnSpc>
              <a:defRPr/>
            </a:pPr>
            <a:r>
              <a:rPr lang="en-US" sz="1100" b="1" i="0" u="none" strike="noStrike">
                <a:solidFill>
                  <a:srgbClr val="519D78"/>
                </a:solidFill>
                <a:latin typeface="微软雅黑" panose="020B0503020204020204" charset="-122"/>
                <a:ea typeface="微软雅黑" panose="020B0503020204020204" charset="-122"/>
                <a:cs typeface="Inter"/>
                <a:sym typeface="Inter"/>
              </a:rPr>
              <a:t>03 </a:t>
            </a:r>
            <a:r>
              <a:rPr lang="en-US" sz="1100" b="1" i="0" u="none" strike="noStrike">
                <a:solidFill>
                  <a:srgbClr val="3C485A"/>
                </a:solidFill>
                <a:latin typeface="微软雅黑" panose="020B0503020204020204" charset="-122"/>
                <a:ea typeface="微软雅黑" panose="020B0503020204020204" charset="-122"/>
                <a:cs typeface="Inter"/>
                <a:sym typeface="Inter"/>
              </a:rPr>
              <a:t>GRPO is the only RL method that reliably improves over SFT.</a:t>
            </a:r>
            <a:endParaRPr lang="en-US" sz="1100" b="1">
              <a:latin typeface="微软雅黑" panose="020B0503020204020204" charset="-122"/>
              <a:ea typeface="微软雅黑" panose="020B0503020204020204" charset="-122"/>
            </a:endParaRPr>
          </a:p>
        </p:txBody>
      </p:sp>
      <p:sp>
        <p:nvSpPr>
          <p:cNvPr id="11" name="AutoShape 11"/>
          <p:cNvSpPr txBox="1"/>
          <p:nvPr/>
        </p:nvSpPr>
        <p:spPr>
          <a:xfrm>
            <a:off x="10414000" y="6400800"/>
            <a:ext cx="1270000" cy="228600"/>
          </a:xfrm>
          <a:prstGeom prst="rect">
            <a:avLst/>
          </a:prstGeom>
          <a:noFill/>
          <a:ln w="12700" cap="flat" cmpd="sng">
            <a:noFill/>
            <a:prstDash val="solid"/>
            <a:round/>
          </a:ln>
        </p:spPr>
        <p:txBody>
          <a:bodyPr vert="horz" wrap="square" lIns="0" tIns="0" rIns="0" bIns="0" rtlCol="0" anchor="ctr" anchorCtr="0"/>
          <a:lstStyle/>
          <a:p>
            <a:pPr marL="0" indent="0" algn="r">
              <a:lnSpc>
                <a:spcPct val="100000"/>
              </a:lnSpc>
              <a:defRPr/>
            </a:pPr>
            <a:r>
              <a:rPr lang="en-US" sz="1000" b="1" i="0" u="none" strike="noStrike">
                <a:solidFill>
                  <a:srgbClr val="969EA8"/>
                </a:solidFill>
                <a:latin typeface="Inter"/>
                <a:ea typeface="Inter"/>
                <a:cs typeface="Inter"/>
                <a:sym typeface="Inter"/>
              </a:rPr>
              <a:t>3 / 3</a:t>
            </a:r>
            <a:endParaRPr lang="en-US" sz="1000" b="1" i="0" u="none" strike="noStrike">
              <a:solidFill>
                <a:srgbClr val="969EA8"/>
              </a:solidFill>
              <a:latin typeface="Inter"/>
              <a:ea typeface="Inter"/>
              <a:cs typeface="Inter"/>
              <a:sym typeface="Inter"/>
            </a:endParaRPr>
          </a:p>
        </p:txBody>
      </p:sp>
      <p:pic>
        <p:nvPicPr>
          <p:cNvPr id="12" name="Picture 12"/>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751965" y="2611755"/>
            <a:ext cx="4150741" cy="2233803"/>
          </a:xfrm>
          <a:prstGeom prst="rect">
            <a:avLst/>
          </a:prstGeom>
        </p:spPr>
      </p:pic>
      <p:sp>
        <p:nvSpPr>
          <p:cNvPr id="13" name="Freeform 13"/>
          <p:cNvSpPr/>
          <p:nvPr/>
        </p:nvSpPr>
        <p:spPr>
          <a:xfrm>
            <a:off x="1773047" y="2674239"/>
            <a:ext cx="1788795" cy="155575"/>
          </a:xfrm>
          <a:custGeom>
            <a:avLst/>
            <a:gdLst/>
            <a:ahLst/>
            <a:cxnLst/>
            <a:rect l="l" t="t" r="r" b="b"/>
            <a:pathLst>
              <a:path w="1788795" h="155575">
                <a:moveTo>
                  <a:pt x="0" y="0"/>
                </a:moveTo>
                <a:lnTo>
                  <a:pt x="1788795" y="0"/>
                </a:lnTo>
                <a:lnTo>
                  <a:pt x="1788795" y="155575"/>
                </a:lnTo>
                <a:lnTo>
                  <a:pt x="0" y="155575"/>
                </a:lnTo>
                <a:close/>
              </a:path>
            </a:pathLst>
          </a:custGeom>
          <a:solidFill>
            <a:srgbClr val="5385BD">
              <a:alpha val="100000"/>
            </a:srgbClr>
          </a:solidFill>
          <a:ln cap="flat" cmpd="sng">
            <a:solidFill>
              <a:srgbClr val="000000">
                <a:alpha val="0"/>
              </a:srgbClr>
            </a:solidFill>
            <a:prstDash val="solid"/>
            <a:round/>
          </a:ln>
        </p:spPr>
        <p:txBody>
          <a:bodyPr vert="horz" wrap="square" lIns="63500" tIns="63500" rIns="63500" bIns="63500" rtlCol="0" anchor="ctr"/>
          <a:lstStyle/>
          <a:p>
            <a:pPr algn="ctr">
              <a:defRPr/>
            </a:pPr>
            <a:endParaRPr b="1"/>
          </a:p>
        </p:txBody>
      </p:sp>
      <p:sp>
        <p:nvSpPr>
          <p:cNvPr id="14" name="Freeform 14"/>
          <p:cNvSpPr/>
          <p:nvPr/>
        </p:nvSpPr>
        <p:spPr>
          <a:xfrm>
            <a:off x="1773047" y="2914142"/>
            <a:ext cx="1789811" cy="155575"/>
          </a:xfrm>
          <a:custGeom>
            <a:avLst/>
            <a:gdLst/>
            <a:ahLst/>
            <a:cxnLst/>
            <a:rect l="l" t="t" r="r" b="b"/>
            <a:pathLst>
              <a:path w="1789811" h="155575">
                <a:moveTo>
                  <a:pt x="0" y="0"/>
                </a:moveTo>
                <a:lnTo>
                  <a:pt x="1789811" y="0"/>
                </a:lnTo>
                <a:lnTo>
                  <a:pt x="1789811" y="155575"/>
                </a:lnTo>
                <a:lnTo>
                  <a:pt x="0" y="155575"/>
                </a:lnTo>
                <a:close/>
              </a:path>
            </a:pathLst>
          </a:custGeom>
          <a:solidFill>
            <a:srgbClr val="5385BD">
              <a:alpha val="100000"/>
            </a:srgbClr>
          </a:solidFill>
          <a:ln cap="flat" cmpd="sng">
            <a:solidFill>
              <a:srgbClr val="000000">
                <a:alpha val="0"/>
              </a:srgbClr>
            </a:solidFill>
            <a:prstDash val="solid"/>
            <a:round/>
          </a:ln>
        </p:spPr>
        <p:txBody>
          <a:bodyPr vert="horz" wrap="square" lIns="63500" tIns="63500" rIns="63500" bIns="63500" rtlCol="0" anchor="ctr"/>
          <a:lstStyle/>
          <a:p>
            <a:pPr algn="ctr">
              <a:defRPr/>
            </a:pPr>
            <a:endParaRPr b="1"/>
          </a:p>
        </p:txBody>
      </p:sp>
      <p:sp>
        <p:nvSpPr>
          <p:cNvPr id="15" name="Freeform 15"/>
          <p:cNvSpPr/>
          <p:nvPr/>
        </p:nvSpPr>
        <p:spPr>
          <a:xfrm>
            <a:off x="1773047" y="3154172"/>
            <a:ext cx="2973070" cy="155575"/>
          </a:xfrm>
          <a:custGeom>
            <a:avLst/>
            <a:gdLst/>
            <a:ahLst/>
            <a:cxnLst/>
            <a:rect l="l" t="t" r="r" b="b"/>
            <a:pathLst>
              <a:path w="2973070" h="155575">
                <a:moveTo>
                  <a:pt x="0" y="0"/>
                </a:moveTo>
                <a:lnTo>
                  <a:pt x="2973070" y="0"/>
                </a:lnTo>
                <a:lnTo>
                  <a:pt x="2973070" y="155575"/>
                </a:lnTo>
                <a:lnTo>
                  <a:pt x="0" y="155575"/>
                </a:lnTo>
                <a:close/>
              </a:path>
            </a:pathLst>
          </a:custGeom>
          <a:solidFill>
            <a:srgbClr val="5385BD">
              <a:alpha val="100000"/>
            </a:srgbClr>
          </a:solidFill>
          <a:ln cap="flat" cmpd="sng">
            <a:solidFill>
              <a:srgbClr val="000000">
                <a:alpha val="0"/>
              </a:srgbClr>
            </a:solidFill>
            <a:prstDash val="solid"/>
            <a:round/>
          </a:ln>
        </p:spPr>
        <p:txBody>
          <a:bodyPr vert="horz" wrap="square" lIns="63500" tIns="63500" rIns="63500" bIns="63500" rtlCol="0" anchor="ctr"/>
          <a:lstStyle/>
          <a:p>
            <a:pPr algn="ctr">
              <a:defRPr/>
            </a:pPr>
            <a:endParaRPr b="1"/>
          </a:p>
        </p:txBody>
      </p:sp>
      <p:sp>
        <p:nvSpPr>
          <p:cNvPr id="16" name="Freeform 16"/>
          <p:cNvSpPr/>
          <p:nvPr/>
        </p:nvSpPr>
        <p:spPr>
          <a:xfrm>
            <a:off x="1773047" y="3394202"/>
            <a:ext cx="2974594" cy="155575"/>
          </a:xfrm>
          <a:custGeom>
            <a:avLst/>
            <a:gdLst/>
            <a:ahLst/>
            <a:cxnLst/>
            <a:rect l="l" t="t" r="r" b="b"/>
            <a:pathLst>
              <a:path w="2974594" h="155575">
                <a:moveTo>
                  <a:pt x="0" y="0"/>
                </a:moveTo>
                <a:lnTo>
                  <a:pt x="2974594" y="0"/>
                </a:lnTo>
                <a:lnTo>
                  <a:pt x="2974594" y="155575"/>
                </a:lnTo>
                <a:lnTo>
                  <a:pt x="0" y="155575"/>
                </a:lnTo>
                <a:close/>
              </a:path>
            </a:pathLst>
          </a:custGeom>
          <a:solidFill>
            <a:srgbClr val="5385BD">
              <a:alpha val="100000"/>
            </a:srgbClr>
          </a:solidFill>
          <a:ln cap="flat" cmpd="sng">
            <a:solidFill>
              <a:srgbClr val="000000">
                <a:alpha val="0"/>
              </a:srgbClr>
            </a:solidFill>
            <a:prstDash val="solid"/>
            <a:round/>
          </a:ln>
        </p:spPr>
        <p:txBody>
          <a:bodyPr vert="horz" wrap="square" lIns="63500" tIns="63500" rIns="63500" bIns="63500" rtlCol="0" anchor="ctr"/>
          <a:lstStyle/>
          <a:p>
            <a:pPr algn="ctr">
              <a:defRPr/>
            </a:pPr>
            <a:endParaRPr b="1"/>
          </a:p>
        </p:txBody>
      </p:sp>
      <p:sp>
        <p:nvSpPr>
          <p:cNvPr id="17" name="Freeform 17"/>
          <p:cNvSpPr/>
          <p:nvPr/>
        </p:nvSpPr>
        <p:spPr>
          <a:xfrm>
            <a:off x="1773047" y="3634232"/>
            <a:ext cx="3078861" cy="155575"/>
          </a:xfrm>
          <a:custGeom>
            <a:avLst/>
            <a:gdLst/>
            <a:ahLst/>
            <a:cxnLst/>
            <a:rect l="l" t="t" r="r" b="b"/>
            <a:pathLst>
              <a:path w="3078861" h="155575">
                <a:moveTo>
                  <a:pt x="0" y="0"/>
                </a:moveTo>
                <a:lnTo>
                  <a:pt x="3078861" y="0"/>
                </a:lnTo>
                <a:lnTo>
                  <a:pt x="3078861" y="155575"/>
                </a:lnTo>
                <a:lnTo>
                  <a:pt x="0" y="155575"/>
                </a:lnTo>
                <a:close/>
              </a:path>
            </a:pathLst>
          </a:custGeom>
          <a:solidFill>
            <a:srgbClr val="519D78">
              <a:alpha val="100000"/>
            </a:srgbClr>
          </a:solidFill>
          <a:ln cap="flat" cmpd="sng">
            <a:solidFill>
              <a:srgbClr val="000000">
                <a:alpha val="0"/>
              </a:srgbClr>
            </a:solidFill>
            <a:prstDash val="solid"/>
            <a:round/>
          </a:ln>
        </p:spPr>
        <p:txBody>
          <a:bodyPr vert="horz" wrap="square" lIns="63500" tIns="63500" rIns="63500" bIns="63500" rtlCol="0" anchor="ctr"/>
          <a:lstStyle/>
          <a:p>
            <a:pPr algn="ctr">
              <a:defRPr/>
            </a:pPr>
            <a:endParaRPr b="1"/>
          </a:p>
        </p:txBody>
      </p:sp>
      <p:sp>
        <p:nvSpPr>
          <p:cNvPr id="18" name="Freeform 18"/>
          <p:cNvSpPr/>
          <p:nvPr/>
        </p:nvSpPr>
        <p:spPr>
          <a:xfrm>
            <a:off x="1773047" y="3874262"/>
            <a:ext cx="3123946" cy="155575"/>
          </a:xfrm>
          <a:custGeom>
            <a:avLst/>
            <a:gdLst/>
            <a:ahLst/>
            <a:cxnLst/>
            <a:rect l="l" t="t" r="r" b="b"/>
            <a:pathLst>
              <a:path w="3123946" h="155575">
                <a:moveTo>
                  <a:pt x="0" y="0"/>
                </a:moveTo>
                <a:lnTo>
                  <a:pt x="3123946" y="0"/>
                </a:lnTo>
                <a:lnTo>
                  <a:pt x="3123946" y="155575"/>
                </a:lnTo>
                <a:lnTo>
                  <a:pt x="0" y="155575"/>
                </a:lnTo>
                <a:close/>
              </a:path>
            </a:pathLst>
          </a:custGeom>
          <a:solidFill>
            <a:srgbClr val="5385BD">
              <a:alpha val="100000"/>
            </a:srgbClr>
          </a:solidFill>
          <a:ln cap="flat" cmpd="sng">
            <a:solidFill>
              <a:srgbClr val="000000">
                <a:alpha val="0"/>
              </a:srgbClr>
            </a:solidFill>
            <a:prstDash val="solid"/>
            <a:round/>
          </a:ln>
        </p:spPr>
        <p:txBody>
          <a:bodyPr vert="horz" wrap="square" lIns="63500" tIns="63500" rIns="63500" bIns="63500" rtlCol="0" anchor="ctr"/>
          <a:lstStyle/>
          <a:p>
            <a:pPr algn="ctr">
              <a:defRPr/>
            </a:pPr>
            <a:endParaRPr b="1"/>
          </a:p>
        </p:txBody>
      </p:sp>
      <p:sp>
        <p:nvSpPr>
          <p:cNvPr id="19" name="Freeform 19"/>
          <p:cNvSpPr/>
          <p:nvPr/>
        </p:nvSpPr>
        <p:spPr>
          <a:xfrm>
            <a:off x="1773047" y="4114165"/>
            <a:ext cx="3136265" cy="155575"/>
          </a:xfrm>
          <a:custGeom>
            <a:avLst/>
            <a:gdLst/>
            <a:ahLst/>
            <a:cxnLst/>
            <a:rect l="l" t="t" r="r" b="b"/>
            <a:pathLst>
              <a:path w="3136265" h="155575">
                <a:moveTo>
                  <a:pt x="0" y="0"/>
                </a:moveTo>
                <a:lnTo>
                  <a:pt x="3136265" y="0"/>
                </a:lnTo>
                <a:lnTo>
                  <a:pt x="3136265" y="155575"/>
                </a:lnTo>
                <a:lnTo>
                  <a:pt x="0" y="155575"/>
                </a:lnTo>
                <a:close/>
              </a:path>
            </a:pathLst>
          </a:custGeom>
          <a:solidFill>
            <a:srgbClr val="519D78">
              <a:alpha val="100000"/>
            </a:srgbClr>
          </a:solidFill>
          <a:ln cap="flat" cmpd="sng">
            <a:solidFill>
              <a:srgbClr val="000000">
                <a:alpha val="0"/>
              </a:srgbClr>
            </a:solidFill>
            <a:prstDash val="solid"/>
            <a:round/>
          </a:ln>
        </p:spPr>
        <p:txBody>
          <a:bodyPr vert="horz" wrap="square" lIns="63500" tIns="63500" rIns="63500" bIns="63500" rtlCol="0" anchor="ctr"/>
          <a:lstStyle/>
          <a:p>
            <a:pPr algn="ctr">
              <a:defRPr/>
            </a:pPr>
            <a:endParaRPr b="1"/>
          </a:p>
        </p:txBody>
      </p:sp>
      <p:sp>
        <p:nvSpPr>
          <p:cNvPr id="20" name="Freeform 20"/>
          <p:cNvSpPr/>
          <p:nvPr/>
        </p:nvSpPr>
        <p:spPr>
          <a:xfrm>
            <a:off x="1773047" y="4354195"/>
            <a:ext cx="3155823" cy="155575"/>
          </a:xfrm>
          <a:custGeom>
            <a:avLst/>
            <a:gdLst/>
            <a:ahLst/>
            <a:cxnLst/>
            <a:rect l="l" t="t" r="r" b="b"/>
            <a:pathLst>
              <a:path w="3155823" h="155575">
                <a:moveTo>
                  <a:pt x="0" y="0"/>
                </a:moveTo>
                <a:lnTo>
                  <a:pt x="3155823" y="0"/>
                </a:lnTo>
                <a:lnTo>
                  <a:pt x="3155823" y="155575"/>
                </a:lnTo>
                <a:lnTo>
                  <a:pt x="0" y="155575"/>
                </a:lnTo>
                <a:close/>
              </a:path>
            </a:pathLst>
          </a:custGeom>
          <a:solidFill>
            <a:srgbClr val="5385BD">
              <a:alpha val="100000"/>
            </a:srgbClr>
          </a:solidFill>
          <a:ln cap="flat" cmpd="sng">
            <a:solidFill>
              <a:srgbClr val="000000">
                <a:alpha val="0"/>
              </a:srgbClr>
            </a:solidFill>
            <a:prstDash val="solid"/>
            <a:round/>
          </a:ln>
        </p:spPr>
        <p:txBody>
          <a:bodyPr vert="horz" wrap="square" lIns="63500" tIns="63500" rIns="63500" bIns="63500" rtlCol="0" anchor="ctr"/>
          <a:lstStyle/>
          <a:p>
            <a:pPr algn="ctr">
              <a:defRPr/>
            </a:pPr>
            <a:endParaRPr b="1"/>
          </a:p>
        </p:txBody>
      </p:sp>
      <p:sp>
        <p:nvSpPr>
          <p:cNvPr id="21" name="Freeform 21"/>
          <p:cNvSpPr/>
          <p:nvPr/>
        </p:nvSpPr>
        <p:spPr>
          <a:xfrm>
            <a:off x="1773047" y="4594225"/>
            <a:ext cx="3177413" cy="155575"/>
          </a:xfrm>
          <a:custGeom>
            <a:avLst/>
            <a:gdLst/>
            <a:ahLst/>
            <a:cxnLst/>
            <a:rect l="l" t="t" r="r" b="b"/>
            <a:pathLst>
              <a:path w="3177413" h="155575">
                <a:moveTo>
                  <a:pt x="0" y="0"/>
                </a:moveTo>
                <a:lnTo>
                  <a:pt x="3177413" y="0"/>
                </a:lnTo>
                <a:lnTo>
                  <a:pt x="3177413" y="155575"/>
                </a:lnTo>
                <a:lnTo>
                  <a:pt x="0" y="155575"/>
                </a:lnTo>
                <a:close/>
              </a:path>
            </a:pathLst>
          </a:custGeom>
          <a:solidFill>
            <a:srgbClr val="5385BD">
              <a:alpha val="100000"/>
            </a:srgbClr>
          </a:solidFill>
          <a:ln cap="flat" cmpd="sng">
            <a:solidFill>
              <a:srgbClr val="000000">
                <a:alpha val="0"/>
              </a:srgbClr>
            </a:solidFill>
            <a:prstDash val="solid"/>
            <a:round/>
          </a:ln>
        </p:spPr>
        <p:txBody>
          <a:bodyPr vert="horz" wrap="square" lIns="63500" tIns="63500" rIns="63500" bIns="63500" rtlCol="0" anchor="ctr"/>
          <a:lstStyle/>
          <a:p>
            <a:pPr algn="ctr">
              <a:defRPr/>
            </a:pPr>
            <a:endParaRPr b="1"/>
          </a:p>
        </p:txBody>
      </p:sp>
      <p:sp>
        <p:nvSpPr>
          <p:cNvPr id="22" name="AutoShape 22"/>
          <p:cNvSpPr txBox="1"/>
          <p:nvPr/>
        </p:nvSpPr>
        <p:spPr>
          <a:xfrm>
            <a:off x="689610" y="1958340"/>
            <a:ext cx="3303270" cy="160020"/>
          </a:xfrm>
          <a:prstGeom prst="rect">
            <a:avLst/>
          </a:prstGeom>
          <a:noFill/>
          <a:ln w="12700" cap="flat" cmpd="sng">
            <a:noFill/>
            <a:prstDash val="solid"/>
            <a:round/>
          </a:ln>
        </p:spPr>
        <p:txBody>
          <a:bodyPr vert="horz" wrap="none" lIns="0" tIns="0" rIns="0" bIns="0" rtlCol="0" anchor="ctr" anchorCtr="0"/>
          <a:lstStyle/>
          <a:p>
            <a:pPr marL="0" indent="0" algn="l" defTabSz="596900">
              <a:lnSpc>
                <a:spcPct val="125000"/>
              </a:lnSpc>
              <a:defRPr/>
            </a:pPr>
            <a:r>
              <a:rPr lang="en-US" sz="1260" b="1" i="0" u="none" strike="noStrike">
                <a:solidFill>
                  <a:srgbClr val="18263A"/>
                </a:solidFill>
                <a:latin typeface="微软雅黑" panose="020B0503020204020204" charset="-122"/>
                <a:ea typeface="微软雅黑" panose="020B0503020204020204" charset="-122"/>
                <a:cs typeface="Noto Sans SC" panose="020B0200000000000000" charset="-122"/>
                <a:sym typeface="Noto Sans SC" panose="020B0200000000000000" charset="-122"/>
              </a:rPr>
              <a:t>Overall accuracy on FinReason (avg, %)</a:t>
            </a:r>
            <a:endParaRPr lang="en-US" sz="1260" b="1" i="0" u="none" strike="noStrike">
              <a:solidFill>
                <a:srgbClr val="18263A"/>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23" name="AutoShape 23"/>
          <p:cNvSpPr txBox="1"/>
          <p:nvPr/>
        </p:nvSpPr>
        <p:spPr>
          <a:xfrm>
            <a:off x="1772920" y="2317750"/>
            <a:ext cx="177800" cy="127000"/>
          </a:xfrm>
          <a:prstGeom prst="rect">
            <a:avLst/>
          </a:prstGeom>
          <a:noFill/>
          <a:ln w="12700" cap="flat" cmpd="sng">
            <a:noFill/>
            <a:prstDash val="solid"/>
            <a:round/>
          </a:ln>
        </p:spPr>
        <p:txBody>
          <a:bodyPr vert="horz" wrap="none" lIns="0" tIns="0" rIns="0" bIns="0" rtlCol="0" anchor="ctr" anchorCtr="0"/>
          <a:lstStyle/>
          <a:p>
            <a:pPr marL="0" indent="0" algn="l" defTabSz="596900">
              <a:lnSpc>
                <a:spcPct val="125000"/>
              </a:lnSpc>
              <a:defRPr/>
            </a:pPr>
            <a:r>
              <a:rPr lang="en-US" sz="1000"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000"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4" name="AutoShape 24"/>
          <p:cNvSpPr txBox="1"/>
          <p:nvPr/>
        </p:nvSpPr>
        <p:spPr>
          <a:xfrm>
            <a:off x="1703070" y="4885690"/>
            <a:ext cx="139700" cy="127000"/>
          </a:xfrm>
          <a:prstGeom prst="rect">
            <a:avLst/>
          </a:prstGeom>
          <a:noFill/>
          <a:ln w="12700" cap="flat" cmpd="sng">
            <a:noFill/>
            <a:prstDash val="solid"/>
            <a:round/>
          </a:ln>
        </p:spPr>
        <p:txBody>
          <a:bodyPr vert="horz" wrap="none" lIns="0" tIns="0" rIns="0" bIns="0" rtlCol="0" anchor="ctr" anchorCtr="0"/>
          <a:lstStyle/>
          <a:p>
            <a:pPr marL="0" indent="0" algn="ctr" defTabSz="596900">
              <a:lnSpc>
                <a:spcPct val="125000"/>
              </a:lnSpc>
              <a:defRPr/>
            </a:pPr>
            <a:r>
              <a:rPr lang="en-US" sz="1000"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rPr>
              <a:t>0</a:t>
            </a:r>
            <a:endParaRPr lang="en-US" sz="1000"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5" name="AutoShape 25"/>
          <p:cNvSpPr txBox="1"/>
          <p:nvPr/>
        </p:nvSpPr>
        <p:spPr>
          <a:xfrm>
            <a:off x="2692400" y="4885690"/>
            <a:ext cx="215900" cy="127000"/>
          </a:xfrm>
          <a:prstGeom prst="rect">
            <a:avLst/>
          </a:prstGeom>
          <a:noFill/>
          <a:ln w="12700" cap="flat" cmpd="sng">
            <a:noFill/>
            <a:prstDash val="solid"/>
            <a:round/>
          </a:ln>
        </p:spPr>
        <p:txBody>
          <a:bodyPr vert="horz" wrap="none" lIns="0" tIns="0" rIns="0" bIns="0" rtlCol="0" anchor="ctr" anchorCtr="0"/>
          <a:lstStyle/>
          <a:p>
            <a:pPr marL="0" indent="0" algn="ctr" defTabSz="596900">
              <a:lnSpc>
                <a:spcPct val="125000"/>
              </a:lnSpc>
              <a:defRPr/>
            </a:pPr>
            <a:r>
              <a:rPr lang="en-US" sz="1000"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rPr>
              <a:t>20</a:t>
            </a:r>
            <a:endParaRPr lang="en-US" sz="1000"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6" name="AutoShape 26"/>
          <p:cNvSpPr txBox="1"/>
          <p:nvPr/>
        </p:nvSpPr>
        <p:spPr>
          <a:xfrm>
            <a:off x="3719830" y="4885690"/>
            <a:ext cx="215900" cy="127000"/>
          </a:xfrm>
          <a:prstGeom prst="rect">
            <a:avLst/>
          </a:prstGeom>
          <a:noFill/>
          <a:ln w="12700" cap="flat" cmpd="sng">
            <a:noFill/>
            <a:prstDash val="solid"/>
            <a:round/>
          </a:ln>
        </p:spPr>
        <p:txBody>
          <a:bodyPr vert="horz" wrap="none" lIns="0" tIns="0" rIns="0" bIns="0" rtlCol="0" anchor="ctr" anchorCtr="0"/>
          <a:lstStyle/>
          <a:p>
            <a:pPr marL="0" indent="0" algn="ctr" defTabSz="596900">
              <a:lnSpc>
                <a:spcPct val="125000"/>
              </a:lnSpc>
              <a:defRPr/>
            </a:pPr>
            <a:r>
              <a:rPr lang="en-US" sz="1000"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rPr>
              <a:t>40</a:t>
            </a:r>
            <a:endParaRPr lang="en-US" sz="1000"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7" name="AutoShape 27"/>
          <p:cNvSpPr txBox="1"/>
          <p:nvPr/>
        </p:nvSpPr>
        <p:spPr>
          <a:xfrm>
            <a:off x="4745990" y="4885690"/>
            <a:ext cx="215900" cy="127000"/>
          </a:xfrm>
          <a:prstGeom prst="rect">
            <a:avLst/>
          </a:prstGeom>
          <a:noFill/>
          <a:ln w="12700" cap="flat" cmpd="sng">
            <a:noFill/>
            <a:prstDash val="solid"/>
            <a:round/>
          </a:ln>
        </p:spPr>
        <p:txBody>
          <a:bodyPr vert="horz" wrap="none" lIns="0" tIns="0" rIns="0" bIns="0" rtlCol="0" anchor="ctr" anchorCtr="0"/>
          <a:lstStyle/>
          <a:p>
            <a:pPr marL="0" indent="0" algn="ctr" defTabSz="596900">
              <a:lnSpc>
                <a:spcPct val="125000"/>
              </a:lnSpc>
              <a:defRPr/>
            </a:pPr>
            <a:r>
              <a:rPr lang="en-US" sz="1000"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rPr>
              <a:t>60</a:t>
            </a:r>
            <a:endParaRPr lang="en-US" sz="1000"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8" name="AutoShape 28"/>
          <p:cNvSpPr txBox="1"/>
          <p:nvPr/>
        </p:nvSpPr>
        <p:spPr>
          <a:xfrm>
            <a:off x="5773420" y="4885690"/>
            <a:ext cx="215900" cy="127000"/>
          </a:xfrm>
          <a:prstGeom prst="rect">
            <a:avLst/>
          </a:prstGeom>
          <a:noFill/>
          <a:ln w="12700" cap="flat" cmpd="sng">
            <a:noFill/>
            <a:prstDash val="solid"/>
            <a:round/>
          </a:ln>
        </p:spPr>
        <p:txBody>
          <a:bodyPr vert="horz" wrap="none" lIns="0" tIns="0" rIns="0" bIns="0" rtlCol="0" anchor="ctr" anchorCtr="0"/>
          <a:lstStyle/>
          <a:p>
            <a:pPr marL="0" indent="0" algn="ctr" defTabSz="596900">
              <a:lnSpc>
                <a:spcPct val="125000"/>
              </a:lnSpc>
              <a:defRPr/>
            </a:pPr>
            <a:r>
              <a:rPr lang="en-US" sz="1000"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rPr>
              <a:t>80</a:t>
            </a:r>
            <a:endParaRPr lang="en-US" sz="1000"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9" name="AutoShape 29"/>
          <p:cNvSpPr txBox="1"/>
          <p:nvPr/>
        </p:nvSpPr>
        <p:spPr>
          <a:xfrm>
            <a:off x="3606800" y="2688590"/>
            <a:ext cx="403860" cy="127000"/>
          </a:xfrm>
          <a:prstGeom prst="rect">
            <a:avLst/>
          </a:prstGeom>
          <a:noFill/>
          <a:ln w="12700" cap="flat" cmpd="sng">
            <a:noFill/>
            <a:prstDash val="solid"/>
            <a:round/>
          </a:ln>
        </p:spPr>
        <p:txBody>
          <a:bodyPr vert="horz" wrap="none" lIns="0" tIns="0" rIns="0" bIns="0" rtlCol="0" anchor="ctr" anchorCtr="0"/>
          <a:lstStyle/>
          <a:p>
            <a:pPr marL="0" indent="0" algn="l" defTabSz="596900">
              <a:lnSpc>
                <a:spcPct val="125000"/>
              </a:lnSpc>
              <a:defRPr/>
            </a:pPr>
            <a:r>
              <a:rPr lang="en-US" sz="1000"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rPr>
              <a:t>34.83</a:t>
            </a:r>
            <a:endParaRPr lang="en-US" sz="1000"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0" name="AutoShape 30"/>
          <p:cNvSpPr txBox="1"/>
          <p:nvPr/>
        </p:nvSpPr>
        <p:spPr>
          <a:xfrm>
            <a:off x="3608070" y="2928620"/>
            <a:ext cx="403860" cy="127000"/>
          </a:xfrm>
          <a:prstGeom prst="rect">
            <a:avLst/>
          </a:prstGeom>
          <a:noFill/>
          <a:ln w="12700" cap="flat" cmpd="sng">
            <a:noFill/>
            <a:prstDash val="solid"/>
            <a:round/>
          </a:ln>
        </p:spPr>
        <p:txBody>
          <a:bodyPr vert="horz" wrap="none" lIns="0" tIns="0" rIns="0" bIns="0" rtlCol="0" anchor="ctr" anchorCtr="0"/>
          <a:lstStyle/>
          <a:p>
            <a:pPr marL="0" indent="0" algn="l" defTabSz="596900">
              <a:lnSpc>
                <a:spcPct val="125000"/>
              </a:lnSpc>
              <a:defRPr/>
            </a:pPr>
            <a:r>
              <a:rPr lang="en-US" sz="1000"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rPr>
              <a:t>34.85</a:t>
            </a:r>
            <a:endParaRPr lang="en-US" sz="1000"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1" name="AutoShape 31"/>
          <p:cNvSpPr txBox="1"/>
          <p:nvPr/>
        </p:nvSpPr>
        <p:spPr>
          <a:xfrm>
            <a:off x="4791710" y="3168650"/>
            <a:ext cx="403860" cy="127000"/>
          </a:xfrm>
          <a:prstGeom prst="rect">
            <a:avLst/>
          </a:prstGeom>
          <a:noFill/>
          <a:ln w="12700" cap="flat" cmpd="sng">
            <a:noFill/>
            <a:prstDash val="solid"/>
            <a:round/>
          </a:ln>
        </p:spPr>
        <p:txBody>
          <a:bodyPr vert="horz" wrap="none" lIns="0" tIns="0" rIns="0" bIns="0" rtlCol="0" anchor="ctr" anchorCtr="0"/>
          <a:lstStyle/>
          <a:p>
            <a:pPr marL="0" indent="0" algn="l" defTabSz="596900">
              <a:lnSpc>
                <a:spcPct val="125000"/>
              </a:lnSpc>
              <a:defRPr/>
            </a:pPr>
            <a:r>
              <a:rPr lang="en-US" sz="1000"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rPr>
              <a:t>57.89</a:t>
            </a:r>
            <a:endParaRPr lang="en-US" sz="1000"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2" name="AutoShape 32"/>
          <p:cNvSpPr txBox="1"/>
          <p:nvPr/>
        </p:nvSpPr>
        <p:spPr>
          <a:xfrm>
            <a:off x="4792980" y="3408680"/>
            <a:ext cx="403860" cy="127000"/>
          </a:xfrm>
          <a:prstGeom prst="rect">
            <a:avLst/>
          </a:prstGeom>
          <a:noFill/>
          <a:ln w="12700" cap="flat" cmpd="sng">
            <a:noFill/>
            <a:prstDash val="solid"/>
            <a:round/>
          </a:ln>
        </p:spPr>
        <p:txBody>
          <a:bodyPr vert="horz" wrap="none" lIns="0" tIns="0" rIns="0" bIns="0" rtlCol="0" anchor="ctr" anchorCtr="0"/>
          <a:lstStyle/>
          <a:p>
            <a:pPr marL="0" indent="0" algn="l" defTabSz="596900">
              <a:lnSpc>
                <a:spcPct val="125000"/>
              </a:lnSpc>
              <a:defRPr/>
            </a:pPr>
            <a:r>
              <a:rPr lang="en-US" sz="1000"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rPr>
              <a:t>57.92</a:t>
            </a:r>
            <a:endParaRPr lang="en-US" sz="1000"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3" name="AutoShape 33"/>
          <p:cNvSpPr txBox="1"/>
          <p:nvPr/>
        </p:nvSpPr>
        <p:spPr>
          <a:xfrm>
            <a:off x="4897120" y="3648710"/>
            <a:ext cx="403860" cy="127000"/>
          </a:xfrm>
          <a:prstGeom prst="rect">
            <a:avLst/>
          </a:prstGeom>
          <a:noFill/>
          <a:ln w="12700" cap="flat" cmpd="sng">
            <a:noFill/>
            <a:prstDash val="solid"/>
            <a:round/>
          </a:ln>
        </p:spPr>
        <p:txBody>
          <a:bodyPr vert="horz" wrap="none" lIns="0" tIns="0" rIns="0" bIns="0" rtlCol="0" anchor="ctr" anchorCtr="0"/>
          <a:lstStyle/>
          <a:p>
            <a:pPr marL="0" indent="0" algn="l" defTabSz="596900">
              <a:lnSpc>
                <a:spcPct val="125000"/>
              </a:lnSpc>
              <a:defRPr/>
            </a:pPr>
            <a:r>
              <a:rPr lang="en-US" sz="1000"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rPr>
              <a:t>59.95</a:t>
            </a:r>
            <a:endParaRPr lang="en-US" sz="1000"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4" name="AutoShape 34"/>
          <p:cNvSpPr txBox="1"/>
          <p:nvPr/>
        </p:nvSpPr>
        <p:spPr>
          <a:xfrm>
            <a:off x="4942840" y="3888740"/>
            <a:ext cx="403860" cy="127000"/>
          </a:xfrm>
          <a:prstGeom prst="rect">
            <a:avLst/>
          </a:prstGeom>
          <a:noFill/>
          <a:ln w="12700" cap="flat" cmpd="sng">
            <a:noFill/>
            <a:prstDash val="solid"/>
            <a:round/>
          </a:ln>
        </p:spPr>
        <p:txBody>
          <a:bodyPr vert="horz" wrap="none" lIns="0" tIns="0" rIns="0" bIns="0" rtlCol="0" anchor="ctr" anchorCtr="0"/>
          <a:lstStyle/>
          <a:p>
            <a:pPr marL="0" indent="0" algn="l" defTabSz="596900">
              <a:lnSpc>
                <a:spcPct val="125000"/>
              </a:lnSpc>
              <a:defRPr/>
            </a:pPr>
            <a:r>
              <a:rPr lang="en-US" sz="1000"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rPr>
              <a:t>60.83</a:t>
            </a:r>
            <a:endParaRPr lang="en-US" sz="1000"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5" name="AutoShape 35"/>
          <p:cNvSpPr txBox="1"/>
          <p:nvPr/>
        </p:nvSpPr>
        <p:spPr>
          <a:xfrm>
            <a:off x="4955540" y="4128770"/>
            <a:ext cx="403860" cy="127000"/>
          </a:xfrm>
          <a:prstGeom prst="rect">
            <a:avLst/>
          </a:prstGeom>
          <a:noFill/>
          <a:ln w="12700" cap="flat" cmpd="sng">
            <a:noFill/>
            <a:prstDash val="solid"/>
            <a:round/>
          </a:ln>
        </p:spPr>
        <p:txBody>
          <a:bodyPr vert="horz" wrap="none" lIns="0" tIns="0" rIns="0" bIns="0" rtlCol="0" anchor="ctr" anchorCtr="0"/>
          <a:lstStyle/>
          <a:p>
            <a:pPr marL="0" indent="0" algn="l" defTabSz="596900">
              <a:lnSpc>
                <a:spcPct val="125000"/>
              </a:lnSpc>
              <a:defRPr/>
            </a:pPr>
            <a:r>
              <a:rPr lang="en-US" sz="1000"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rPr>
              <a:t>61.07</a:t>
            </a:r>
            <a:endParaRPr lang="en-US" sz="1000"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6" name="AutoShape 36"/>
          <p:cNvSpPr txBox="1"/>
          <p:nvPr/>
        </p:nvSpPr>
        <p:spPr>
          <a:xfrm>
            <a:off x="4974590" y="4368800"/>
            <a:ext cx="403860" cy="127000"/>
          </a:xfrm>
          <a:prstGeom prst="rect">
            <a:avLst/>
          </a:prstGeom>
          <a:noFill/>
          <a:ln w="12700" cap="flat" cmpd="sng">
            <a:noFill/>
            <a:prstDash val="solid"/>
            <a:round/>
          </a:ln>
        </p:spPr>
        <p:txBody>
          <a:bodyPr vert="horz" wrap="none" lIns="0" tIns="0" rIns="0" bIns="0" rtlCol="0" anchor="ctr" anchorCtr="0"/>
          <a:lstStyle/>
          <a:p>
            <a:pPr marL="0" indent="0" algn="l" defTabSz="596900">
              <a:lnSpc>
                <a:spcPct val="125000"/>
              </a:lnSpc>
              <a:defRPr/>
            </a:pPr>
            <a:r>
              <a:rPr lang="en-US" sz="1000"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rPr>
              <a:t>61.45</a:t>
            </a:r>
            <a:endParaRPr lang="en-US" sz="1000"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7" name="AutoShape 37"/>
          <p:cNvSpPr txBox="1"/>
          <p:nvPr/>
        </p:nvSpPr>
        <p:spPr>
          <a:xfrm>
            <a:off x="4996180" y="4608830"/>
            <a:ext cx="403860" cy="127000"/>
          </a:xfrm>
          <a:prstGeom prst="rect">
            <a:avLst/>
          </a:prstGeom>
          <a:noFill/>
          <a:ln w="12700" cap="flat" cmpd="sng">
            <a:noFill/>
            <a:prstDash val="solid"/>
            <a:round/>
          </a:ln>
        </p:spPr>
        <p:txBody>
          <a:bodyPr vert="horz" wrap="none" lIns="0" tIns="0" rIns="0" bIns="0" rtlCol="0" anchor="ctr" anchorCtr="0"/>
          <a:lstStyle/>
          <a:p>
            <a:pPr marL="0" indent="0" algn="l" defTabSz="596900">
              <a:lnSpc>
                <a:spcPct val="125000"/>
              </a:lnSpc>
              <a:defRPr/>
            </a:pPr>
            <a:r>
              <a:rPr lang="en-US" sz="1000"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rPr>
              <a:t>61.87</a:t>
            </a:r>
            <a:endParaRPr lang="en-US" sz="1000"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8" name="AutoShape 38"/>
          <p:cNvSpPr txBox="1"/>
          <p:nvPr/>
        </p:nvSpPr>
        <p:spPr>
          <a:xfrm>
            <a:off x="698500" y="2667000"/>
            <a:ext cx="996950" cy="127000"/>
          </a:xfrm>
          <a:prstGeom prst="rect">
            <a:avLst/>
          </a:prstGeom>
          <a:noFill/>
          <a:ln w="12700" cap="flat" cmpd="sng">
            <a:noFill/>
            <a:prstDash val="solid"/>
            <a:round/>
          </a:ln>
        </p:spPr>
        <p:txBody>
          <a:bodyPr vert="horz" wrap="none" lIns="0" tIns="0" rIns="0" bIns="0" rtlCol="0" anchor="ctr" anchorCtr="0"/>
          <a:lstStyle/>
          <a:p>
            <a:pPr marL="0" indent="0" algn="r" defTabSz="596900">
              <a:lnSpc>
                <a:spcPct val="125000"/>
              </a:lnSpc>
              <a:defRPr/>
            </a:pPr>
            <a:r>
              <a:rPr lang="en-US" sz="1000"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rPr>
              <a:t>DianJin-R1-7B</a:t>
            </a:r>
            <a:endParaRPr lang="en-US" sz="1000"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9" name="AutoShape 39"/>
          <p:cNvSpPr txBox="1"/>
          <p:nvPr/>
        </p:nvSpPr>
        <p:spPr>
          <a:xfrm>
            <a:off x="979170" y="2907030"/>
            <a:ext cx="716280" cy="127000"/>
          </a:xfrm>
          <a:prstGeom prst="rect">
            <a:avLst/>
          </a:prstGeom>
          <a:noFill/>
          <a:ln w="12700" cap="flat" cmpd="sng">
            <a:noFill/>
            <a:prstDash val="solid"/>
            <a:round/>
          </a:ln>
        </p:spPr>
        <p:txBody>
          <a:bodyPr vert="horz" wrap="none" lIns="0" tIns="0" rIns="0" bIns="0" rtlCol="0" anchor="ctr" anchorCtr="0"/>
          <a:lstStyle/>
          <a:p>
            <a:pPr marL="0" indent="0" algn="r" defTabSz="596900">
              <a:lnSpc>
                <a:spcPct val="125000"/>
              </a:lnSpc>
              <a:defRPr/>
            </a:pPr>
            <a:r>
              <a:rPr lang="en-US" sz="1000"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rPr>
              <a:t>Fin-R1-7B</a:t>
            </a:r>
            <a:endParaRPr lang="en-US" sz="1000"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0" name="AutoShape 40"/>
          <p:cNvSpPr txBox="1"/>
          <p:nvPr/>
        </p:nvSpPr>
        <p:spPr>
          <a:xfrm>
            <a:off x="811530" y="3147060"/>
            <a:ext cx="883920" cy="127000"/>
          </a:xfrm>
          <a:prstGeom prst="rect">
            <a:avLst/>
          </a:prstGeom>
          <a:noFill/>
          <a:ln w="12700" cap="flat" cmpd="sng">
            <a:noFill/>
            <a:prstDash val="solid"/>
            <a:round/>
          </a:ln>
        </p:spPr>
        <p:txBody>
          <a:bodyPr vert="horz" wrap="none" lIns="0" tIns="0" rIns="0" bIns="0" rtlCol="0" anchor="ctr" anchorCtr="0"/>
          <a:lstStyle/>
          <a:p>
            <a:pPr marL="0" indent="0" algn="r" defTabSz="596900">
              <a:lnSpc>
                <a:spcPct val="125000"/>
              </a:lnSpc>
              <a:defRPr/>
            </a:pPr>
            <a:r>
              <a:rPr lang="en-US" sz="1000"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rPr>
              <a:t>GPT-4o-mini</a:t>
            </a:r>
            <a:endParaRPr lang="en-US" sz="1000"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1" name="AutoShape 41"/>
          <p:cNvSpPr txBox="1"/>
          <p:nvPr/>
        </p:nvSpPr>
        <p:spPr>
          <a:xfrm>
            <a:off x="899160" y="3387090"/>
            <a:ext cx="795020" cy="127000"/>
          </a:xfrm>
          <a:prstGeom prst="rect">
            <a:avLst/>
          </a:prstGeom>
          <a:noFill/>
          <a:ln w="12700" cap="flat" cmpd="sng">
            <a:noFill/>
            <a:prstDash val="solid"/>
            <a:round/>
          </a:ln>
        </p:spPr>
        <p:txBody>
          <a:bodyPr vert="horz" wrap="none" lIns="0" tIns="0" rIns="0" bIns="0" rtlCol="0" anchor="ctr" anchorCtr="0"/>
          <a:lstStyle/>
          <a:p>
            <a:pPr marL="0" indent="0" algn="r" defTabSz="596900">
              <a:lnSpc>
                <a:spcPct val="125000"/>
              </a:lnSpc>
              <a:defRPr/>
            </a:pPr>
            <a:r>
              <a:rPr lang="en-US" sz="1000"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rPr>
              <a:t>Qwen3-32B</a:t>
            </a:r>
            <a:endParaRPr lang="en-US" sz="1000"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2" name="AutoShape 42"/>
          <p:cNvSpPr txBox="1"/>
          <p:nvPr/>
        </p:nvSpPr>
        <p:spPr>
          <a:xfrm>
            <a:off x="996950" y="3627120"/>
            <a:ext cx="697230" cy="127000"/>
          </a:xfrm>
          <a:prstGeom prst="rect">
            <a:avLst/>
          </a:prstGeom>
          <a:noFill/>
          <a:ln w="12700" cap="flat" cmpd="sng">
            <a:noFill/>
            <a:prstDash val="solid"/>
            <a:round/>
          </a:ln>
        </p:spPr>
        <p:txBody>
          <a:bodyPr vert="horz" wrap="none" lIns="0" tIns="0" rIns="0" bIns="0" rtlCol="0" anchor="ctr" anchorCtr="0"/>
          <a:lstStyle/>
          <a:p>
            <a:pPr marL="0" indent="0" algn="r" defTabSz="596900">
              <a:lnSpc>
                <a:spcPct val="125000"/>
              </a:lnSpc>
              <a:defRPr/>
            </a:pPr>
            <a:r>
              <a:rPr lang="en-US" sz="1000"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rPr>
              <a:t>Fin-o1-8B</a:t>
            </a:r>
            <a:endParaRPr lang="en-US" sz="1000"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3" name="AutoShape 43"/>
          <p:cNvSpPr txBox="1"/>
          <p:nvPr/>
        </p:nvSpPr>
        <p:spPr>
          <a:xfrm>
            <a:off x="1148080" y="3867150"/>
            <a:ext cx="547370" cy="127000"/>
          </a:xfrm>
          <a:prstGeom prst="rect">
            <a:avLst/>
          </a:prstGeom>
          <a:noFill/>
          <a:ln w="12700" cap="flat" cmpd="sng">
            <a:noFill/>
            <a:prstDash val="solid"/>
            <a:round/>
          </a:ln>
        </p:spPr>
        <p:txBody>
          <a:bodyPr vert="horz" wrap="none" lIns="0" tIns="0" rIns="0" bIns="0" rtlCol="0" anchor="ctr" anchorCtr="0"/>
          <a:lstStyle/>
          <a:p>
            <a:pPr marL="0" indent="0" algn="r" defTabSz="596900">
              <a:lnSpc>
                <a:spcPct val="125000"/>
              </a:lnSpc>
              <a:defRPr/>
            </a:pPr>
            <a:r>
              <a:rPr lang="en-US" sz="1000"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rPr>
              <a:t>GPT-4o</a:t>
            </a:r>
            <a:endParaRPr lang="en-US" sz="1000"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4" name="AutoShape 44"/>
          <p:cNvSpPr txBox="1"/>
          <p:nvPr/>
        </p:nvSpPr>
        <p:spPr>
          <a:xfrm>
            <a:off x="918210" y="4107180"/>
            <a:ext cx="777240" cy="127000"/>
          </a:xfrm>
          <a:prstGeom prst="rect">
            <a:avLst/>
          </a:prstGeom>
          <a:noFill/>
          <a:ln w="12700" cap="flat" cmpd="sng">
            <a:noFill/>
            <a:prstDash val="solid"/>
            <a:round/>
          </a:ln>
        </p:spPr>
        <p:txBody>
          <a:bodyPr vert="horz" wrap="none" lIns="0" tIns="0" rIns="0" bIns="0" rtlCol="0" anchor="ctr" anchorCtr="0"/>
          <a:lstStyle/>
          <a:p>
            <a:pPr marL="0" indent="0" algn="r" defTabSz="596900">
              <a:lnSpc>
                <a:spcPct val="125000"/>
              </a:lnSpc>
              <a:defRPr/>
            </a:pPr>
            <a:r>
              <a:rPr lang="en-US" sz="1000"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rPr>
              <a:t>Fin-o1-14B</a:t>
            </a:r>
            <a:endParaRPr lang="en-US" sz="1000"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5" name="AutoShape 45"/>
          <p:cNvSpPr txBox="1"/>
          <p:nvPr/>
        </p:nvSpPr>
        <p:spPr>
          <a:xfrm>
            <a:off x="580390" y="4347210"/>
            <a:ext cx="1115060" cy="127000"/>
          </a:xfrm>
          <a:prstGeom prst="rect">
            <a:avLst/>
          </a:prstGeom>
          <a:noFill/>
          <a:ln w="12700" cap="flat" cmpd="sng">
            <a:noFill/>
            <a:prstDash val="solid"/>
            <a:round/>
          </a:ln>
        </p:spPr>
        <p:txBody>
          <a:bodyPr vert="horz" wrap="none" lIns="0" tIns="0" rIns="0" bIns="0" rtlCol="0" anchor="ctr" anchorCtr="0"/>
          <a:lstStyle/>
          <a:p>
            <a:pPr marL="0" indent="0" algn="r" defTabSz="596900">
              <a:lnSpc>
                <a:spcPct val="125000"/>
              </a:lnSpc>
              <a:defRPr/>
            </a:pPr>
            <a:r>
              <a:rPr lang="en-US" sz="1000"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rPr>
              <a:t>GPT-o1-preview</a:t>
            </a:r>
            <a:endParaRPr lang="en-US" sz="1000"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6" name="AutoShape 46"/>
          <p:cNvSpPr txBox="1"/>
          <p:nvPr/>
        </p:nvSpPr>
        <p:spPr>
          <a:xfrm>
            <a:off x="778510" y="4587240"/>
            <a:ext cx="916940" cy="127000"/>
          </a:xfrm>
          <a:prstGeom prst="rect">
            <a:avLst/>
          </a:prstGeom>
          <a:noFill/>
          <a:ln w="12700" cap="flat" cmpd="sng">
            <a:noFill/>
            <a:prstDash val="solid"/>
            <a:round/>
          </a:ln>
        </p:spPr>
        <p:txBody>
          <a:bodyPr vert="horz" wrap="none" lIns="0" tIns="0" rIns="0" bIns="0" rtlCol="0" anchor="ctr" anchorCtr="0"/>
          <a:lstStyle/>
          <a:p>
            <a:pPr marL="0" indent="0" algn="r" defTabSz="596900">
              <a:lnSpc>
                <a:spcPct val="125000"/>
              </a:lnSpc>
              <a:defRPr/>
            </a:pPr>
            <a:r>
              <a:rPr lang="en-US" sz="1000"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rPr>
              <a:t>DeepSeek-V3</a:t>
            </a:r>
            <a:endParaRPr lang="en-US" sz="1000"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47" name="Picture 4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43598" y="2236978"/>
            <a:ext cx="3893058" cy="2350516"/>
          </a:xfrm>
          <a:prstGeom prst="rect">
            <a:avLst/>
          </a:prstGeom>
        </p:spPr>
      </p:pic>
      <p:sp>
        <p:nvSpPr>
          <p:cNvPr id="48" name="AutoShape 48"/>
          <p:cNvSpPr txBox="1"/>
          <p:nvPr/>
        </p:nvSpPr>
        <p:spPr>
          <a:xfrm>
            <a:off x="6991350" y="1986280"/>
            <a:ext cx="4132580" cy="194310"/>
          </a:xfrm>
          <a:prstGeom prst="rect">
            <a:avLst/>
          </a:prstGeom>
          <a:noFill/>
          <a:ln w="12700" cap="flat" cmpd="sng">
            <a:noFill/>
            <a:prstDash val="solid"/>
            <a:round/>
          </a:ln>
        </p:spPr>
        <p:txBody>
          <a:bodyPr vert="horz" wrap="none" lIns="0" tIns="0" rIns="0" bIns="0" rtlCol="0" anchor="ctr" anchorCtr="0"/>
          <a:lstStyle/>
          <a:p>
            <a:pPr marL="0" indent="0" algn="l" defTabSz="596900">
              <a:lnSpc>
                <a:spcPct val="125000"/>
              </a:lnSpc>
              <a:defRPr/>
            </a:pPr>
            <a:r>
              <a:rPr lang="en-US" sz="1530" b="1" i="0" u="none" strike="noStrike">
                <a:solidFill>
                  <a:srgbClr val="18263A"/>
                </a:solidFill>
                <a:latin typeface="微软雅黑" panose="020B0503020204020204" charset="-122"/>
                <a:ea typeface="微软雅黑" panose="020B0503020204020204" charset="-122"/>
                <a:cs typeface="Noto Sans SC" panose="020B0200000000000000" charset="-122"/>
                <a:sym typeface="Noto Sans SC" panose="020B0200000000000000" charset="-122"/>
              </a:rPr>
              <a:t>Ablation (8B): SFT data and RL methods</a:t>
            </a:r>
            <a:endParaRPr lang="en-US" sz="1530" b="1" i="0" u="none" strike="noStrike">
              <a:solidFill>
                <a:srgbClr val="18263A"/>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49" name="AutoShape 49"/>
          <p:cNvSpPr txBox="1"/>
          <p:nvPr/>
        </p:nvSpPr>
        <p:spPr>
          <a:xfrm>
            <a:off x="7129780" y="2242820"/>
            <a:ext cx="508000" cy="127000"/>
          </a:xfrm>
          <a:prstGeom prst="rect">
            <a:avLst/>
          </a:prstGeom>
          <a:noFill/>
          <a:ln w="12700" cap="flat" cmpd="sng">
            <a:noFill/>
            <a:prstDash val="solid"/>
            <a:round/>
          </a:ln>
        </p:spPr>
        <p:txBody>
          <a:bodyPr vert="horz" wrap="none" lIns="0" tIns="0" rIns="0" bIns="0" rtlCol="0" anchor="ctr" anchorCtr="0"/>
          <a:lstStyle/>
          <a:p>
            <a:pPr marL="0" indent="0" algn="l" defTabSz="596900">
              <a:lnSpc>
                <a:spcPct val="125000"/>
              </a:lnSpc>
              <a:defRPr/>
            </a:pPr>
            <a:r>
              <a:rPr lang="en-US" sz="1000"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rPr>
              <a:t>Before</a:t>
            </a:r>
            <a:endParaRPr lang="en-US" sz="1000"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50" name="AutoShape 50"/>
          <p:cNvSpPr txBox="1"/>
          <p:nvPr/>
        </p:nvSpPr>
        <p:spPr>
          <a:xfrm>
            <a:off x="7900670" y="2242820"/>
            <a:ext cx="436880" cy="127000"/>
          </a:xfrm>
          <a:prstGeom prst="rect">
            <a:avLst/>
          </a:prstGeom>
          <a:noFill/>
          <a:ln w="12700" cap="flat" cmpd="sng">
            <a:noFill/>
            <a:prstDash val="solid"/>
            <a:round/>
          </a:ln>
        </p:spPr>
        <p:txBody>
          <a:bodyPr vert="horz" wrap="none" lIns="0" tIns="0" rIns="0" bIns="0" rtlCol="0" anchor="ctr" anchorCtr="0"/>
          <a:lstStyle/>
          <a:p>
            <a:pPr marL="0" indent="0" algn="l" defTabSz="596900">
              <a:lnSpc>
                <a:spcPct val="125000"/>
              </a:lnSpc>
              <a:defRPr/>
            </a:pPr>
            <a:r>
              <a:rPr lang="en-US" sz="1000"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rPr>
              <a:t>After</a:t>
            </a:r>
            <a:endParaRPr lang="en-US" sz="1000"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51" name="AutoShape 51"/>
          <p:cNvSpPr txBox="1"/>
          <p:nvPr/>
        </p:nvSpPr>
        <p:spPr>
          <a:xfrm>
            <a:off x="8106410" y="4664710"/>
            <a:ext cx="236220" cy="138430"/>
          </a:xfrm>
          <a:prstGeom prst="rect">
            <a:avLst/>
          </a:prstGeom>
          <a:noFill/>
          <a:ln w="12700" cap="flat" cmpd="sng">
            <a:noFill/>
            <a:prstDash val="solid"/>
            <a:round/>
          </a:ln>
        </p:spPr>
        <p:txBody>
          <a:bodyPr vert="horz" wrap="none" lIns="0" tIns="0" rIns="0" bIns="0" rtlCol="0" anchor="ctr" anchorCtr="0"/>
          <a:lstStyle/>
          <a:p>
            <a:pPr marL="0" indent="0" algn="ctr" defTabSz="596900">
              <a:lnSpc>
                <a:spcPct val="125000"/>
              </a:lnSpc>
              <a:defRPr/>
            </a:pPr>
            <a:r>
              <a:rPr lang="en-US" sz="1095"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rPr>
              <a:t>50</a:t>
            </a:r>
            <a:endParaRPr lang="en-US" sz="1095"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52" name="AutoShape 52"/>
          <p:cNvSpPr txBox="1"/>
          <p:nvPr/>
        </p:nvSpPr>
        <p:spPr>
          <a:xfrm>
            <a:off x="8536940" y="4664710"/>
            <a:ext cx="236220" cy="138430"/>
          </a:xfrm>
          <a:prstGeom prst="rect">
            <a:avLst/>
          </a:prstGeom>
          <a:noFill/>
          <a:ln w="12700" cap="flat" cmpd="sng">
            <a:noFill/>
            <a:prstDash val="solid"/>
            <a:round/>
          </a:ln>
        </p:spPr>
        <p:txBody>
          <a:bodyPr vert="horz" wrap="none" lIns="0" tIns="0" rIns="0" bIns="0" rtlCol="0" anchor="ctr" anchorCtr="0"/>
          <a:lstStyle/>
          <a:p>
            <a:pPr marL="0" indent="0" algn="ctr" defTabSz="596900">
              <a:lnSpc>
                <a:spcPct val="125000"/>
              </a:lnSpc>
              <a:defRPr/>
            </a:pPr>
            <a:r>
              <a:rPr lang="en-US" sz="1095"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rPr>
              <a:t>52</a:t>
            </a:r>
            <a:endParaRPr lang="en-US" sz="1095"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53" name="AutoShape 53"/>
          <p:cNvSpPr txBox="1"/>
          <p:nvPr/>
        </p:nvSpPr>
        <p:spPr>
          <a:xfrm>
            <a:off x="8968740" y="4664710"/>
            <a:ext cx="236220" cy="138430"/>
          </a:xfrm>
          <a:prstGeom prst="rect">
            <a:avLst/>
          </a:prstGeom>
          <a:noFill/>
          <a:ln w="12700" cap="flat" cmpd="sng">
            <a:noFill/>
            <a:prstDash val="solid"/>
            <a:round/>
          </a:ln>
        </p:spPr>
        <p:txBody>
          <a:bodyPr vert="horz" wrap="none" lIns="0" tIns="0" rIns="0" bIns="0" rtlCol="0" anchor="ctr" anchorCtr="0"/>
          <a:lstStyle/>
          <a:p>
            <a:pPr marL="0" indent="0" algn="ctr" defTabSz="596900">
              <a:lnSpc>
                <a:spcPct val="125000"/>
              </a:lnSpc>
              <a:defRPr/>
            </a:pPr>
            <a:r>
              <a:rPr lang="en-US" sz="1095"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rPr>
              <a:t>54</a:t>
            </a:r>
            <a:endParaRPr lang="en-US" sz="1095"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54" name="AutoShape 54"/>
          <p:cNvSpPr txBox="1"/>
          <p:nvPr/>
        </p:nvSpPr>
        <p:spPr>
          <a:xfrm>
            <a:off x="9399270" y="4664710"/>
            <a:ext cx="236220" cy="138430"/>
          </a:xfrm>
          <a:prstGeom prst="rect">
            <a:avLst/>
          </a:prstGeom>
          <a:noFill/>
          <a:ln w="12700" cap="flat" cmpd="sng">
            <a:noFill/>
            <a:prstDash val="solid"/>
            <a:round/>
          </a:ln>
        </p:spPr>
        <p:txBody>
          <a:bodyPr vert="horz" wrap="none" lIns="0" tIns="0" rIns="0" bIns="0" rtlCol="0" anchor="ctr" anchorCtr="0"/>
          <a:lstStyle/>
          <a:p>
            <a:pPr marL="0" indent="0" algn="ctr" defTabSz="596900">
              <a:lnSpc>
                <a:spcPct val="125000"/>
              </a:lnSpc>
              <a:defRPr/>
            </a:pPr>
            <a:r>
              <a:rPr lang="en-US" sz="1095"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rPr>
              <a:t>56</a:t>
            </a:r>
            <a:endParaRPr lang="en-US" sz="1095"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55" name="AutoShape 55"/>
          <p:cNvSpPr txBox="1"/>
          <p:nvPr/>
        </p:nvSpPr>
        <p:spPr>
          <a:xfrm>
            <a:off x="9831070" y="4664710"/>
            <a:ext cx="236220" cy="138430"/>
          </a:xfrm>
          <a:prstGeom prst="rect">
            <a:avLst/>
          </a:prstGeom>
          <a:noFill/>
          <a:ln w="12700" cap="flat" cmpd="sng">
            <a:noFill/>
            <a:prstDash val="solid"/>
            <a:round/>
          </a:ln>
        </p:spPr>
        <p:txBody>
          <a:bodyPr vert="horz" wrap="none" lIns="0" tIns="0" rIns="0" bIns="0" rtlCol="0" anchor="ctr" anchorCtr="0"/>
          <a:lstStyle/>
          <a:p>
            <a:pPr marL="0" indent="0" algn="ctr" defTabSz="596900">
              <a:lnSpc>
                <a:spcPct val="125000"/>
              </a:lnSpc>
              <a:defRPr/>
            </a:pPr>
            <a:r>
              <a:rPr lang="en-US" sz="1095"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rPr>
              <a:t>58</a:t>
            </a:r>
            <a:endParaRPr lang="en-US" sz="1095"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56" name="AutoShape 56"/>
          <p:cNvSpPr txBox="1"/>
          <p:nvPr/>
        </p:nvSpPr>
        <p:spPr>
          <a:xfrm>
            <a:off x="10261600" y="4664710"/>
            <a:ext cx="236220" cy="138430"/>
          </a:xfrm>
          <a:prstGeom prst="rect">
            <a:avLst/>
          </a:prstGeom>
          <a:noFill/>
          <a:ln w="12700" cap="flat" cmpd="sng">
            <a:noFill/>
            <a:prstDash val="solid"/>
            <a:round/>
          </a:ln>
        </p:spPr>
        <p:txBody>
          <a:bodyPr vert="horz" wrap="none" lIns="0" tIns="0" rIns="0" bIns="0" rtlCol="0" anchor="ctr" anchorCtr="0"/>
          <a:lstStyle/>
          <a:p>
            <a:pPr marL="0" indent="0" algn="ctr" defTabSz="596900">
              <a:lnSpc>
                <a:spcPct val="125000"/>
              </a:lnSpc>
              <a:defRPr/>
            </a:pPr>
            <a:r>
              <a:rPr lang="en-US" sz="1095"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rPr>
              <a:t>60</a:t>
            </a:r>
            <a:endParaRPr lang="en-US" sz="1095"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57" name="AutoShape 57"/>
          <p:cNvSpPr txBox="1"/>
          <p:nvPr/>
        </p:nvSpPr>
        <p:spPr>
          <a:xfrm>
            <a:off x="10693400" y="4664710"/>
            <a:ext cx="236220" cy="138430"/>
          </a:xfrm>
          <a:prstGeom prst="rect">
            <a:avLst/>
          </a:prstGeom>
          <a:noFill/>
          <a:ln w="12700" cap="flat" cmpd="sng">
            <a:noFill/>
            <a:prstDash val="solid"/>
            <a:round/>
          </a:ln>
        </p:spPr>
        <p:txBody>
          <a:bodyPr vert="horz" wrap="none" lIns="0" tIns="0" rIns="0" bIns="0" rtlCol="0" anchor="ctr" anchorCtr="0"/>
          <a:lstStyle/>
          <a:p>
            <a:pPr marL="0" indent="0" algn="ctr" defTabSz="596900">
              <a:lnSpc>
                <a:spcPct val="125000"/>
              </a:lnSpc>
              <a:defRPr/>
            </a:pPr>
            <a:r>
              <a:rPr lang="en-US" sz="1095"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rPr>
              <a:t>62</a:t>
            </a:r>
            <a:endParaRPr lang="en-US" sz="1095"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58" name="AutoShape 58"/>
          <p:cNvSpPr txBox="1"/>
          <p:nvPr/>
        </p:nvSpPr>
        <p:spPr>
          <a:xfrm>
            <a:off x="11267440" y="2426970"/>
            <a:ext cx="156210" cy="127000"/>
          </a:xfrm>
          <a:prstGeom prst="rect">
            <a:avLst/>
          </a:prstGeom>
          <a:noFill/>
          <a:ln w="12700" cap="flat" cmpd="sng">
            <a:noFill/>
            <a:prstDash val="solid"/>
            <a:round/>
          </a:ln>
        </p:spPr>
        <p:txBody>
          <a:bodyPr vert="horz" wrap="none" lIns="0" tIns="0" rIns="0" bIns="0" rtlCol="0" anchor="ctr" anchorCtr="0"/>
          <a:lstStyle/>
          <a:p>
            <a:pPr marL="0" indent="0" algn="r" defTabSz="596900">
              <a:lnSpc>
                <a:spcPct val="125000"/>
              </a:lnSpc>
              <a:defRPr/>
            </a:pPr>
            <a:r>
              <a:rPr lang="en-US" sz="1000"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rPr>
              <a:t>Δ</a:t>
            </a:r>
            <a:endParaRPr lang="en-US" sz="1000"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59" name="AutoShape 59"/>
          <p:cNvSpPr txBox="1"/>
          <p:nvPr/>
        </p:nvSpPr>
        <p:spPr>
          <a:xfrm>
            <a:off x="6849110" y="2801620"/>
            <a:ext cx="1229360" cy="138430"/>
          </a:xfrm>
          <a:prstGeom prst="rect">
            <a:avLst/>
          </a:prstGeom>
          <a:noFill/>
          <a:ln w="12700" cap="flat" cmpd="sng">
            <a:noFill/>
            <a:prstDash val="solid"/>
            <a:round/>
          </a:ln>
        </p:spPr>
        <p:txBody>
          <a:bodyPr vert="horz" wrap="none" lIns="0" tIns="0" rIns="0" bIns="0" rtlCol="0" anchor="ctr" anchorCtr="0"/>
          <a:lstStyle/>
          <a:p>
            <a:pPr marL="0" indent="0" algn="r" defTabSz="596900">
              <a:lnSpc>
                <a:spcPct val="125000"/>
              </a:lnSpc>
              <a:defRPr/>
            </a:pPr>
            <a:r>
              <a:rPr lang="en-US" sz="1095"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rPr>
              <a:t>Backbone -&gt; SFT</a:t>
            </a:r>
            <a:endParaRPr lang="en-US" sz="1095"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0" name="AutoShape 60"/>
          <p:cNvSpPr txBox="1"/>
          <p:nvPr/>
        </p:nvSpPr>
        <p:spPr>
          <a:xfrm>
            <a:off x="8514080" y="2660650"/>
            <a:ext cx="403860" cy="127000"/>
          </a:xfrm>
          <a:prstGeom prst="rect">
            <a:avLst/>
          </a:prstGeom>
          <a:noFill/>
          <a:ln w="12700" cap="flat" cmpd="sng">
            <a:noFill/>
            <a:prstDash val="solid"/>
            <a:round/>
          </a:ln>
        </p:spPr>
        <p:txBody>
          <a:bodyPr vert="horz" wrap="none" lIns="0" tIns="0" rIns="0" bIns="0" rtlCol="0" anchor="ctr" anchorCtr="0"/>
          <a:lstStyle/>
          <a:p>
            <a:pPr marL="0" indent="0" algn="ctr" defTabSz="596900">
              <a:lnSpc>
                <a:spcPct val="125000"/>
              </a:lnSpc>
              <a:defRPr/>
            </a:pPr>
            <a:r>
              <a:rPr lang="en-US" sz="1000"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rPr>
              <a:t>52.28</a:t>
            </a:r>
            <a:endParaRPr lang="en-US" sz="1000"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1" name="AutoShape 61"/>
          <p:cNvSpPr txBox="1"/>
          <p:nvPr/>
        </p:nvSpPr>
        <p:spPr>
          <a:xfrm>
            <a:off x="9871710" y="2660650"/>
            <a:ext cx="403860" cy="127000"/>
          </a:xfrm>
          <a:prstGeom prst="rect">
            <a:avLst/>
          </a:prstGeom>
          <a:noFill/>
          <a:ln w="12700" cap="flat" cmpd="sng">
            <a:noFill/>
            <a:prstDash val="solid"/>
            <a:round/>
          </a:ln>
        </p:spPr>
        <p:txBody>
          <a:bodyPr vert="horz" wrap="none" lIns="0" tIns="0" rIns="0" bIns="0" rtlCol="0" anchor="ctr" anchorCtr="0"/>
          <a:lstStyle/>
          <a:p>
            <a:pPr marL="0" indent="0" algn="ctr" defTabSz="596900">
              <a:lnSpc>
                <a:spcPct val="125000"/>
              </a:lnSpc>
              <a:defRPr/>
            </a:pPr>
            <a:r>
              <a:rPr lang="en-US" sz="1000"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rPr>
              <a:t>58.58</a:t>
            </a:r>
            <a:endParaRPr lang="en-US" sz="1000"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2" name="AutoShape 62"/>
          <p:cNvSpPr txBox="1"/>
          <p:nvPr/>
        </p:nvSpPr>
        <p:spPr>
          <a:xfrm>
            <a:off x="11012170" y="2807970"/>
            <a:ext cx="412750" cy="127000"/>
          </a:xfrm>
          <a:prstGeom prst="rect">
            <a:avLst/>
          </a:prstGeom>
          <a:noFill/>
          <a:ln w="12700" cap="flat" cmpd="sng">
            <a:noFill/>
            <a:prstDash val="solid"/>
            <a:round/>
          </a:ln>
        </p:spPr>
        <p:txBody>
          <a:bodyPr vert="horz" wrap="none" lIns="0" tIns="0" rIns="0" bIns="0" rtlCol="0" anchor="ctr" anchorCtr="0"/>
          <a:lstStyle/>
          <a:p>
            <a:pPr marL="0" indent="0" algn="r" defTabSz="596900">
              <a:lnSpc>
                <a:spcPct val="125000"/>
              </a:lnSpc>
              <a:defRPr/>
            </a:pPr>
            <a:r>
              <a:rPr lang="en-US" sz="1000"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rPr>
              <a:t>+6.30</a:t>
            </a:r>
            <a:endParaRPr lang="en-US" sz="1000"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3" name="AutoShape 63"/>
          <p:cNvSpPr txBox="1"/>
          <p:nvPr/>
        </p:nvSpPr>
        <p:spPr>
          <a:xfrm>
            <a:off x="7255510" y="3284220"/>
            <a:ext cx="822960" cy="138430"/>
          </a:xfrm>
          <a:prstGeom prst="rect">
            <a:avLst/>
          </a:prstGeom>
          <a:noFill/>
          <a:ln w="12700" cap="flat" cmpd="sng">
            <a:noFill/>
            <a:prstDash val="solid"/>
            <a:round/>
          </a:ln>
        </p:spPr>
        <p:txBody>
          <a:bodyPr vert="horz" wrap="none" lIns="0" tIns="0" rIns="0" bIns="0" rtlCol="0" anchor="ctr" anchorCtr="0"/>
          <a:lstStyle/>
          <a:p>
            <a:pPr marL="0" indent="0" algn="r" defTabSz="596900">
              <a:lnSpc>
                <a:spcPct val="125000"/>
              </a:lnSpc>
              <a:defRPr/>
            </a:pPr>
            <a:r>
              <a:rPr lang="en-US" sz="1095"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rPr>
              <a:t>SFT + PPO</a:t>
            </a:r>
            <a:endParaRPr lang="en-US" sz="1095"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4" name="AutoShape 64"/>
          <p:cNvSpPr txBox="1"/>
          <p:nvPr/>
        </p:nvSpPr>
        <p:spPr>
          <a:xfrm>
            <a:off x="9768840" y="3143250"/>
            <a:ext cx="403860" cy="127000"/>
          </a:xfrm>
          <a:prstGeom prst="rect">
            <a:avLst/>
          </a:prstGeom>
          <a:noFill/>
          <a:ln w="12700" cap="flat" cmpd="sng">
            <a:noFill/>
            <a:prstDash val="solid"/>
            <a:round/>
          </a:ln>
        </p:spPr>
        <p:txBody>
          <a:bodyPr vert="horz" wrap="none" lIns="0" tIns="0" rIns="0" bIns="0" rtlCol="0" anchor="ctr" anchorCtr="0"/>
          <a:lstStyle/>
          <a:p>
            <a:pPr marL="0" indent="0" algn="ctr" defTabSz="596900">
              <a:lnSpc>
                <a:spcPct val="125000"/>
              </a:lnSpc>
              <a:defRPr/>
            </a:pPr>
            <a:r>
              <a:rPr lang="en-US" sz="1000"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rPr>
              <a:t>58.10</a:t>
            </a:r>
            <a:endParaRPr lang="en-US" sz="1000"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5" name="AutoShape 65"/>
          <p:cNvSpPr txBox="1"/>
          <p:nvPr/>
        </p:nvSpPr>
        <p:spPr>
          <a:xfrm>
            <a:off x="10186670" y="3143250"/>
            <a:ext cx="403860" cy="127000"/>
          </a:xfrm>
          <a:prstGeom prst="rect">
            <a:avLst/>
          </a:prstGeom>
          <a:noFill/>
          <a:ln w="12700" cap="flat" cmpd="sng">
            <a:noFill/>
            <a:prstDash val="solid"/>
            <a:round/>
          </a:ln>
        </p:spPr>
        <p:txBody>
          <a:bodyPr vert="horz" wrap="none" lIns="0" tIns="0" rIns="0" bIns="0" rtlCol="0" anchor="ctr" anchorCtr="0"/>
          <a:lstStyle/>
          <a:p>
            <a:pPr marL="0" indent="0" algn="ctr" defTabSz="596900">
              <a:lnSpc>
                <a:spcPct val="125000"/>
              </a:lnSpc>
              <a:defRPr/>
            </a:pPr>
            <a:r>
              <a:rPr lang="en-US" sz="1000"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rPr>
              <a:t>58.58</a:t>
            </a:r>
            <a:endParaRPr lang="en-US" sz="1000"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6" name="AutoShape 66"/>
          <p:cNvSpPr txBox="1"/>
          <p:nvPr/>
        </p:nvSpPr>
        <p:spPr>
          <a:xfrm>
            <a:off x="11032490" y="3289300"/>
            <a:ext cx="391160" cy="127000"/>
          </a:xfrm>
          <a:prstGeom prst="rect">
            <a:avLst/>
          </a:prstGeom>
          <a:noFill/>
          <a:ln w="12700" cap="flat" cmpd="sng">
            <a:noFill/>
            <a:prstDash val="solid"/>
            <a:round/>
          </a:ln>
        </p:spPr>
        <p:txBody>
          <a:bodyPr vert="horz" wrap="none" lIns="0" tIns="0" rIns="0" bIns="0" rtlCol="0" anchor="ctr" anchorCtr="0"/>
          <a:lstStyle/>
          <a:p>
            <a:pPr marL="0" indent="0" algn="r" defTabSz="596900">
              <a:lnSpc>
                <a:spcPct val="125000"/>
              </a:lnSpc>
              <a:defRPr/>
            </a:pPr>
            <a:r>
              <a:rPr lang="en-US" sz="1000"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rPr>
              <a:t>-0.48</a:t>
            </a:r>
            <a:endParaRPr lang="en-US" sz="1000"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7" name="AutoShape 67"/>
          <p:cNvSpPr txBox="1"/>
          <p:nvPr/>
        </p:nvSpPr>
        <p:spPr>
          <a:xfrm>
            <a:off x="7255510" y="3765550"/>
            <a:ext cx="822960" cy="138430"/>
          </a:xfrm>
          <a:prstGeom prst="rect">
            <a:avLst/>
          </a:prstGeom>
          <a:noFill/>
          <a:ln w="12700" cap="flat" cmpd="sng">
            <a:noFill/>
            <a:prstDash val="solid"/>
            <a:round/>
          </a:ln>
        </p:spPr>
        <p:txBody>
          <a:bodyPr vert="horz" wrap="none" lIns="0" tIns="0" rIns="0" bIns="0" rtlCol="0" anchor="ctr" anchorCtr="0"/>
          <a:lstStyle/>
          <a:p>
            <a:pPr marL="0" indent="0" algn="r" defTabSz="596900">
              <a:lnSpc>
                <a:spcPct val="125000"/>
              </a:lnSpc>
              <a:defRPr/>
            </a:pPr>
            <a:r>
              <a:rPr lang="en-US" sz="1095"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rPr>
              <a:t>SFT + DPO</a:t>
            </a:r>
            <a:endParaRPr lang="en-US" sz="1095"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8" name="AutoShape 68"/>
          <p:cNvSpPr txBox="1"/>
          <p:nvPr/>
        </p:nvSpPr>
        <p:spPr>
          <a:xfrm>
            <a:off x="9098280" y="3625850"/>
            <a:ext cx="403860" cy="127000"/>
          </a:xfrm>
          <a:prstGeom prst="rect">
            <a:avLst/>
          </a:prstGeom>
          <a:noFill/>
          <a:ln w="12700" cap="flat" cmpd="sng">
            <a:noFill/>
            <a:prstDash val="solid"/>
            <a:round/>
          </a:ln>
        </p:spPr>
        <p:txBody>
          <a:bodyPr vert="horz" wrap="none" lIns="0" tIns="0" rIns="0" bIns="0" rtlCol="0" anchor="ctr" anchorCtr="0"/>
          <a:lstStyle/>
          <a:p>
            <a:pPr marL="0" indent="0" algn="ctr" defTabSz="596900">
              <a:lnSpc>
                <a:spcPct val="125000"/>
              </a:lnSpc>
              <a:defRPr/>
            </a:pPr>
            <a:r>
              <a:rPr lang="en-US" sz="1000"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rPr>
              <a:t>54.99</a:t>
            </a:r>
            <a:endParaRPr lang="en-US" sz="1000"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9" name="AutoShape 69"/>
          <p:cNvSpPr txBox="1"/>
          <p:nvPr/>
        </p:nvSpPr>
        <p:spPr>
          <a:xfrm>
            <a:off x="9871710" y="3625850"/>
            <a:ext cx="403860" cy="127000"/>
          </a:xfrm>
          <a:prstGeom prst="rect">
            <a:avLst/>
          </a:prstGeom>
          <a:noFill/>
          <a:ln w="12700" cap="flat" cmpd="sng">
            <a:noFill/>
            <a:prstDash val="solid"/>
            <a:round/>
          </a:ln>
        </p:spPr>
        <p:txBody>
          <a:bodyPr vert="horz" wrap="none" lIns="0" tIns="0" rIns="0" bIns="0" rtlCol="0" anchor="ctr" anchorCtr="0"/>
          <a:lstStyle/>
          <a:p>
            <a:pPr marL="0" indent="0" algn="ctr" defTabSz="596900">
              <a:lnSpc>
                <a:spcPct val="125000"/>
              </a:lnSpc>
              <a:defRPr/>
            </a:pPr>
            <a:r>
              <a:rPr lang="en-US" sz="1000"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rPr>
              <a:t>58.58</a:t>
            </a:r>
            <a:endParaRPr lang="en-US" sz="1000"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0" name="AutoShape 70"/>
          <p:cNvSpPr txBox="1"/>
          <p:nvPr/>
        </p:nvSpPr>
        <p:spPr>
          <a:xfrm>
            <a:off x="11032490" y="3771900"/>
            <a:ext cx="391160" cy="127000"/>
          </a:xfrm>
          <a:prstGeom prst="rect">
            <a:avLst/>
          </a:prstGeom>
          <a:noFill/>
          <a:ln w="12700" cap="flat" cmpd="sng">
            <a:noFill/>
            <a:prstDash val="solid"/>
            <a:round/>
          </a:ln>
        </p:spPr>
        <p:txBody>
          <a:bodyPr vert="horz" wrap="none" lIns="0" tIns="0" rIns="0" bIns="0" rtlCol="0" anchor="ctr" anchorCtr="0"/>
          <a:lstStyle/>
          <a:p>
            <a:pPr marL="0" indent="0" algn="r" defTabSz="596900">
              <a:lnSpc>
                <a:spcPct val="125000"/>
              </a:lnSpc>
              <a:defRPr/>
            </a:pPr>
            <a:r>
              <a:rPr lang="en-US" sz="1000"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rPr>
              <a:t>-3.59</a:t>
            </a:r>
            <a:endParaRPr lang="en-US" sz="1000"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1" name="AutoShape 71"/>
          <p:cNvSpPr txBox="1"/>
          <p:nvPr/>
        </p:nvSpPr>
        <p:spPr>
          <a:xfrm>
            <a:off x="7157720" y="4248150"/>
            <a:ext cx="920750" cy="138430"/>
          </a:xfrm>
          <a:prstGeom prst="rect">
            <a:avLst/>
          </a:prstGeom>
          <a:noFill/>
          <a:ln w="12700" cap="flat" cmpd="sng">
            <a:noFill/>
            <a:prstDash val="solid"/>
            <a:round/>
          </a:ln>
        </p:spPr>
        <p:txBody>
          <a:bodyPr vert="horz" wrap="none" lIns="0" tIns="0" rIns="0" bIns="0" rtlCol="0" anchor="ctr" anchorCtr="0"/>
          <a:lstStyle/>
          <a:p>
            <a:pPr marL="0" indent="0" algn="r" defTabSz="596900">
              <a:lnSpc>
                <a:spcPct val="125000"/>
              </a:lnSpc>
              <a:defRPr/>
            </a:pPr>
            <a:r>
              <a:rPr lang="en-US" sz="1095"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rPr>
              <a:t>SFT + GRPO</a:t>
            </a:r>
            <a:endParaRPr lang="en-US" sz="1095"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2" name="AutoShape 72"/>
          <p:cNvSpPr txBox="1"/>
          <p:nvPr/>
        </p:nvSpPr>
        <p:spPr>
          <a:xfrm>
            <a:off x="9871710" y="4107180"/>
            <a:ext cx="403860" cy="127000"/>
          </a:xfrm>
          <a:prstGeom prst="rect">
            <a:avLst/>
          </a:prstGeom>
          <a:noFill/>
          <a:ln w="12700" cap="flat" cmpd="sng">
            <a:noFill/>
            <a:prstDash val="solid"/>
            <a:round/>
          </a:ln>
        </p:spPr>
        <p:txBody>
          <a:bodyPr vert="horz" wrap="none" lIns="0" tIns="0" rIns="0" bIns="0" rtlCol="0" anchor="ctr" anchorCtr="0"/>
          <a:lstStyle/>
          <a:p>
            <a:pPr marL="0" indent="0" algn="ctr" defTabSz="596900">
              <a:lnSpc>
                <a:spcPct val="125000"/>
              </a:lnSpc>
              <a:defRPr/>
            </a:pPr>
            <a:r>
              <a:rPr lang="en-US" sz="1000"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rPr>
              <a:t>58.58</a:t>
            </a:r>
            <a:endParaRPr lang="en-US" sz="1000"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3" name="AutoShape 73"/>
          <p:cNvSpPr txBox="1"/>
          <p:nvPr/>
        </p:nvSpPr>
        <p:spPr>
          <a:xfrm>
            <a:off x="10289540" y="4107180"/>
            <a:ext cx="403860" cy="127000"/>
          </a:xfrm>
          <a:prstGeom prst="rect">
            <a:avLst/>
          </a:prstGeom>
          <a:noFill/>
          <a:ln w="12700" cap="flat" cmpd="sng">
            <a:noFill/>
            <a:prstDash val="solid"/>
            <a:round/>
          </a:ln>
        </p:spPr>
        <p:txBody>
          <a:bodyPr vert="horz" wrap="none" lIns="0" tIns="0" rIns="0" bIns="0" rtlCol="0" anchor="ctr" anchorCtr="0"/>
          <a:lstStyle/>
          <a:p>
            <a:pPr marL="0" indent="0" algn="ctr" defTabSz="596900">
              <a:lnSpc>
                <a:spcPct val="125000"/>
              </a:lnSpc>
              <a:defRPr/>
            </a:pPr>
            <a:r>
              <a:rPr lang="en-US" sz="1000"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rPr>
              <a:t>59.95</a:t>
            </a:r>
            <a:endParaRPr lang="en-US" sz="1000"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4" name="AutoShape 74"/>
          <p:cNvSpPr txBox="1"/>
          <p:nvPr/>
        </p:nvSpPr>
        <p:spPr>
          <a:xfrm>
            <a:off x="11012170" y="4254500"/>
            <a:ext cx="412750" cy="127000"/>
          </a:xfrm>
          <a:prstGeom prst="rect">
            <a:avLst/>
          </a:prstGeom>
          <a:noFill/>
          <a:ln w="12700" cap="flat" cmpd="sng">
            <a:noFill/>
            <a:prstDash val="solid"/>
            <a:round/>
          </a:ln>
        </p:spPr>
        <p:txBody>
          <a:bodyPr vert="horz" wrap="none" lIns="0" tIns="0" rIns="0" bIns="0" rtlCol="0" anchor="ctr" anchorCtr="0"/>
          <a:lstStyle/>
          <a:p>
            <a:pPr marL="0" indent="0" algn="r" defTabSz="596900">
              <a:lnSpc>
                <a:spcPct val="125000"/>
              </a:lnSpc>
              <a:defRPr/>
            </a:pPr>
            <a:r>
              <a:rPr lang="en-US" sz="1000"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rPr>
              <a:t>+1.37</a:t>
            </a:r>
            <a:endParaRPr lang="en-US" sz="1000"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5" name="AutoShape 75"/>
          <p:cNvSpPr txBox="1"/>
          <p:nvPr/>
        </p:nvSpPr>
        <p:spPr>
          <a:xfrm>
            <a:off x="8652510" y="4853940"/>
            <a:ext cx="1731010" cy="152400"/>
          </a:xfrm>
          <a:prstGeom prst="rect">
            <a:avLst/>
          </a:prstGeom>
          <a:noFill/>
          <a:ln w="12700" cap="flat" cmpd="sng">
            <a:noFill/>
            <a:prstDash val="solid"/>
            <a:round/>
          </a:ln>
        </p:spPr>
        <p:txBody>
          <a:bodyPr vert="horz" wrap="none" lIns="0" tIns="0" rIns="0" bIns="0" rtlCol="0" anchor="ctr" anchorCtr="0"/>
          <a:lstStyle/>
          <a:p>
            <a:pPr marL="0" indent="0" algn="ctr" defTabSz="596900">
              <a:lnSpc>
                <a:spcPct val="125000"/>
              </a:lnSpc>
              <a:defRPr/>
            </a:pPr>
            <a:r>
              <a:rPr lang="en-US" sz="1205"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rPr>
              <a:t>Average accuracy (%)</a:t>
            </a:r>
            <a:endParaRPr lang="en-US" sz="1205" b="1" i="0" u="none" strike="noStrike">
              <a:solidFill>
                <a:srgbClr val="18263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1779</Words>
  <Application>WPS 演示</Application>
  <PresentationFormat/>
  <Paragraphs>156</Paragraphs>
  <Slides>3</Slides>
  <Notes>0</Notes>
  <HiddenSlides>0</HiddenSlides>
  <MMClips>0</MMClips>
  <ScaleCrop>false</ScaleCrop>
  <HeadingPairs>
    <vt:vector size="6" baseType="variant">
      <vt:variant>
        <vt:lpstr>已用的字体</vt:lpstr>
      </vt:variant>
      <vt:variant>
        <vt:i4>10</vt:i4>
      </vt:variant>
      <vt:variant>
        <vt:lpstr>主题</vt:lpstr>
      </vt:variant>
      <vt:variant>
        <vt:i4>2</vt:i4>
      </vt:variant>
      <vt:variant>
        <vt:lpstr>幻灯片标题</vt:lpstr>
      </vt:variant>
      <vt:variant>
        <vt:i4>3</vt:i4>
      </vt:variant>
    </vt:vector>
  </HeadingPairs>
  <TitlesOfParts>
    <vt:vector size="15" baseType="lpstr">
      <vt:lpstr>Arial</vt:lpstr>
      <vt:lpstr>宋体</vt:lpstr>
      <vt:lpstr>Wingdings</vt:lpstr>
      <vt:lpstr>Arial</vt:lpstr>
      <vt:lpstr>Inter</vt:lpstr>
      <vt:lpstr>Liberation Mono</vt:lpstr>
      <vt:lpstr>Noto Sans SC</vt:lpstr>
      <vt:lpstr>微软雅黑</vt:lpstr>
      <vt:lpstr>Arial Unicode MS</vt:lpstr>
      <vt:lpstr>Inter</vt:lpstr>
      <vt:lpstr>Office 主题​​</vt:lpstr>
      <vt:lpstr>默认主题</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董胜凡</cp:lastModifiedBy>
  <cp:revision>7</cp:revision>
  <dcterms:created xsi:type="dcterms:W3CDTF">2026-10-28T02:57:00Z</dcterms:created>
  <dcterms:modified xsi:type="dcterms:W3CDTF">2026-10-29T10:00:05Z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6DAB4F68915E47BB81628C1C769FFB5E_12</vt:lpwstr>
  </property>
  <property fmtid="{D5CDD505-2E9C-101B-9397-08002B2CF9AE}" pid="3" name="KSOProductBuildVer">
    <vt:lpwstr>2052-12.1.0.29158</vt:lpwstr>
  </property>
</Properties>
</file>