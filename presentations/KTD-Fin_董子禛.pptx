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444"/>
  </p:normalViewPr>
  <p:slideViewPr>
    <p:cSldViewPr snapToGrid="0">
      <p:cViewPr varScale="1">
        <p:scale>
          <a:sx n="67" d="100"/>
          <a:sy n="67" d="100"/>
        </p:scale>
        <p:origin x="2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i="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605.28359v1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KTD-Fin">
            <a:extLst>
              <a:ext uri="{FF2B5EF4-FFF2-40B4-BE49-F238E27FC236}">
                <a16:creationId xmlns:a16="http://schemas.microsoft.com/office/drawing/2014/main" id="{F4496C5E-1FCB-422F-B222-C6080C4265C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" altLang="zh-CN" sz="5700" b="1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KTD-Fin</a:t>
            </a:r>
          </a:p>
        </p:txBody>
      </p:sp>
      <p:sp>
        <p:nvSpPr>
          <p:cNvPr id="3" name="Can trading profits&#10;reveal AI skill?">
            <a:extLst>
              <a:ext uri="{FF2B5EF4-FFF2-40B4-BE49-F238E27FC236}">
                <a16:creationId xmlns:a16="http://schemas.microsoft.com/office/drawing/2014/main" id="{C89B1F65-B03C-453D-9BF0-B19DD00B959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7150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Can trading profits</a:t>
            </a:r>
          </a:p>
          <a:p>
            <a:pPr algn="l">
              <a:defRPr sz="36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reveal AI skill?</a:t>
            </a:r>
          </a:p>
        </p:txBody>
      </p:sp>
      <p:sp>
        <p:nvSpPr>
          <p:cNvPr id="4" name="Historical memory can leak into a backtest.">
            <a:extLst>
              <a:ext uri="{FF2B5EF4-FFF2-40B4-BE49-F238E27FC236}">
                <a16:creationId xmlns:a16="http://schemas.microsoft.com/office/drawing/2014/main" id="{BE279BA6-E874-4800-BB23-BBE6BDC9FC0D}"/>
              </a:ext>
            </a:extLst>
          </p:cNvPr>
          <p:cNvSpPr>
            <a:spLocks noGrp="1"/>
          </p:cNvSpPr>
          <p:nvPr/>
        </p:nvSpPr>
        <p:spPr>
          <a:xfrm>
            <a:off x="628650" y="3486150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Historical memory can leak into a </a:t>
            </a:r>
            <a:r>
              <a:rPr sz="2100" b="0" dirty="0" err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backtest</a:t>
            </a:r>
            <a:r>
              <a:rPr sz="2100" b="0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" name="Market rallies can reward weak stock selectio">
            <a:extLst>
              <a:ext uri="{FF2B5EF4-FFF2-40B4-BE49-F238E27FC236}">
                <a16:creationId xmlns:a16="http://schemas.microsoft.com/office/drawing/2014/main" id="{3EBDC2C0-078E-4ED9-9725-E9366773DB24}"/>
              </a:ext>
            </a:extLst>
          </p:cNvPr>
          <p:cNvSpPr>
            <a:spLocks noGrp="1"/>
          </p:cNvSpPr>
          <p:nvPr/>
        </p:nvSpPr>
        <p:spPr>
          <a:xfrm>
            <a:off x="628650" y="4381500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Market rallies can reward weak stock selection.</a:t>
            </a:r>
          </a:p>
        </p:txBody>
      </p:sp>
      <p:sp>
        <p:nvSpPr>
          <p:cNvPr id="6" name="From Knowing to Doing: A Memory-Controlled Be">
            <a:extLst>
              <a:ext uri="{FF2B5EF4-FFF2-40B4-BE49-F238E27FC236}">
                <a16:creationId xmlns:a16="http://schemas.microsoft.com/office/drawing/2014/main" id="{009D8BBB-41DB-4FD1-87DF-7B64943C9102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From Knowing to Doing: A Memory-Controlled Benchmark for LLM Trading Agents on Stock Markets</a:t>
            </a:r>
          </a:p>
        </p:txBody>
      </p:sp>
      <p:sp>
        <p:nvSpPr>
          <p:cNvPr id="7" name="Zhu et al., 27 May 2026, arXiv:2605.28359v1 (">
            <a:extLst>
              <a:ext uri="{FF2B5EF4-FFF2-40B4-BE49-F238E27FC236}">
                <a16:creationId xmlns:a16="http://schemas.microsoft.com/office/drawing/2014/main" id="{945CE989-8E28-4AC5-9267-963748D19A2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Zhu et al., 27 May 2026, </a:t>
            </a:r>
            <a:r>
              <a: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  <a:hlinkClick r:id="rId4"/>
              </a:rPr>
              <a:t>arXiv:2605.28359v1</a:t>
            </a:r>
            <a:r>
              <a: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 (preprint)</a:t>
            </a:r>
          </a:p>
        </p:txBody>
      </p:sp>
    </p:spTree>
    <p:extLst>
      <p:ext uri="{BB962C8B-B14F-4D97-AF65-F5344CB8AC3E}">
        <p14:creationId xmlns:p14="http://schemas.microsoft.com/office/powerpoint/2010/main" val="214387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emory control and return attribution">
            <a:extLst>
              <a:ext uri="{FF2B5EF4-FFF2-40B4-BE49-F238E27FC236}">
                <a16:creationId xmlns:a16="http://schemas.microsoft.com/office/drawing/2014/main" id="{CD5E2BAE-4E62-4F2B-AF8D-1D1F4002EC7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Memory control and return attribution</a:t>
            </a:r>
          </a:p>
        </p:txBody>
      </p:sp>
      <p:sp>
        <p:nvSpPr>
          <p:cNvPr id="2" name="The numeric signals stay the same. Identifier">
            <a:extLst>
              <a:ext uri="{FF2B5EF4-FFF2-40B4-BE49-F238E27FC236}">
                <a16:creationId xmlns:a16="http://schemas.microsoft.com/office/drawing/2014/main" id="{3E7551BE-ED9E-40AD-AA3C-E0E9D25E1983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356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56B68"/>
                </a:solidFill>
                <a:latin typeface="Helvetica Neue"/>
                <a:ea typeface="Helvetica Neue"/>
                <a:cs typeface="Helvetica Neue"/>
              </a:rPr>
              <a:t>The numeric signals stay the same. Identifiers change.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609600" y="1943100"/>
          <a:ext cx="6143625" cy="2476500"/>
        </p:xfrm>
        <a:graphic>
          <a:graphicData uri="http://schemas.openxmlformats.org/drawingml/2006/table">
            <a:tbl>
              <a:tblPr firstRow="1"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Stock ID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Calendar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Stock-blind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Alias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Date-blind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Relative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Blinded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Alias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Relative day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Masking covers prompts and tool outputs.&#10;Join">
            <a:extLst>
              <a:ext uri="{FF2B5EF4-FFF2-40B4-BE49-F238E27FC236}">
                <a16:creationId xmlns:a16="http://schemas.microsoft.com/office/drawing/2014/main" id="{15E2BF77-AE1C-4154-95B0-77FC816551C6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614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Masking covers prompts and tool outputs.</a:t>
            </a:r>
          </a:p>
          <a:p>
            <a:pPr algn="l">
              <a:defRPr sz="165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Joint stock-and-date recovery: at most 1.5%.</a:t>
            </a:r>
          </a:p>
        </p:txBody>
      </p:sp>
      <p:sp>
        <p:nvSpPr>
          <p:cNvPr id="5" name="Daily trading loop">
            <a:extLst>
              <a:ext uri="{FF2B5EF4-FFF2-40B4-BE49-F238E27FC236}">
                <a16:creationId xmlns:a16="http://schemas.microsoft.com/office/drawing/2014/main" id="{A1A1CE88-28CD-47DB-A480-4BAF76F9DDC9}"/>
              </a:ext>
            </a:extLst>
          </p:cNvPr>
          <p:cNvSpPr>
            <a:spLocks noGrp="1"/>
          </p:cNvSpPr>
          <p:nvPr/>
        </p:nvSpPr>
        <p:spPr>
          <a:xfrm>
            <a:off x="7334250" y="188595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Daily trading loop</a:t>
            </a:r>
          </a:p>
        </p:txBody>
      </p:sp>
      <p:sp>
        <p:nvSpPr>
          <p:cNvPr id="6" name="1  Research with six tools">
            <a:extLst>
              <a:ext uri="{FF2B5EF4-FFF2-40B4-BE49-F238E27FC236}">
                <a16:creationId xmlns:a16="http://schemas.microsoft.com/office/drawing/2014/main" id="{DCB8EFDF-845E-4522-AB7E-719AC63F98F6}"/>
              </a:ext>
            </a:extLst>
          </p:cNvPr>
          <p:cNvSpPr>
            <a:spLocks noGrp="1"/>
          </p:cNvSpPr>
          <p:nvPr/>
        </p:nvSpPr>
        <p:spPr>
          <a:xfrm>
            <a:off x="7334250" y="24003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1  Research with six tools</a:t>
            </a:r>
          </a:p>
        </p:txBody>
      </p:sp>
      <p:sp>
        <p:nvSpPr>
          <p:cNvPr id="7" name="Retrieve prices and technical factors">
            <a:extLst>
              <a:ext uri="{FF2B5EF4-FFF2-40B4-BE49-F238E27FC236}">
                <a16:creationId xmlns:a16="http://schemas.microsoft.com/office/drawing/2014/main" id="{6109DC01-07D8-4342-9B1E-8D12715F9A69}"/>
              </a:ext>
            </a:extLst>
          </p:cNvPr>
          <p:cNvSpPr>
            <a:spLocks noGrp="1"/>
          </p:cNvSpPr>
          <p:nvPr/>
        </p:nvSpPr>
        <p:spPr>
          <a:xfrm>
            <a:off x="7639050" y="2771775"/>
            <a:ext cx="3886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Retrieve prices and technical factors</a:t>
            </a:r>
          </a:p>
        </p:txBody>
      </p:sp>
      <p:sp>
        <p:nvSpPr>
          <p:cNvPr id="8" name="2  Submit structured orders">
            <a:extLst>
              <a:ext uri="{FF2B5EF4-FFF2-40B4-BE49-F238E27FC236}">
                <a16:creationId xmlns:a16="http://schemas.microsoft.com/office/drawing/2014/main" id="{EEE9E38B-6167-4838-9061-6C5602512421}"/>
              </a:ext>
            </a:extLst>
          </p:cNvPr>
          <p:cNvSpPr>
            <a:spLocks noGrp="1"/>
          </p:cNvSpPr>
          <p:nvPr/>
        </p:nvSpPr>
        <p:spPr>
          <a:xfrm>
            <a:off x="7334250" y="32385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2  Submit structured orders</a:t>
            </a:r>
          </a:p>
        </p:txBody>
      </p:sp>
      <p:sp>
        <p:nvSpPr>
          <p:cNvPr id="9" name="Choose positions and explain decisions">
            <a:extLst>
              <a:ext uri="{FF2B5EF4-FFF2-40B4-BE49-F238E27FC236}">
                <a16:creationId xmlns:a16="http://schemas.microsoft.com/office/drawing/2014/main" id="{6A261546-D9F6-46AA-934E-EE861E6DA374}"/>
              </a:ext>
            </a:extLst>
          </p:cNvPr>
          <p:cNvSpPr>
            <a:spLocks noGrp="1"/>
          </p:cNvSpPr>
          <p:nvPr/>
        </p:nvSpPr>
        <p:spPr>
          <a:xfrm>
            <a:off x="7639050" y="3609975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Choose positions and explain decisions</a:t>
            </a:r>
          </a:p>
        </p:txBody>
      </p:sp>
      <p:sp>
        <p:nvSpPr>
          <p:cNvPr id="10" name="3  Execute in Qlib">
            <a:extLst>
              <a:ext uri="{FF2B5EF4-FFF2-40B4-BE49-F238E27FC236}">
                <a16:creationId xmlns:a16="http://schemas.microsoft.com/office/drawing/2014/main" id="{5342DC40-CABD-45BD-B949-BE2516BBC0B0}"/>
              </a:ext>
            </a:extLst>
          </p:cNvPr>
          <p:cNvSpPr>
            <a:spLocks noGrp="1"/>
          </p:cNvSpPr>
          <p:nvPr/>
        </p:nvSpPr>
        <p:spPr>
          <a:xfrm>
            <a:off x="7334250" y="41814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3  Execute in Qlib</a:t>
            </a:r>
          </a:p>
        </p:txBody>
      </p:sp>
      <p:sp>
        <p:nvSpPr>
          <p:cNvPr id="11" name="Fees, T+1 rules, next-day open">
            <a:extLst>
              <a:ext uri="{FF2B5EF4-FFF2-40B4-BE49-F238E27FC236}">
                <a16:creationId xmlns:a16="http://schemas.microsoft.com/office/drawing/2014/main" id="{720320EF-8007-49DB-A9F4-30944D0ACE0F}"/>
              </a:ext>
            </a:extLst>
          </p:cNvPr>
          <p:cNvSpPr>
            <a:spLocks noGrp="1"/>
          </p:cNvSpPr>
          <p:nvPr/>
        </p:nvSpPr>
        <p:spPr>
          <a:xfrm>
            <a:off x="7639050" y="457200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Fees, T+1 rules, next-day open</a:t>
            </a:r>
          </a:p>
        </p:txBody>
      </p:sp>
      <p:sp>
        <p:nvSpPr>
          <p:cNvPr id="12" name="10 LLMs, 18 trained ML baselines, CSI300 buy-">
            <a:extLst>
              <a:ext uri="{FF2B5EF4-FFF2-40B4-BE49-F238E27FC236}">
                <a16:creationId xmlns:a16="http://schemas.microsoft.com/office/drawing/2014/main" id="{1D1BF98D-C000-4440-8725-3711B87A652F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10 LLMs, 18 trained ML baselines, CSI300 buy-and-hold</a:t>
            </a:r>
          </a:p>
          <a:p>
            <a:pPr algn="l">
              <a:defRPr sz="18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January 2024 to April 2026, 548 trading days</a:t>
            </a:r>
          </a:p>
        </p:txBody>
      </p:sp>
      <p:sp>
        <p:nvSpPr>
          <p:cNvPr id="13" name="Attribution: common movement + style exposure">
            <a:extLst>
              <a:ext uri="{FF2B5EF4-FFF2-40B4-BE49-F238E27FC236}">
                <a16:creationId xmlns:a16="http://schemas.microsoft.com/office/drawing/2014/main" id="{9EDD47B1-0EFC-4816-8BCC-F10F0034CF06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356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56B68"/>
                </a:solidFill>
                <a:latin typeface="Helvetica Neue"/>
                <a:ea typeface="Helvetica Neue"/>
                <a:cs typeface="Helvetica Neue"/>
              </a:rPr>
              <a:t>Attribution: common movement + style exposure + selection alpha</a:t>
            </a:r>
          </a:p>
        </p:txBody>
      </p:sp>
      <p:sp>
        <p:nvSpPr>
          <p:cNvPr id="14" name="Zhu et al. (2026), Sections 3–4. Modes: memor">
            <a:extLst>
              <a:ext uri="{FF2B5EF4-FFF2-40B4-BE49-F238E27FC236}">
                <a16:creationId xmlns:a16="http://schemas.microsoft.com/office/drawing/2014/main" id="{1FFF4B9E-14BD-496D-8287-5F7D1082BA9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Zhu et al. (2026), Sections 3–4. Modes: memory-only, fixed-candidate, open-research.</a:t>
            </a:r>
          </a:p>
        </p:txBody>
      </p:sp>
    </p:spTree>
    <p:extLst>
      <p:ext uri="{BB962C8B-B14F-4D97-AF65-F5344CB8AC3E}">
        <p14:creationId xmlns:p14="http://schemas.microsoft.com/office/powerpoint/2010/main" val="96802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fits reveal little persistent selection sk">
            <a:extLst>
              <a:ext uri="{FF2B5EF4-FFF2-40B4-BE49-F238E27FC236}">
                <a16:creationId xmlns:a16="http://schemas.microsoft.com/office/drawing/2014/main" id="{BFFCE3C0-EA5A-486D-9AC4-106CBE826BC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Profits reveal little persistent selection skill</a:t>
            </a:r>
          </a:p>
        </p:txBody>
      </p:sp>
      <p:sp>
        <p:nvSpPr>
          <p:cNvPr id="2" name="Blinded open research on the CSI300, 2024–202">
            <a:extLst>
              <a:ext uri="{FF2B5EF4-FFF2-40B4-BE49-F238E27FC236}">
                <a16:creationId xmlns:a16="http://schemas.microsoft.com/office/drawing/2014/main" id="{567CF61B-9DBD-4FDB-8582-1A9A76B8331A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356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56B68"/>
                </a:solidFill>
                <a:latin typeface="Helvetica Neue"/>
                <a:ea typeface="Helvetica Neue"/>
                <a:cs typeface="Helvetica Neue"/>
              </a:rPr>
              <a:t>Blinded open research on the CSI300, 2024–2026</a:t>
            </a:r>
          </a:p>
        </p:txBody>
      </p:sp>
      <p:sp>
        <p:nvSpPr>
          <p:cNvPr id="3" name="9 of 10">
            <a:extLst>
              <a:ext uri="{FF2B5EF4-FFF2-40B4-BE49-F238E27FC236}">
                <a16:creationId xmlns:a16="http://schemas.microsoft.com/office/drawing/2014/main" id="{409CF722-1D02-4565-B070-F3D396946859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0" b="1">
                <a:solidFill>
                  <a:srgbClr val="A14C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A14C31"/>
                </a:solidFill>
                <a:latin typeface="Helvetica Neue"/>
                <a:ea typeface="Helvetica Neue"/>
                <a:cs typeface="Helvetica Neue"/>
              </a:rPr>
              <a:t>9 of 10</a:t>
            </a:r>
          </a:p>
        </p:txBody>
      </p:sp>
      <p:sp>
        <p:nvSpPr>
          <p:cNvPr id="4" name="agents have negative&#10;selection alpha">
            <a:extLst>
              <a:ext uri="{FF2B5EF4-FFF2-40B4-BE49-F238E27FC236}">
                <a16:creationId xmlns:a16="http://schemas.microsoft.com/office/drawing/2014/main" id="{FB970860-E222-4253-BB23-B308DB941505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agents have negative</a:t>
            </a:r>
          </a:p>
          <a:p>
            <a:pPr algn="l">
              <a:defRPr sz="21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038"/>
                </a:solidFill>
                <a:latin typeface="Helvetica Neue"/>
                <a:ea typeface="Helvetica Neue"/>
                <a:cs typeface="Helvetica Neue"/>
              </a:rPr>
              <a:t>selection alpha</a:t>
            </a:r>
          </a:p>
        </p:txBody>
      </p:sp>
      <p:sp>
        <p:nvSpPr>
          <p:cNvPr id="5" name="Only Claude is near zero&#10;at +0.2%.">
            <a:extLst>
              <a:ext uri="{FF2B5EF4-FFF2-40B4-BE49-F238E27FC236}">
                <a16:creationId xmlns:a16="http://schemas.microsoft.com/office/drawing/2014/main" id="{9BC6E9BD-BBE7-4998-9B93-B23A8870F0B2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3143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Only Claude is near zero</a:t>
            </a:r>
          </a:p>
          <a:p>
            <a:pPr algn="l">
              <a:defRPr sz="18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at +0.2%.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4133850" y="1952625"/>
          <a:ext cx="7448550" cy="2647950"/>
        </p:xfrm>
        <a:graphic>
          <a:graphicData uri="http://schemas.openxmlformats.org/drawingml/2006/table">
            <a:tbl>
              <a:tblPr firstRow="1"/>
              <a:tblGrid>
                <a:gridCol w="240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Common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Style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Selection</a:t>
                      </a:r>
                    </a:p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alpha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Portfolio</a:t>
                      </a:r>
                    </a:p>
                  </a:txBody>
                  <a:tcPr anchor="ctr">
                    <a:solidFill>
                      <a:srgbClr val="163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Qwen3.6-Plus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+41.8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+29.2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A14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+70.3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Claude Opus 4.7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+35.0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+16.6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356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+0.2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+51.8</a:t>
                      </a:r>
                    </a:p>
                  </a:txBody>
                  <a:tcPr anchor="ctr">
                    <a:solidFill>
                      <a:srgbClr val="E6E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+40.0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+11.8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A14C3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−14.9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30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+36.9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able 5: seed-averaged cumulative contributio">
            <a:extLst>
              <a:ext uri="{FF2B5EF4-FFF2-40B4-BE49-F238E27FC236}">
                <a16:creationId xmlns:a16="http://schemas.microsoft.com/office/drawing/2014/main" id="{EAE90454-1E17-43A1-9515-0CE406E99397}"/>
              </a:ext>
            </a:extLst>
          </p:cNvPr>
          <p:cNvSpPr>
            <a:spLocks noGrp="1"/>
          </p:cNvSpPr>
          <p:nvPr/>
        </p:nvSpPr>
        <p:spPr>
          <a:xfrm>
            <a:off x="4133850" y="4762500"/>
            <a:ext cx="7448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Table 5: seed-averaged cumulative contributions (%).</a:t>
            </a:r>
          </a:p>
          <a:p>
            <a:pPr algn="l">
              <a:defRPr sz="1500" b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5A656A"/>
                </a:solidFill>
                <a:latin typeface="Helvetica Neue"/>
                <a:ea typeface="Helvetica Neue"/>
                <a:cs typeface="Helvetica Neue"/>
              </a:rPr>
              <a:t>Common is the model’s shared-return component.</a:t>
            </a:r>
          </a:p>
        </p:txBody>
      </p:sp>
      <p:sp>
        <p:nvSpPr>
          <p:cNvPr id="8" name="Credible evaluation controls memory and expla">
            <a:extLst>
              <a:ext uri="{FF2B5EF4-FFF2-40B4-BE49-F238E27FC236}">
                <a16:creationId xmlns:a16="http://schemas.microsoft.com/office/drawing/2014/main" id="{340FBAF1-5F25-46CD-9339-4959069726E6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356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56B68"/>
                </a:solidFill>
                <a:latin typeface="Helvetica Neue"/>
                <a:ea typeface="Helvetica Neue"/>
                <a:cs typeface="Helvetica Neue"/>
              </a:rPr>
              <a:t>Credible evaluation controls memory and explains returns.</a:t>
            </a:r>
          </a:p>
        </p:txBody>
      </p:sp>
    </p:spTree>
    <p:extLst>
      <p:ext uri="{BB962C8B-B14F-4D97-AF65-F5344CB8AC3E}">
        <p14:creationId xmlns:p14="http://schemas.microsoft.com/office/powerpoint/2010/main" val="9127835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271</Words>
  <Application>Microsoft Macintosh PowerPoint</Application>
  <DocSecurity>0</DocSecurity>
  <PresentationFormat>宽屏</PresentationFormat>
  <Paragraphs>68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Aptos</vt:lpstr>
      <vt:lpstr>Helvetica Neue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子禛 董</cp:lastModifiedBy>
  <cp:revision>4</cp:revision>
  <dcterms:created xsi:type="dcterms:W3CDTF">2026-10-09T03:01:08Z</dcterms:created>
  <dcterms:modified xsi:type="dcterms:W3CDTF">2026-10-30T05:26:12Z</dcterms:modified>
</cp:coreProperties>
</file>