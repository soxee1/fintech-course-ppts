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26c72c5-f9f4-49c1-52b1-9d1120779746}">
          <p14:sldIdLst>
            <p14:sldId id="256"/>
            <p14:sldId id="257"/>
          </p14:sldIdLst>
        </p14:section>
        <p14:section name="Method" id="{170e2529-1212-383b-781c-ac3dd416fee7}">
          <p14:sldIdLst>
            <p14:sldId id="258"/>
          </p14:sldIdLst>
        </p14:section>
        <p14:section name="Results" id="{2c1925ef-06a8-6742-b605-436a3ae7dab4}">
          <p14:sldIdLst>
            <p14:sldId id="259"/>
            <p14:sldId id="260"/>
            <p14:sldId id="261"/>
          </p14:sldIdLst>
        </p14:section>
        <p14:section name="Wrap-up" id="{09b95951-d63f-096c-9d1e-6d43bb457987}">
          <p14:sldIdLst>
            <p14:sldId id="262"/>
          </p14:sldIdLst>
        </p14:section>
        <p14:section name="Backup" id="{b0e69329-f65f-f8df-7bfe-0ca69caf8f99}">
          <p14:sldIdLst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rgbClr val="1F3A68"/>
                </a:solidFill>
                <a:latin typeface="+mn-lt"/>
                <a:ea typeface="+mn-ea"/>
                <a:cs typeface="+mn-cs"/>
              </a:defRPr>
            </a:pPr>
            <a:r>
              <a:rPr sz="2000" b="0" i="0" u="none" strike="noStrike">
                <a:solidFill>
                  <a:srgbClr val="1F3A68"/>
                </a:solidFill>
                <a:latin typeface="+mn-lt"/>
              </a:rPr>
              <a:t>Correlation of simulated vs real price</a:t>
            </a:r>
            <a:endParaRPr sz="2000" b="0" i="0" u="none" strike="noStrike">
              <a:solidFill>
                <a:srgbClr val="1F3A68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real price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5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343A"/>
              </a:solidFill>
              <a:effectLst/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1" i="0" u="none" strike="noStrike" kern="1200" baseline="0">
                    <a:solidFill>
                      <a:srgbClr val="1B2A4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Full TwinMarket</c:v>
                </c:pt>
                <c:pt idx="1">
                  <c:v>Without BDI loop</c:v>
                </c:pt>
                <c:pt idx="2">
                  <c:v>All agents identical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0.77</c:v>
                </c:pt>
                <c:pt idx="1">
                  <c:v>0.34</c:v>
                </c:pt>
                <c:pt idx="2">
                  <c:v>-0.61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1B2A4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0.8"/>
        </c:scaling>
        <c:delete val="0"/>
        <c:axPos val="l"/>
        <c:majorGridlines>
          <c:spPr>
            <a:ln w="12700" cap="flat" cmpd="sng" algn="ctr">
              <a:solidFill>
                <a:srgbClr val="E1E6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7A859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349175f-1955-4626-a791-9135519c962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if asked how we know the agents are realistic. Removing the BDI loop or making all agents identical makes the simulation much worse; with identical agents, the simulated price even moves opposite to the real market (correlation −0.61 instead of +0.77).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1417320"/>
            <a:ext cx="6035040" cy="21031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Figures &amp; data: Yang et al., TwinMarket (NeurIPS 2025)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8CC"/>
                </a:solidFill>
              </a:rPr>
              <a:t>Figures &amp; data: Yang et al., TwinMarket (NeurIPS 2025)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6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5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9.xml"/><Relationship Id="rId12" Type="http://schemas.openxmlformats.org/officeDocument/2006/relationships/image" Target="../media/image7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3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0.png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26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1417320"/>
            <a:ext cx="60350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What happens if you whisper a rumor to 100 AI investors?</a:t>
            </a:r>
            <a:endParaRPr lang="en-US" sz="3800" dirty="0"/>
          </a:p>
        </p:txBody>
      </p:sp>
      <p:sp>
        <p:nvSpPr>
          <p:cNvPr id="3" name="Paper title"/>
          <p:cNvSpPr txBox="1"/>
          <p:nvPr/>
        </p:nvSpPr>
        <p:spPr>
          <a:xfrm>
            <a:off x="640080" y="370332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TwinMarket: A Scalable Behavioral and Social Simulation for Financial Markets</a:t>
            </a:r>
            <a:endParaRPr lang="en-US" sz="2800" dirty="0"/>
          </a:p>
        </p:txBody>
      </p:sp>
      <p:sp>
        <p:nvSpPr>
          <p:cNvPr id="4" name="Authors"/>
          <p:cNvSpPr txBox="1"/>
          <p:nvPr/>
        </p:nvSpPr>
        <p:spPr>
          <a:xfrm>
            <a:off x="640080" y="4526280"/>
            <a:ext cx="697674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</a:rPr>
              <a:t>Yang, Zhang, Wu et al. · CUHK-Shenzhen &amp; Nanjing University</a:t>
            </a:r>
            <a:endParaRPr lang="en-US" sz="2000" dirty="0"/>
          </a:p>
        </p:txBody>
      </p:sp>
      <p:sp>
        <p:nvSpPr>
          <p:cNvPr id="5" name="Badge NeurIPS"/>
          <p:cNvSpPr txBox="1"/>
          <p:nvPr/>
        </p:nvSpPr>
        <p:spPr>
          <a:xfrm>
            <a:off x="640080" y="5120640"/>
            <a:ext cx="1737360" cy="4572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NeurIPS 2025</a:t>
            </a:r>
            <a:endParaRPr lang="en-US" sz="1400" dirty="0"/>
          </a:p>
        </p:txBody>
      </p:sp>
      <p:sp>
        <p:nvSpPr>
          <p:cNvPr id="6" name="Badge award"/>
          <p:cNvSpPr txBox="1"/>
          <p:nvPr/>
        </p:nvSpPr>
        <p:spPr>
          <a:xfrm>
            <a:off x="2560320" y="5120640"/>
            <a:ext cx="4114800" cy="457200"/>
          </a:xfrm>
          <a:prstGeom prst="roundRect">
            <a:avLst>
              <a:gd name="adj" fmla="val 40000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Best Paper · ICLR 2025 Financial AI Workshop</a:t>
            </a:r>
            <a:endParaRPr lang="en-US" sz="1400" dirty="0"/>
          </a:p>
        </p:txBody>
      </p:sp>
      <p:sp>
        <p:nvSpPr>
          <p:cNvPr id="7" name="Link 0"/>
          <p:cNvSpPr/>
          <p:nvPr/>
        </p:nvSpPr>
        <p:spPr>
          <a:xfrm flipH="1">
            <a:off x="9806940" y="1577340"/>
            <a:ext cx="9144" cy="1828800"/>
          </a:xfrm>
          <a:prstGeom prst="line">
            <a:avLst/>
          </a:prstGeom>
          <a:noFill/>
          <a:ln w="31750">
            <a:solidFill>
              <a:srgbClr val="D9343A"/>
            </a:solidFill>
            <a:prstDash val="solid"/>
          </a:ln>
        </p:spPr>
      </p:sp>
      <p:sp>
        <p:nvSpPr>
          <p:cNvPr id="8" name="Link 1"/>
          <p:cNvSpPr/>
          <p:nvPr/>
        </p:nvSpPr>
        <p:spPr>
          <a:xfrm>
            <a:off x="8252460" y="2583180"/>
            <a:ext cx="1554480" cy="822960"/>
          </a:xfrm>
          <a:prstGeom prst="line">
            <a:avLst/>
          </a:prstGeom>
          <a:noFill/>
          <a:ln w="31750">
            <a:solidFill>
              <a:srgbClr val="D9343A"/>
            </a:solidFill>
            <a:prstDash val="solid"/>
          </a:ln>
        </p:spPr>
      </p:sp>
      <p:sp>
        <p:nvSpPr>
          <p:cNvPr id="9" name="Link 2"/>
          <p:cNvSpPr/>
          <p:nvPr/>
        </p:nvSpPr>
        <p:spPr>
          <a:xfrm>
            <a:off x="9806940" y="3406140"/>
            <a:ext cx="1737360" cy="274320"/>
          </a:xfrm>
          <a:prstGeom prst="line">
            <a:avLst/>
          </a:prstGeom>
          <a:noFill/>
          <a:ln w="31750">
            <a:solidFill>
              <a:srgbClr val="D9343A"/>
            </a:solidFill>
            <a:prstDash val="solid"/>
          </a:ln>
        </p:spPr>
      </p:sp>
      <p:sp>
        <p:nvSpPr>
          <p:cNvPr id="10" name="Link 3"/>
          <p:cNvSpPr/>
          <p:nvPr/>
        </p:nvSpPr>
        <p:spPr>
          <a:xfrm flipH="1">
            <a:off x="8618220" y="3406140"/>
            <a:ext cx="1188720" cy="1005840"/>
          </a:xfrm>
          <a:prstGeom prst="line">
            <a:avLst/>
          </a:prstGeom>
          <a:noFill/>
          <a:ln w="31750">
            <a:solidFill>
              <a:srgbClr val="D9343A"/>
            </a:solidFill>
            <a:prstDash val="solid"/>
          </a:ln>
        </p:spPr>
      </p:sp>
      <p:sp>
        <p:nvSpPr>
          <p:cNvPr id="11" name="Link 4"/>
          <p:cNvSpPr/>
          <p:nvPr/>
        </p:nvSpPr>
        <p:spPr>
          <a:xfrm>
            <a:off x="9806940" y="3406140"/>
            <a:ext cx="1188720" cy="1097280"/>
          </a:xfrm>
          <a:prstGeom prst="line">
            <a:avLst/>
          </a:prstGeom>
          <a:noFill/>
          <a:ln w="31750">
            <a:solidFill>
              <a:srgbClr val="D9343A"/>
            </a:solidFill>
            <a:prstDash val="solid"/>
          </a:ln>
        </p:spPr>
      </p:sp>
      <p:sp>
        <p:nvSpPr>
          <p:cNvPr id="12" name="Link 5"/>
          <p:cNvSpPr/>
          <p:nvPr/>
        </p:nvSpPr>
        <p:spPr>
          <a:xfrm>
            <a:off x="8618220" y="4411980"/>
            <a:ext cx="1188720" cy="1188720"/>
          </a:xfrm>
          <a:prstGeom prst="line">
            <a:avLst/>
          </a:prstGeom>
          <a:noFill/>
          <a:ln w="19050">
            <a:solidFill>
              <a:srgbClr val="4F6D9E"/>
            </a:solidFill>
            <a:prstDash val="dash"/>
          </a:ln>
        </p:spPr>
      </p:sp>
      <p:sp>
        <p:nvSpPr>
          <p:cNvPr id="13" name="Link 6"/>
          <p:cNvSpPr/>
          <p:nvPr/>
        </p:nvSpPr>
        <p:spPr>
          <a:xfrm flipH="1">
            <a:off x="9806940" y="4503420"/>
            <a:ext cx="1188720" cy="1097280"/>
          </a:xfrm>
          <a:prstGeom prst="line">
            <a:avLst/>
          </a:prstGeom>
          <a:noFill/>
          <a:ln w="19050">
            <a:solidFill>
              <a:srgbClr val="4F6D9E"/>
            </a:solidFill>
            <a:prstDash val="dash"/>
          </a:ln>
        </p:spPr>
      </p:sp>
      <p:sp>
        <p:nvSpPr>
          <p:cNvPr id="14" name="Link 7"/>
          <p:cNvSpPr/>
          <p:nvPr/>
        </p:nvSpPr>
        <p:spPr>
          <a:xfrm flipH="1">
            <a:off x="7703820" y="4411980"/>
            <a:ext cx="914400" cy="1371600"/>
          </a:xfrm>
          <a:prstGeom prst="line">
            <a:avLst/>
          </a:prstGeom>
          <a:noFill/>
          <a:ln w="19050">
            <a:solidFill>
              <a:srgbClr val="4F6D9E"/>
            </a:solidFill>
            <a:prstDash val="dash"/>
          </a:ln>
        </p:spPr>
      </p:sp>
      <p:sp>
        <p:nvSpPr>
          <p:cNvPr id="15" name="Link 8"/>
          <p:cNvSpPr/>
          <p:nvPr/>
        </p:nvSpPr>
        <p:spPr>
          <a:xfrm flipH="1">
            <a:off x="8252460" y="1577340"/>
            <a:ext cx="1554480" cy="1005840"/>
          </a:xfrm>
          <a:prstGeom prst="line">
            <a:avLst/>
          </a:prstGeom>
          <a:noFill/>
          <a:ln w="19050">
            <a:solidFill>
              <a:srgbClr val="4F6D9E"/>
            </a:solidFill>
            <a:prstDash val="dash"/>
          </a:ln>
        </p:spPr>
      </p:sp>
      <p:sp>
        <p:nvSpPr>
          <p:cNvPr id="16" name="Link 9"/>
          <p:cNvSpPr/>
          <p:nvPr/>
        </p:nvSpPr>
        <p:spPr>
          <a:xfrm flipH="1">
            <a:off x="10995660" y="3680460"/>
            <a:ext cx="548640" cy="822960"/>
          </a:xfrm>
          <a:prstGeom prst="line">
            <a:avLst/>
          </a:prstGeom>
          <a:noFill/>
          <a:ln w="19050">
            <a:solidFill>
              <a:srgbClr val="4F6D9E"/>
            </a:solidFill>
            <a:prstDash val="dash"/>
          </a:ln>
        </p:spPr>
      </p:sp>
      <p:sp>
        <p:nvSpPr>
          <p:cNvPr id="17" name="Agent 0"/>
          <p:cNvSpPr/>
          <p:nvPr/>
        </p:nvSpPr>
        <p:spPr>
          <a:xfrm>
            <a:off x="9418320" y="1188720"/>
            <a:ext cx="777240" cy="777240"/>
          </a:xfrm>
          <a:prstGeom prst="ellipse">
            <a:avLst/>
          </a:prstGeom>
          <a:solidFill>
            <a:srgbClr val="3566C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8" name="Agent icon 0" descr="investor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88" y="1371600"/>
            <a:ext cx="374904" cy="374904"/>
          </a:xfrm>
          <a:prstGeom prst="rect">
            <a:avLst/>
          </a:prstGeom>
        </p:spPr>
      </p:pic>
      <p:sp>
        <p:nvSpPr>
          <p:cNvPr id="19" name="Agent 1"/>
          <p:cNvSpPr/>
          <p:nvPr/>
        </p:nvSpPr>
        <p:spPr>
          <a:xfrm>
            <a:off x="7863840" y="2194560"/>
            <a:ext cx="777240" cy="777240"/>
          </a:xfrm>
          <a:prstGeom prst="ellipse">
            <a:avLst/>
          </a:prstGeom>
          <a:solidFill>
            <a:srgbClr val="3566C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0" name="Agent icon 1" descr="investor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2377440"/>
            <a:ext cx="374904" cy="374904"/>
          </a:xfrm>
          <a:prstGeom prst="rect">
            <a:avLst/>
          </a:prstGeom>
        </p:spPr>
      </p:pic>
      <p:sp>
        <p:nvSpPr>
          <p:cNvPr id="21" name="Agent 2"/>
          <p:cNvSpPr/>
          <p:nvPr/>
        </p:nvSpPr>
        <p:spPr>
          <a:xfrm>
            <a:off x="11155680" y="3291840"/>
            <a:ext cx="777240" cy="777240"/>
          </a:xfrm>
          <a:prstGeom prst="ellipse">
            <a:avLst/>
          </a:prstGeom>
          <a:solidFill>
            <a:srgbClr val="3566C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2" name="Agent icon 2" descr="investor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3474720"/>
            <a:ext cx="374904" cy="374904"/>
          </a:xfrm>
          <a:prstGeom prst="rect">
            <a:avLst/>
          </a:prstGeom>
        </p:spPr>
      </p:pic>
      <p:sp>
        <p:nvSpPr>
          <p:cNvPr id="23" name="Agent 3"/>
          <p:cNvSpPr/>
          <p:nvPr/>
        </p:nvSpPr>
        <p:spPr>
          <a:xfrm>
            <a:off x="8229600" y="4023360"/>
            <a:ext cx="777240" cy="777240"/>
          </a:xfrm>
          <a:prstGeom prst="ellipse">
            <a:avLst/>
          </a:prstGeom>
          <a:solidFill>
            <a:srgbClr val="3566C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4" name="Agent icon 3" descr="investor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4206240"/>
            <a:ext cx="374904" cy="374904"/>
          </a:xfrm>
          <a:prstGeom prst="rect">
            <a:avLst/>
          </a:prstGeom>
        </p:spPr>
      </p:pic>
      <p:sp>
        <p:nvSpPr>
          <p:cNvPr id="25" name="Agent 4"/>
          <p:cNvSpPr/>
          <p:nvPr/>
        </p:nvSpPr>
        <p:spPr>
          <a:xfrm>
            <a:off x="10607040" y="4114800"/>
            <a:ext cx="777240" cy="777240"/>
          </a:xfrm>
          <a:prstGeom prst="ellipse">
            <a:avLst/>
          </a:prstGeom>
          <a:solidFill>
            <a:srgbClr val="3566C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6" name="Agent icon 4" descr="investor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4297680"/>
            <a:ext cx="374904" cy="374904"/>
          </a:xfrm>
          <a:prstGeom prst="rect">
            <a:avLst/>
          </a:prstGeom>
        </p:spPr>
      </p:pic>
      <p:sp>
        <p:nvSpPr>
          <p:cNvPr id="27" name="Agent 5"/>
          <p:cNvSpPr/>
          <p:nvPr/>
        </p:nvSpPr>
        <p:spPr>
          <a:xfrm>
            <a:off x="9418320" y="3017520"/>
            <a:ext cx="777240" cy="777240"/>
          </a:xfrm>
          <a:prstGeom prst="ellipse">
            <a:avLst/>
          </a:prstGeom>
          <a:solidFill>
            <a:srgbClr val="D9343A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8" name="Agent icon 5" descr="investor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88" y="3200400"/>
            <a:ext cx="374904" cy="374904"/>
          </a:xfrm>
          <a:prstGeom prst="rect">
            <a:avLst/>
          </a:prstGeom>
        </p:spPr>
      </p:pic>
      <p:sp>
        <p:nvSpPr>
          <p:cNvPr id="29" name="Agent 6"/>
          <p:cNvSpPr/>
          <p:nvPr/>
        </p:nvSpPr>
        <p:spPr>
          <a:xfrm>
            <a:off x="9418320" y="5212080"/>
            <a:ext cx="777240" cy="777240"/>
          </a:xfrm>
          <a:prstGeom prst="ellipse">
            <a:avLst/>
          </a:prstGeom>
          <a:solidFill>
            <a:srgbClr val="3566C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0" name="Agent icon 6" descr="investor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88" y="5394960"/>
            <a:ext cx="374904" cy="374904"/>
          </a:xfrm>
          <a:prstGeom prst="rect">
            <a:avLst/>
          </a:prstGeom>
        </p:spPr>
      </p:pic>
      <p:sp>
        <p:nvSpPr>
          <p:cNvPr id="31" name="Agent 7"/>
          <p:cNvSpPr/>
          <p:nvPr/>
        </p:nvSpPr>
        <p:spPr>
          <a:xfrm>
            <a:off x="7315200" y="5394960"/>
            <a:ext cx="777240" cy="777240"/>
          </a:xfrm>
          <a:prstGeom prst="ellipse">
            <a:avLst/>
          </a:prstGeom>
          <a:solidFill>
            <a:srgbClr val="3566C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2" name="Agent icon 7" descr="investor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5577840"/>
            <a:ext cx="374904" cy="374904"/>
          </a:xfrm>
          <a:prstGeom prst="rect">
            <a:avLst/>
          </a:prstGeom>
        </p:spPr>
      </p:pic>
      <p:sp>
        <p:nvSpPr>
          <p:cNvPr id="33" name="Rumor bubble"/>
          <p:cNvSpPr txBox="1"/>
          <p:nvPr/>
        </p:nvSpPr>
        <p:spPr>
          <a:xfrm>
            <a:off x="10058400" y="2240280"/>
            <a:ext cx="1600200" cy="5486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chemeClr val="accent2"/>
                </a:solidFill>
              </a:rPr>
              <a:t>Psst… bad news!</a:t>
            </a:r>
            <a:endParaRPr lang="en-US" sz="1300" dirty="0"/>
          </a:p>
        </p:txBody>
      </p:sp>
      <p:sp>
        <p:nvSpPr>
          <p:cNvPr id="34" name="标题 1"/>
          <p:cNvSpPr>
            <a:spLocks noGrp="1" noChangeArrowheads="1"/>
          </p:cNvSpPr>
          <p:nvPr/>
        </p:nvSpPr>
        <p:spPr>
          <a:xfrm>
            <a:off x="640080" y="5929630"/>
            <a:ext cx="340614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8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3200" dirty="0">
                <a:solidFill>
                  <a:schemeClr val="bg1"/>
                </a:solidFill>
                <a:effectLst/>
                <a:cs typeface="微软雅黑" panose="020B0503020204020204" charset="-122"/>
                <a:sym typeface="+mn-ea"/>
              </a:rPr>
              <a:t>李婧雅</a:t>
            </a:r>
            <a:r>
              <a:rPr lang="en-US" altLang="zh-CN" sz="3200" dirty="0">
                <a:solidFill>
                  <a:schemeClr val="bg1"/>
                </a:solidFill>
                <a:effectLst/>
                <a:cs typeface="微软雅黑" panose="020B0503020204020204" charset="-122"/>
                <a:sym typeface="+mn-ea"/>
              </a:rPr>
              <a:t> Jingya Li</a:t>
            </a:r>
            <a:endParaRPr lang="en-US" altLang="zh-CN" sz="3200" dirty="0">
              <a:solidFill>
                <a:schemeClr val="bg1"/>
              </a:solidFill>
              <a:effectLst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Markets are moved by people</a:t>
            </a:r>
            <a:endParaRPr lang="en-US" sz="3400" dirty="0"/>
          </a:p>
        </p:txBody>
      </p:sp>
      <p:sp>
        <p:nvSpPr>
          <p:cNvPr id="3" name="Comic card"/>
          <p:cNvSpPr/>
          <p:nvPr/>
        </p:nvSpPr>
        <p:spPr>
          <a:xfrm>
            <a:off x="548640" y="1371600"/>
            <a:ext cx="493776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pic>
        <p:nvPicPr>
          <p:cNvPr id="4" name="Comic" descr="Comic: fundamental investor vs trend chas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4663440" cy="3108960"/>
          </a:xfrm>
          <a:prstGeom prst="rect">
            <a:avLst/>
          </a:prstGeom>
        </p:spPr>
      </p:pic>
      <p:sp>
        <p:nvSpPr>
          <p:cNvPr id="5" name="Comic caption"/>
          <p:cNvSpPr txBox="1"/>
          <p:nvPr/>
        </p:nvSpPr>
        <p:spPr>
          <a:xfrm>
            <a:off x="548640" y="486460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accent5"/>
                </a:solidFill>
              </a:rPr>
              <a:t>Different investors, different minds</a:t>
            </a:r>
            <a:endParaRPr lang="en-US" sz="2000" dirty="0"/>
          </a:p>
        </p:txBody>
      </p:sp>
      <p:sp>
        <p:nvSpPr>
          <p:cNvPr id="6" name="Old models card"/>
          <p:cNvSpPr/>
          <p:nvPr/>
        </p:nvSpPr>
        <p:spPr>
          <a:xfrm>
            <a:off x="5943600" y="1371600"/>
            <a:ext cx="26974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7" name="Old models text"/>
          <p:cNvSpPr txBox="1"/>
          <p:nvPr/>
        </p:nvSpPr>
        <p:spPr>
          <a:xfrm>
            <a:off x="6104890" y="1598295"/>
            <a:ext cx="2367280" cy="2019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Traditional models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Identical agents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Fixed, simple rules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social media</a:t>
            </a:r>
            <a:endParaRPr lang="en-US" sz="2000" dirty="0"/>
          </a:p>
        </p:txBody>
      </p:sp>
      <p:sp>
        <p:nvSpPr>
          <p:cNvPr id="8" name="Real investors card"/>
          <p:cNvSpPr/>
          <p:nvPr/>
        </p:nvSpPr>
        <p:spPr>
          <a:xfrm>
            <a:off x="8915400" y="137160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BE7A9"/>
          </a:solidFill>
          <a:ln w="12700">
            <a:solidFill>
              <a:srgbClr val="FBE7A9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9" name="Real investors text"/>
          <p:cNvSpPr txBox="1"/>
          <p:nvPr/>
        </p:nvSpPr>
        <p:spPr>
          <a:xfrm>
            <a:off x="9144000" y="1598295"/>
            <a:ext cx="2331720" cy="2125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Real investors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Emotions &amp; biases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Follow the crowd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Read each other's posts</a:t>
            </a:r>
            <a:endParaRPr lang="en-US" sz="2000" dirty="0"/>
          </a:p>
        </p:txBody>
      </p:sp>
      <p:sp>
        <p:nvSpPr>
          <p:cNvPr id="10" name="vs marker"/>
          <p:cNvSpPr txBox="1"/>
          <p:nvPr/>
        </p:nvSpPr>
        <p:spPr>
          <a:xfrm>
            <a:off x="8531352" y="2286000"/>
            <a:ext cx="502920" cy="502920"/>
          </a:xfrm>
          <a:prstGeom prst="ellipse">
            <a:avLst/>
          </a:prstGeom>
          <a:solidFill>
            <a:schemeClr val="tx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11" name="Research question"/>
          <p:cNvSpPr txBox="1"/>
          <p:nvPr/>
        </p:nvSpPr>
        <p:spPr>
          <a:xfrm>
            <a:off x="5943600" y="4023360"/>
            <a:ext cx="5669280" cy="1351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Research question: </a:t>
            </a:r>
            <a:r>
              <a:rPr lang="en-US" sz="2800" b="1" dirty="0">
                <a:solidFill>
                  <a:schemeClr val="tx2"/>
                </a:solidFill>
              </a:rPr>
              <a:t>Can AI agents act like real investors, and recreate how real markets behave?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TwinMarket: AI investors living on a social network</a:t>
            </a:r>
            <a:endParaRPr lang="en-US" sz="3400" dirty="0"/>
          </a:p>
        </p:txBody>
      </p:sp>
      <p:sp>
        <p:nvSpPr>
          <p:cNvPr id="3" name="Framework card"/>
          <p:cNvSpPr/>
          <p:nvPr/>
        </p:nvSpPr>
        <p:spPr>
          <a:xfrm>
            <a:off x="548640" y="1325880"/>
            <a:ext cx="7086600" cy="35204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pic>
        <p:nvPicPr>
          <p:cNvPr id="4" name="Framework" descr="TwinMarket framework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903720" cy="3227832"/>
          </a:xfrm>
          <a:prstGeom prst="rect">
            <a:avLst/>
          </a:prstGeom>
        </p:spPr>
      </p:pic>
      <p:sp>
        <p:nvSpPr>
          <p:cNvPr id="5" name="Workflow caption"/>
          <p:cNvSpPr txBox="1"/>
          <p:nvPr/>
        </p:nvSpPr>
        <p:spPr>
          <a:xfrm>
            <a:off x="594360" y="4965065"/>
            <a:ext cx="7086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accent5"/>
                </a:solidFill>
              </a:rPr>
              <a:t>Daily loop: read news &amp; posts → search for more → update belief → trade → post → market updates</a:t>
            </a:r>
            <a:endParaRPr lang="en-US" sz="2000" dirty="0"/>
          </a:p>
        </p:txBody>
      </p:sp>
      <p:sp>
        <p:nvSpPr>
          <p:cNvPr id="6" name="Step icon bg 1"/>
          <p:cNvSpPr/>
          <p:nvPr>
            <p:custDataLst>
              <p:tags r:id="rId2"/>
            </p:custDataLst>
          </p:nvPr>
        </p:nvSpPr>
        <p:spPr>
          <a:xfrm>
            <a:off x="7955280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Step icon 1" descr="Real people as templates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101584" y="1472184"/>
            <a:ext cx="347472" cy="347472"/>
          </a:xfrm>
          <a:prstGeom prst="rect">
            <a:avLst/>
          </a:prstGeom>
        </p:spPr>
      </p:pic>
      <p:sp>
        <p:nvSpPr>
          <p:cNvPr id="8" name="Step text 1"/>
          <p:cNvSpPr txBox="1"/>
          <p:nvPr>
            <p:custDataLst>
              <p:tags r:id="rId5"/>
            </p:custDataLst>
          </p:nvPr>
        </p:nvSpPr>
        <p:spPr>
          <a:xfrm>
            <a:off x="8778240" y="1280160"/>
            <a:ext cx="28803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Real people as templates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639 real investors from Xueqiu set each agent's style and biases</a:t>
            </a:r>
            <a:endParaRPr lang="en-US" sz="2000" dirty="0"/>
          </a:p>
        </p:txBody>
      </p:sp>
      <p:sp>
        <p:nvSpPr>
          <p:cNvPr id="9" name="Step icon bg 2"/>
          <p:cNvSpPr/>
          <p:nvPr>
            <p:custDataLst>
              <p:tags r:id="rId6"/>
            </p:custDataLst>
          </p:nvPr>
        </p:nvSpPr>
        <p:spPr>
          <a:xfrm>
            <a:off x="7955280" y="28453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tep icon 2" descr="Believe → Want → Act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101584" y="2991612"/>
            <a:ext cx="347472" cy="347472"/>
          </a:xfrm>
          <a:prstGeom prst="rect">
            <a:avLst/>
          </a:prstGeom>
        </p:spPr>
      </p:pic>
      <p:sp>
        <p:nvSpPr>
          <p:cNvPr id="11" name="Step text 2"/>
          <p:cNvSpPr txBox="1"/>
          <p:nvPr>
            <p:custDataLst>
              <p:tags r:id="rId9"/>
            </p:custDataLst>
          </p:nvPr>
        </p:nvSpPr>
        <p:spPr>
          <a:xfrm>
            <a:off x="8778240" y="2799588"/>
            <a:ext cx="28803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Believe → Want → Act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Each day: form a view, search news &amp; posts, then trade</a:t>
            </a:r>
            <a:endParaRPr lang="en-US" sz="2000" dirty="0"/>
          </a:p>
        </p:txBody>
      </p:sp>
      <p:sp>
        <p:nvSpPr>
          <p:cNvPr id="12" name="Step icon bg 3"/>
          <p:cNvSpPr/>
          <p:nvPr>
            <p:custDataLst>
              <p:tags r:id="rId10"/>
            </p:custDataLst>
          </p:nvPr>
        </p:nvSpPr>
        <p:spPr>
          <a:xfrm>
            <a:off x="7955280" y="4165981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Step icon 3" descr="A living social network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101584" y="4312285"/>
            <a:ext cx="347472" cy="347472"/>
          </a:xfrm>
          <a:prstGeom prst="rect">
            <a:avLst/>
          </a:prstGeom>
        </p:spPr>
      </p:pic>
      <p:sp>
        <p:nvSpPr>
          <p:cNvPr id="14" name="Step text 3"/>
          <p:cNvSpPr txBox="1"/>
          <p:nvPr>
            <p:custDataLst>
              <p:tags r:id="rId13"/>
            </p:custDataLst>
          </p:nvPr>
        </p:nvSpPr>
        <p:spPr>
          <a:xfrm>
            <a:off x="8778240" y="4120261"/>
            <a:ext cx="28803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 living social network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Similar traders see each other's posts; daily auction matches trades</a:t>
            </a:r>
            <a:endParaRPr lang="en-US" sz="2000" dirty="0"/>
          </a:p>
        </p:txBody>
      </p:sp>
      <p:sp>
        <p:nvSpPr>
          <p:cNvPr id="15" name="Stat bg 0"/>
          <p:cNvSpPr/>
          <p:nvPr/>
        </p:nvSpPr>
        <p:spPr>
          <a:xfrm>
            <a:off x="548640" y="5486400"/>
            <a:ext cx="3520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0"/>
          <p:cNvSpPr txBox="1"/>
          <p:nvPr/>
        </p:nvSpPr>
        <p:spPr>
          <a:xfrm>
            <a:off x="731520" y="548640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  </a:t>
            </a:r>
            <a:r>
              <a:rPr lang="en-US" sz="2400" dirty="0">
                <a:solidFill>
                  <a:schemeClr val="tx1"/>
                </a:solidFill>
              </a:rPr>
              <a:t>GPT-4o agents</a:t>
            </a:r>
            <a:endParaRPr lang="en-US" sz="2400" dirty="0"/>
          </a:p>
        </p:txBody>
      </p:sp>
      <p:sp>
        <p:nvSpPr>
          <p:cNvPr id="17" name="Stat bg 1"/>
          <p:cNvSpPr/>
          <p:nvPr/>
        </p:nvSpPr>
        <p:spPr>
          <a:xfrm>
            <a:off x="4297680" y="5486400"/>
            <a:ext cx="3520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tat 1"/>
          <p:cNvSpPr txBox="1"/>
          <p:nvPr/>
        </p:nvSpPr>
        <p:spPr>
          <a:xfrm>
            <a:off x="4480560" y="5486400"/>
            <a:ext cx="333311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 months  </a:t>
            </a:r>
            <a:r>
              <a:rPr lang="en-US" sz="2000" dirty="0">
                <a:solidFill>
                  <a:schemeClr val="tx1"/>
                </a:solidFill>
              </a:rPr>
              <a:t>simulated trading</a:t>
            </a:r>
            <a:endParaRPr lang="en-US" sz="2000" dirty="0"/>
          </a:p>
        </p:txBody>
      </p:sp>
      <p:sp>
        <p:nvSpPr>
          <p:cNvPr id="19" name="Stat bg 2"/>
          <p:cNvSpPr/>
          <p:nvPr/>
        </p:nvSpPr>
        <p:spPr>
          <a:xfrm>
            <a:off x="8046720" y="5486400"/>
            <a:ext cx="3520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at 2"/>
          <p:cNvSpPr txBox="1"/>
          <p:nvPr/>
        </p:nvSpPr>
        <p:spPr>
          <a:xfrm>
            <a:off x="8229600" y="5486400"/>
            <a:ext cx="330263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1,000  </a:t>
            </a:r>
            <a:r>
              <a:rPr lang="en-US" sz="2000" dirty="0">
                <a:solidFill>
                  <a:schemeClr val="tx1"/>
                </a:solidFill>
              </a:rPr>
              <a:t>agents when scaled up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simulated market behaves like the real one</a:t>
            </a:r>
            <a:endParaRPr lang="en-US" sz="3400" dirty="0"/>
          </a:p>
        </p:txBody>
      </p:sp>
      <p:sp>
        <p:nvSpPr>
          <p:cNvPr id="3" name="Stylized facts card"/>
          <p:cNvSpPr/>
          <p:nvPr/>
        </p:nvSpPr>
        <p:spPr>
          <a:xfrm>
            <a:off x="230505" y="1097280"/>
            <a:ext cx="5758815" cy="4759325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pic>
        <p:nvPicPr>
          <p:cNvPr id="4" name="Stylized facts" descr="Four stylized facts: simulated vs re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140460"/>
            <a:ext cx="5716270" cy="4711065"/>
          </a:xfrm>
          <a:prstGeom prst="rect">
            <a:avLst/>
          </a:prstGeom>
        </p:spPr>
      </p:pic>
      <p:sp>
        <p:nvSpPr>
          <p:cNvPr id="5" name="Legend"/>
          <p:cNvSpPr txBox="1"/>
          <p:nvPr/>
        </p:nvSpPr>
        <p:spPr>
          <a:xfrm>
            <a:off x="548640" y="5870448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Red</a:t>
            </a:r>
            <a:r>
              <a:rPr lang="en-US" sz="2000" dirty="0">
                <a:solidFill>
                  <a:schemeClr val="tx1"/>
                </a:solidFill>
              </a:rPr>
              <a:t> = TwinMarket   </a:t>
            </a:r>
            <a:r>
              <a:rPr lang="en-US" sz="2000" b="1" dirty="0">
                <a:solidFill>
                  <a:schemeClr val="accent3"/>
                </a:solidFill>
              </a:rPr>
              <a:t>Blue</a:t>
            </a:r>
            <a:r>
              <a:rPr lang="en-US" sz="2000" dirty="0">
                <a:solidFill>
                  <a:schemeClr val="tx1"/>
                </a:solidFill>
              </a:rPr>
              <a:t> = real market</a:t>
            </a:r>
            <a:endParaRPr lang="en-US" sz="2000" dirty="0"/>
          </a:p>
        </p:txBody>
      </p:sp>
      <p:sp>
        <p:nvSpPr>
          <p:cNvPr id="6" name="Table header"/>
          <p:cNvSpPr txBox="1"/>
          <p:nvPr/>
        </p:nvSpPr>
        <p:spPr>
          <a:xfrm>
            <a:off x="6172200" y="1280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All 4 classic market patterns reproduced</a:t>
            </a:r>
            <a:endParaRPr lang="en-US" sz="2400" dirty="0"/>
          </a:p>
        </p:txBody>
      </p:sp>
      <p:graphicFrame>
        <p:nvGraphicFramePr>
          <p:cNvPr id="7" name="Stylized facts table"/>
          <p:cNvGraphicFramePr>
            <a:graphicFrameLocks noGrp="1"/>
          </p:cNvGraphicFramePr>
          <p:nvPr/>
        </p:nvGraphicFramePr>
        <p:xfrm>
          <a:off x="6172200" y="1737360"/>
          <a:ext cx="5440680" cy="1536192"/>
        </p:xfrm>
        <a:graphic>
          <a:graphicData uri="http://schemas.openxmlformats.org/drawingml/2006/table">
            <a:tbl>
              <a:tblPr/>
              <a:tblGrid>
                <a:gridCol w="288036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Market pattern</a:t>
                      </a:r>
                      <a:endParaRPr lang="en-US" sz="1800" b="1" dirty="0">
                        <a:solidFill>
                          <a:srgbClr val="FFFFFF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Real</a:t>
                      </a:r>
                      <a:endParaRPr lang="en-US" sz="1800" b="1" dirty="0">
                        <a:solidFill>
                          <a:srgbClr val="FFFFFF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6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TwinMarket</a:t>
                      </a:r>
                      <a:endParaRPr lang="en-US" sz="1800" b="1" dirty="0">
                        <a:solidFill>
                          <a:srgbClr val="FFFFFF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4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</a:rPr>
                        <a:t>Extreme moves (kurtosis)</a:t>
                      </a:r>
                      <a:endParaRPr lang="en-US" sz="1800" dirty="0">
                        <a:solidFill>
                          <a:srgbClr val="1B2A41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</a:rPr>
                        <a:t>7.26</a:t>
                      </a:r>
                      <a:endParaRPr lang="en-US" sz="1800" dirty="0">
                        <a:solidFill>
                          <a:srgbClr val="1B2A41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</a:rPr>
                        <a:t>5.24</a:t>
                      </a:r>
                      <a:endParaRPr lang="en-US" sz="1800" dirty="0">
                        <a:solidFill>
                          <a:srgbClr val="1B2A41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</a:rPr>
                        <a:t>Volatility clustering</a:t>
                      </a:r>
                      <a:endParaRPr lang="en-US" sz="1800" dirty="0">
                        <a:solidFill>
                          <a:srgbClr val="1B2A41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</a:rPr>
                        <a:t>0.95</a:t>
                      </a:r>
                      <a:endParaRPr lang="en-US" sz="1800" dirty="0">
                        <a:solidFill>
                          <a:srgbClr val="1B2A41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</a:rPr>
                        <a:t>0.89</a:t>
                      </a:r>
                      <a:endParaRPr lang="en-US" sz="1800" dirty="0">
                        <a:solidFill>
                          <a:srgbClr val="1B2A41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</a:rPr>
                        <a:t>Leverage effect</a:t>
                      </a:r>
                      <a:endParaRPr lang="en-US" sz="1800" dirty="0">
                        <a:solidFill>
                          <a:srgbClr val="1B2A41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</a:rPr>
                        <a:t>0.14</a:t>
                      </a:r>
                      <a:endParaRPr lang="en-US" sz="1800" dirty="0">
                        <a:solidFill>
                          <a:srgbClr val="1B2A41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A41"/>
                          </a:solidFill>
                        </a:rPr>
                        <a:t>0.11</a:t>
                      </a:r>
                      <a:endParaRPr lang="en-US" sz="1800" dirty="0">
                        <a:solidFill>
                          <a:srgbClr val="1B2A41"/>
                        </a:solidFill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vertrading card"/>
          <p:cNvSpPr/>
          <p:nvPr/>
        </p:nvSpPr>
        <p:spPr>
          <a:xfrm>
            <a:off x="6171565" y="3492500"/>
            <a:ext cx="5440680" cy="2378075"/>
          </a:xfrm>
          <a:prstGeom prst="roundRect">
            <a:avLst>
              <a:gd name="adj" fmla="val 5106"/>
            </a:avLst>
          </a:prstGeom>
          <a:solidFill>
            <a:srgbClr val="FBE7A9"/>
          </a:solidFill>
          <a:ln w="12700">
            <a:solidFill>
              <a:srgbClr val="FBE7A9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9" name="Overtrading header"/>
          <p:cNvSpPr txBox="1"/>
          <p:nvPr/>
        </p:nvSpPr>
        <p:spPr>
          <a:xfrm>
            <a:off x="6400165" y="3602355"/>
            <a:ext cx="521144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AI investors overtrade and lose, just like humans</a:t>
            </a:r>
            <a:endParaRPr lang="en-US" sz="2000" dirty="0"/>
          </a:p>
        </p:txBody>
      </p:sp>
      <p:sp>
        <p:nvSpPr>
          <p:cNvPr id="10" name="Return Top 10%"/>
          <p:cNvSpPr txBox="1"/>
          <p:nvPr>
            <p:custDataLst>
              <p:tags r:id="rId2"/>
            </p:custDataLst>
          </p:nvPr>
        </p:nvSpPr>
        <p:spPr>
          <a:xfrm>
            <a:off x="6400165" y="404114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8B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+6.65%</a:t>
            </a:r>
            <a:endParaRPr lang="en-US" sz="4000" dirty="0"/>
          </a:p>
        </p:txBody>
      </p:sp>
      <p:sp>
        <p:nvSpPr>
          <p:cNvPr id="11" name="Return label Top 10%"/>
          <p:cNvSpPr txBox="1"/>
          <p:nvPr>
            <p:custDataLst>
              <p:tags r:id="rId3"/>
            </p:custDataLst>
          </p:nvPr>
        </p:nvSpPr>
        <p:spPr>
          <a:xfrm>
            <a:off x="6400165" y="477266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Top 10%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trade less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(turnover 4.02%)</a:t>
            </a:r>
            <a:endParaRPr lang="en-US" sz="2000" dirty="0"/>
          </a:p>
        </p:txBody>
      </p:sp>
      <p:sp>
        <p:nvSpPr>
          <p:cNvPr id="12" name="Return Bottom 50%"/>
          <p:cNvSpPr txBox="1"/>
          <p:nvPr>
            <p:custDataLst>
              <p:tags r:id="rId4"/>
            </p:custDataLst>
          </p:nvPr>
        </p:nvSpPr>
        <p:spPr>
          <a:xfrm>
            <a:off x="9006205" y="404114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34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−10.52%</a:t>
            </a:r>
            <a:endParaRPr lang="en-US" sz="4000" dirty="0"/>
          </a:p>
        </p:txBody>
      </p:sp>
      <p:sp>
        <p:nvSpPr>
          <p:cNvPr id="13" name="Return label Bottom 50%"/>
          <p:cNvSpPr txBox="1"/>
          <p:nvPr>
            <p:custDataLst>
              <p:tags r:id="rId5"/>
            </p:custDataLst>
          </p:nvPr>
        </p:nvSpPr>
        <p:spPr>
          <a:xfrm>
            <a:off x="9006205" y="477266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Bottom 50%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trade more 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(turnover 7.03%)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Bubbles form and burst on their own</a:t>
            </a:r>
            <a:endParaRPr lang="en-US" sz="3400" dirty="0"/>
          </a:p>
        </p:txBody>
      </p:sp>
      <p:sp>
        <p:nvSpPr>
          <p:cNvPr id="3" name="Bubble chart card"/>
          <p:cNvSpPr/>
          <p:nvPr/>
        </p:nvSpPr>
        <p:spPr>
          <a:xfrm>
            <a:off x="457200" y="1280160"/>
            <a:ext cx="7406640" cy="3817476"/>
          </a:xfrm>
          <a:prstGeom prst="roundRect">
            <a:avLst>
              <a:gd name="adj" fmla="val 287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pic>
        <p:nvPicPr>
          <p:cNvPr id="4" name="Bubble chart" descr="Index price and average belief rise together, belief peaks first, then both cras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223760" cy="3634596"/>
          </a:xfrm>
          <a:prstGeom prst="rect">
            <a:avLst/>
          </a:prstGeom>
        </p:spPr>
      </p:pic>
      <p:sp>
        <p:nvSpPr>
          <p:cNvPr id="5" name="Step marker 1"/>
          <p:cNvSpPr txBox="1"/>
          <p:nvPr/>
        </p:nvSpPr>
        <p:spPr>
          <a:xfrm>
            <a:off x="2891689" y="2533406"/>
            <a:ext cx="402336" cy="40233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marker 2"/>
          <p:cNvSpPr txBox="1"/>
          <p:nvPr/>
        </p:nvSpPr>
        <p:spPr>
          <a:xfrm>
            <a:off x="4495455" y="1123504"/>
            <a:ext cx="402336" cy="40233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Step marker 3"/>
          <p:cNvSpPr txBox="1"/>
          <p:nvPr/>
        </p:nvSpPr>
        <p:spPr>
          <a:xfrm>
            <a:off x="5882525" y="2533406"/>
            <a:ext cx="402336" cy="402336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Bubble caption"/>
          <p:cNvSpPr txBox="1"/>
          <p:nvPr/>
        </p:nvSpPr>
        <p:spPr>
          <a:xfrm>
            <a:off x="548640" y="5189076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Blue</a:t>
            </a:r>
            <a:r>
              <a:rPr lang="en-US" sz="2000" i="1" dirty="0">
                <a:solidFill>
                  <a:schemeClr val="accent5"/>
                </a:solidFill>
              </a:rPr>
              <a:t> = average </a:t>
            </a:r>
            <a:r>
              <a:rPr lang="en-US" sz="2000" i="1" dirty="0">
                <a:solidFill>
                  <a:schemeClr val="accent5"/>
                </a:solidFill>
              </a:rPr>
              <a:t>AI investor belief   </a:t>
            </a:r>
            <a:r>
              <a:rPr lang="en-US" sz="2000" b="1" i="1" dirty="0">
                <a:solidFill>
                  <a:srgbClr val="FF0000"/>
                </a:solidFill>
              </a:rPr>
              <a:t>Red</a:t>
            </a:r>
            <a:r>
              <a:rPr lang="en-US" sz="2000" i="1" dirty="0">
                <a:solidFill>
                  <a:schemeClr val="accent5"/>
                </a:solidFill>
              </a:rPr>
              <a:t> = price index</a:t>
            </a:r>
            <a:endParaRPr lang="en-US" sz="2000" dirty="0"/>
          </a:p>
        </p:txBody>
      </p:sp>
      <p:sp>
        <p:nvSpPr>
          <p:cNvPr id="9" name="Step marker 1"/>
          <p:cNvSpPr txBox="1"/>
          <p:nvPr>
            <p:custDataLst>
              <p:tags r:id="rId2"/>
            </p:custDataLst>
          </p:nvPr>
        </p:nvSpPr>
        <p:spPr>
          <a:xfrm>
            <a:off x="8183880" y="137160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Bubble step 1"/>
          <p:cNvSpPr txBox="1"/>
          <p:nvPr>
            <p:custDataLst>
              <p:tags r:id="rId3"/>
            </p:custDataLst>
          </p:nvPr>
        </p:nvSpPr>
        <p:spPr>
          <a:xfrm>
            <a:off x="8869680" y="1325880"/>
            <a:ext cx="27889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Optimism feeds itself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Good mood → buying → higher prices → even better mood</a:t>
            </a:r>
            <a:endParaRPr lang="en-US" sz="2000" dirty="0"/>
          </a:p>
        </p:txBody>
      </p:sp>
      <p:sp>
        <p:nvSpPr>
          <p:cNvPr id="11" name="Step marker 2"/>
          <p:cNvSpPr txBox="1"/>
          <p:nvPr>
            <p:custDataLst>
              <p:tags r:id="rId4"/>
            </p:custDataLst>
          </p:nvPr>
        </p:nvSpPr>
        <p:spPr>
          <a:xfrm>
            <a:off x="8183880" y="274320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Bubble step 2"/>
          <p:cNvSpPr txBox="1"/>
          <p:nvPr>
            <p:custDataLst>
              <p:tags r:id="rId5"/>
            </p:custDataLst>
          </p:nvPr>
        </p:nvSpPr>
        <p:spPr>
          <a:xfrm>
            <a:off x="8869680" y="2697480"/>
            <a:ext cx="27889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Belief peaks first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Confidence turns around Jul 5, while prices keep climbing</a:t>
            </a:r>
            <a:endParaRPr lang="en-US" sz="2000" dirty="0"/>
          </a:p>
        </p:txBody>
      </p:sp>
      <p:sp>
        <p:nvSpPr>
          <p:cNvPr id="13" name="Step marker 3"/>
          <p:cNvSpPr txBox="1"/>
          <p:nvPr>
            <p:custDataLst>
              <p:tags r:id="rId6"/>
            </p:custDataLst>
          </p:nvPr>
        </p:nvSpPr>
        <p:spPr>
          <a:xfrm>
            <a:off x="8183880" y="411480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Bubble step 3"/>
          <p:cNvSpPr txBox="1"/>
          <p:nvPr>
            <p:custDataLst>
              <p:tags r:id="rId7"/>
            </p:custDataLst>
          </p:nvPr>
        </p:nvSpPr>
        <p:spPr>
          <a:xfrm>
            <a:off x="8869680" y="4069080"/>
            <a:ext cx="27889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crash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Prices follow belief down from Jul 10, wiping out the gains</a:t>
            </a:r>
            <a:endParaRPr lang="en-US" sz="2000" dirty="0"/>
          </a:p>
        </p:txBody>
      </p:sp>
      <p:sp>
        <p:nvSpPr>
          <p:cNvPr id="15" name="Bubble takeaway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Nobody programmed a bubble. It emerged from the agents.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One rumor, and the market panics</a:t>
            </a:r>
            <a:endParaRPr lang="en-US" sz="3400" dirty="0"/>
          </a:p>
        </p:txBody>
      </p:sp>
      <p:sp>
        <p:nvSpPr>
          <p:cNvPr id="3" name="Rumor setup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accent5"/>
                </a:solidFill>
              </a:rPr>
              <a:t>Experiment: inject a fake negative rumor into the social network</a:t>
            </a:r>
            <a:endParaRPr lang="en-US" sz="2400" b="1" dirty="0"/>
          </a:p>
        </p:txBody>
      </p:sp>
      <p:sp>
        <p:nvSpPr>
          <p:cNvPr id="4" name="Stat card valuation"/>
          <p:cNvSpPr/>
          <p:nvPr>
            <p:custDataLst>
              <p:tags r:id="rId1"/>
            </p:custDataLst>
          </p:nvPr>
        </p:nvSpPr>
        <p:spPr>
          <a:xfrm>
            <a:off x="548640" y="182880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FBE7A9"/>
          </a:solidFill>
          <a:ln w="12700">
            <a:solidFill>
              <a:srgbClr val="FBE7A9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Stat valuation"/>
          <p:cNvSpPr txBox="1"/>
          <p:nvPr>
            <p:custDataLst>
              <p:tags r:id="rId2"/>
            </p:custDataLst>
          </p:nvPr>
        </p:nvSpPr>
        <p:spPr>
          <a:xfrm>
            <a:off x="777240" y="192024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−27.5%</a:t>
            </a:r>
            <a:endParaRPr lang="en-US" sz="5400" dirty="0"/>
          </a:p>
        </p:txBody>
      </p:sp>
      <p:sp>
        <p:nvSpPr>
          <p:cNvPr id="6" name="Stat valuation label"/>
          <p:cNvSpPr txBox="1"/>
          <p:nvPr>
            <p:custDataLst>
              <p:tags r:id="rId3"/>
            </p:custDataLst>
          </p:nvPr>
        </p:nvSpPr>
        <p:spPr>
          <a:xfrm>
            <a:off x="777240" y="2853055"/>
            <a:ext cx="4864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lower valuation by agents who saw the rumor</a:t>
            </a:r>
            <a:endParaRPr lang="en-US" sz="2000" b="1" dirty="0"/>
          </a:p>
        </p:txBody>
      </p:sp>
      <p:sp>
        <p:nvSpPr>
          <p:cNvPr id="7" name="Stat card sell-buy"/>
          <p:cNvSpPr/>
          <p:nvPr>
            <p:custDataLst>
              <p:tags r:id="rId4"/>
            </p:custDataLst>
          </p:nvPr>
        </p:nvSpPr>
        <p:spPr>
          <a:xfrm>
            <a:off x="548640" y="374904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FBE7A9"/>
          </a:solidFill>
          <a:ln w="12700">
            <a:solidFill>
              <a:srgbClr val="FBE7A9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8" name="Stat sell-buy"/>
          <p:cNvSpPr txBox="1"/>
          <p:nvPr>
            <p:custDataLst>
              <p:tags r:id="rId5"/>
            </p:custDataLst>
          </p:nvPr>
        </p:nvSpPr>
        <p:spPr>
          <a:xfrm>
            <a:off x="777240" y="38404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0.50 → </a:t>
            </a:r>
            <a:r>
              <a:rPr lang="en-US" sz="54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1.00</a:t>
            </a:r>
            <a:endParaRPr lang="en-US" sz="5400" dirty="0"/>
          </a:p>
        </p:txBody>
      </p:sp>
      <p:sp>
        <p:nvSpPr>
          <p:cNvPr id="9" name="Stat sell-buy label"/>
          <p:cNvSpPr txBox="1"/>
          <p:nvPr>
            <p:custDataLst>
              <p:tags r:id="rId6"/>
            </p:custDataLst>
          </p:nvPr>
        </p:nvSpPr>
        <p:spPr>
          <a:xfrm>
            <a:off x="706755" y="4773295"/>
            <a:ext cx="51212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sell-to-buy ratio nearly doubles, and prices fall</a:t>
            </a:r>
            <a:endParaRPr lang="en-US" sz="2000" b="1" dirty="0"/>
          </a:p>
        </p:txBody>
      </p:sp>
      <p:sp>
        <p:nvSpPr>
          <p:cNvPr id="10" name="Heatmap card"/>
          <p:cNvSpPr/>
          <p:nvPr/>
        </p:nvSpPr>
        <p:spPr>
          <a:xfrm>
            <a:off x="6035040" y="1828800"/>
            <a:ext cx="5760720" cy="3814605"/>
          </a:xfrm>
          <a:prstGeom prst="roundRect">
            <a:avLst>
              <a:gd name="adj" fmla="val 28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pic>
        <p:nvPicPr>
          <p:cNvPr id="11" name="Heatmap" descr="Agent similarity heatmap before and after rumor: tighter cluster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1920240"/>
            <a:ext cx="5577840" cy="3128805"/>
          </a:xfrm>
          <a:prstGeom prst="rect">
            <a:avLst/>
          </a:prstGeom>
        </p:spPr>
      </p:pic>
      <p:sp>
        <p:nvSpPr>
          <p:cNvPr id="12" name="Heatmap caption"/>
          <p:cNvSpPr txBox="1"/>
          <p:nvPr/>
        </p:nvSpPr>
        <p:spPr>
          <a:xfrm>
            <a:off x="6172200" y="5094765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tx1"/>
                </a:solidFill>
              </a:rPr>
              <a:t>Investors who think alike cluster tighter after the rumor: an echo chamber</a:t>
            </a:r>
            <a:endParaRPr lang="en-US" sz="2000" dirty="0"/>
          </a:p>
        </p:txBody>
      </p:sp>
      <p:sp>
        <p:nvSpPr>
          <p:cNvPr id="13" name="Rumor takeaway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No crash was programmed. Panic spread through reading, posting and copying.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TwinMarket: a wind tunnel for financial markets</a:t>
            </a:r>
            <a:endParaRPr lang="en-US" sz="3600" dirty="0"/>
          </a:p>
        </p:txBody>
      </p:sp>
      <p:sp>
        <p:nvSpPr>
          <p:cNvPr id="3" name="Takeaway icon bg 0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akeaway icon 0" descr="Test before it's re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64792"/>
            <a:ext cx="356616" cy="356616"/>
          </a:xfrm>
          <a:prstGeom prst="rect">
            <a:avLst/>
          </a:prstGeom>
        </p:spPr>
      </p:pic>
      <p:sp>
        <p:nvSpPr>
          <p:cNvPr id="5" name="Takeaway 0"/>
          <p:cNvSpPr txBox="1"/>
          <p:nvPr/>
        </p:nvSpPr>
        <p:spPr>
          <a:xfrm>
            <a:off x="1463040" y="1554480"/>
            <a:ext cx="4572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Test before it's real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Try rumors, policies and regulations on AI investors first</a:t>
            </a:r>
            <a:endParaRPr lang="en-US" sz="2000" dirty="0"/>
          </a:p>
        </p:txBody>
      </p:sp>
      <p:sp>
        <p:nvSpPr>
          <p:cNvPr id="6" name="Takeaway icon bg 1"/>
          <p:cNvSpPr/>
          <p:nvPr/>
        </p:nvSpPr>
        <p:spPr>
          <a:xfrm>
            <a:off x="548640" y="2926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Takeaway icon 1" descr="Crowds from individua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090672"/>
            <a:ext cx="356616" cy="356616"/>
          </a:xfrm>
          <a:prstGeom prst="rect">
            <a:avLst/>
          </a:prstGeom>
        </p:spPr>
      </p:pic>
      <p:sp>
        <p:nvSpPr>
          <p:cNvPr id="8" name="Takeaway 1"/>
          <p:cNvSpPr txBox="1"/>
          <p:nvPr/>
        </p:nvSpPr>
        <p:spPr>
          <a:xfrm>
            <a:off x="1463040" y="2880360"/>
            <a:ext cx="4572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Crowds from individuals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Bubbles, panics and echo chambers emerge from 1,000 interacting agents</a:t>
            </a:r>
            <a:endParaRPr lang="en-US" sz="2000" dirty="0"/>
          </a:p>
        </p:txBody>
      </p:sp>
      <p:sp>
        <p:nvSpPr>
          <p:cNvPr id="9" name="Takeaway icon bg 2"/>
          <p:cNvSpPr/>
          <p:nvPr/>
        </p:nvSpPr>
        <p:spPr>
          <a:xfrm>
            <a:off x="548640" y="42519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akeaway icon 2" descr="Limi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416552"/>
            <a:ext cx="356616" cy="356616"/>
          </a:xfrm>
          <a:prstGeom prst="rect">
            <a:avLst/>
          </a:prstGeom>
        </p:spPr>
      </p:pic>
      <p:sp>
        <p:nvSpPr>
          <p:cNvPr id="11" name="Takeaway 2"/>
          <p:cNvSpPr txBox="1"/>
          <p:nvPr/>
        </p:nvSpPr>
        <p:spPr>
          <a:xfrm>
            <a:off x="1463040" y="4206240"/>
            <a:ext cx="4572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Limits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China A-shares only · one auction per day · AI agents ≠ real humans</a:t>
            </a:r>
            <a:endParaRPr lang="en-US" sz="2000" dirty="0"/>
          </a:p>
        </p:txBody>
      </p:sp>
      <p:sp>
        <p:nvSpPr>
          <p:cNvPr id="12" name="Scale chart card"/>
          <p:cNvSpPr/>
          <p:nvPr/>
        </p:nvSpPr>
        <p:spPr>
          <a:xfrm>
            <a:off x="6355080" y="1600200"/>
            <a:ext cx="5440680" cy="3401750"/>
          </a:xfrm>
          <a:prstGeom prst="roundRect">
            <a:avLst>
              <a:gd name="adj" fmla="val 32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Scale chart" descr="1,000-agent simulated index vs real inde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91640"/>
            <a:ext cx="5257800" cy="2715950"/>
          </a:xfrm>
          <a:prstGeom prst="rect">
            <a:avLst/>
          </a:prstGeom>
        </p:spPr>
      </p:pic>
      <p:sp>
        <p:nvSpPr>
          <p:cNvPr id="14" name="Scale caption"/>
          <p:cNvSpPr txBox="1"/>
          <p:nvPr/>
        </p:nvSpPr>
        <p:spPr>
          <a:xfrm>
            <a:off x="6446520" y="449903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1,000-agent simulation </a:t>
            </a:r>
            <a:r>
              <a:rPr lang="en-US" sz="1400" dirty="0">
                <a:solidFill>
                  <a:schemeClr val="tx1"/>
                </a:solidFill>
              </a:rPr>
              <a:t>vs </a:t>
            </a:r>
            <a:r>
              <a:rPr lang="en-US" sz="1400" b="1" dirty="0">
                <a:solidFill>
                  <a:schemeClr val="accent4"/>
                </a:solidFill>
              </a:rPr>
              <a:t>real index</a:t>
            </a:r>
            <a:endParaRPr lang="en-US" sz="1400" dirty="0"/>
          </a:p>
        </p:txBody>
      </p:sp>
      <p:sp>
        <p:nvSpPr>
          <p:cNvPr id="15" name="Thanks"/>
          <p:cNvSpPr txBox="1"/>
          <p:nvPr/>
        </p:nvSpPr>
        <p:spPr>
          <a:xfrm>
            <a:off x="6355080" y="5486400"/>
            <a:ext cx="5440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you! 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Backup: what if every investor were identical?</a:t>
            </a:r>
            <a:endParaRPr lang="en-US" sz="3400" dirty="0"/>
          </a:p>
        </p:txBody>
      </p:sp>
      <p:graphicFrame>
        <p:nvGraphicFramePr>
          <p:cNvPr id="3" name="Ablation chart"/>
          <p:cNvGraphicFramePr/>
          <p:nvPr/>
        </p:nvGraphicFramePr>
        <p:xfrm>
          <a:off x="548640" y="1371600"/>
          <a:ext cx="60350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Ablation table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790055" y="1344295"/>
          <a:ext cx="5288280" cy="2391410"/>
        </p:xfrm>
        <a:graphic>
          <a:graphicData uri="http://schemas.openxmlformats.org/drawingml/2006/table">
            <a:tbl>
              <a:tblPr/>
              <a:tblGrid>
                <a:gridCol w="1908175"/>
                <a:gridCol w="958215"/>
                <a:gridCol w="1334135"/>
                <a:gridCol w="1087755"/>
              </a:tblGrid>
              <a:tr h="738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Variant</a:t>
                      </a:r>
                      <a:endParaRPr lang="en-US"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Corr. ↑</a:t>
                      </a:r>
                      <a:endParaRPr lang="en-US"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Kurtosis ↑</a:t>
                      </a:r>
                      <a:endParaRPr lang="en-US"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RMSE ↓</a:t>
                      </a:r>
                      <a:endParaRPr lang="en-US" sz="2000" b="1" dirty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7378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Full TwinMarket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0.77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5.24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0.02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Without BDI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0.34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4.25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0.07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8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All identical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−0.61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3.58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</a:rPr>
                        <a:t>0.09</a:t>
                      </a:r>
                      <a:endParaRPr lang="en-US" sz="2000" dirty="0">
                        <a:solidFill>
                          <a:srgbClr val="1B2A41"/>
                        </a:solidFill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blation takeaway card"/>
          <p:cNvSpPr/>
          <p:nvPr/>
        </p:nvSpPr>
        <p:spPr>
          <a:xfrm>
            <a:off x="6806565" y="4230370"/>
            <a:ext cx="5271770" cy="1791335"/>
          </a:xfrm>
          <a:prstGeom prst="roundRect">
            <a:avLst>
              <a:gd name="adj" fmla="val 8276"/>
            </a:avLst>
          </a:prstGeom>
          <a:solidFill>
            <a:srgbClr val="FBE7A9"/>
          </a:solidFill>
          <a:ln w="12700">
            <a:solidFill>
              <a:srgbClr val="FBE7A9"/>
            </a:solidFill>
            <a:prstDash val="solid"/>
          </a:ln>
          <a:effectLst>
            <a:outerShdw blurRad="101600" dist="254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6" name="Ablation takeaway"/>
          <p:cNvSpPr txBox="1"/>
          <p:nvPr/>
        </p:nvSpPr>
        <p:spPr>
          <a:xfrm>
            <a:off x="7089140" y="4495165"/>
            <a:ext cx="4773295" cy="1348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Diversity is the secret ingredient</a:t>
            </a:r>
            <a:endParaRPr lang="en-US" sz="24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Make every investor the same and the simulated market moves opposite to the real one.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2.88,&quot;left&quot;:626.4,&quot;top&quot;:100.8,&quot;width&quot;:291.6}"/>
</p:tagLst>
</file>

<file path=ppt/tags/tag2.xml><?xml version="1.0" encoding="utf-8"?>
<p:tagLst xmlns:p="http://schemas.openxmlformats.org/presentationml/2006/main">
  <p:tag name="KSO_WM_DIAGRAM_VIRTUALLY_FRAME" val="{&quot;height&quot;:272.88,&quot;left&quot;:626.4,&quot;top&quot;:100.8,&quot;width&quot;:291.6}"/>
</p:tagLst>
</file>

<file path=ppt/tags/tag3.xml><?xml version="1.0" encoding="utf-8"?>
<p:tagLst xmlns:p="http://schemas.openxmlformats.org/presentationml/2006/main">
  <p:tag name="KSO_WM_DIAGRAM_VIRTUALLY_FRAME" val="{&quot;height&quot;:272.88,&quot;left&quot;:626.4,&quot;top&quot;:100.8,&quot;width&quot;:291.6}"/>
</p:tagLst>
</file>

<file path=ppt/tags/tag4.xml><?xml version="1.0" encoding="utf-8"?>
<p:tagLst xmlns:p="http://schemas.openxmlformats.org/presentationml/2006/main">
  <p:tag name="KSO_WM_DIAGRAM_VIRTUALLY_FRAME" val="{&quot;height&quot;:272.88,&quot;left&quot;:626.4,&quot;top&quot;:100.8,&quot;width&quot;:291.6}"/>
</p:tagLst>
</file>

<file path=ppt/tags/tag5.xml><?xml version="1.0" encoding="utf-8"?>
<p:tagLst xmlns:p="http://schemas.openxmlformats.org/presentationml/2006/main">
  <p:tag name="KSO_WM_DIAGRAM_VIRTUALLY_FRAME" val="{&quot;height&quot;:272.88,&quot;left&quot;:626.4,&quot;top&quot;:100.8,&quot;width&quot;:291.6}"/>
</p:tagLst>
</file>

<file path=ppt/tags/tag6.xml><?xml version="1.0" encoding="utf-8"?>
<p:tagLst xmlns:p="http://schemas.openxmlformats.org/presentationml/2006/main">
  <p:tag name="KSO_WM_DIAGRAM_VIRTUALLY_FRAME" val="{&quot;height&quot;:272.88,&quot;left&quot;:626.4,&quot;top&quot;:100.8,&quot;width&quot;:291.6}"/>
</p:tagLst>
</file>

<file path=ppt/tags/tag7.xml><?xml version="1.0" encoding="utf-8"?>
<p:tagLst xmlns:p="http://schemas.openxmlformats.org/presentationml/2006/main">
  <p:tag name="KSO_WM_DIAGRAM_VIRTUALLY_FRAME" val="{&quot;height&quot;:272.88,&quot;left&quot;:626.4,&quot;top&quot;:100.8,&quot;width&quot;:291.6}"/>
</p:tagLst>
</file>

<file path=ppt/tags/tag8.xml><?xml version="1.0" encoding="utf-8"?>
<p:tagLst xmlns:p="http://schemas.openxmlformats.org/presentationml/2006/main">
  <p:tag name="KSO_WM_DIAGRAM_VIRTUALLY_FRAME" val="{&quot;height&quot;:272.88,&quot;left&quot;:626.4,&quot;top&quot;:100.8,&quot;width&quot;:291.6}"/>
</p:tagLst>
</file>

<file path=ppt/tags/tag9.xml><?xml version="1.0" encoding="utf-8"?>
<p:tagLst xmlns:p="http://schemas.openxmlformats.org/presentationml/2006/main">
  <p:tag name="KSO_WM_DIAGRAM_VIRTUALLY_FRAME" val="{&quot;height&quot;:272.88,&quot;left&quot;:626.4,&quot;top&quot;:100.8,&quot;width&quot;:291.6}"/>
</p:tagLst>
</file>

<file path=ppt/tags/tag10.xml><?xml version="1.0" encoding="utf-8"?>
<p:tagLst xmlns:p="http://schemas.openxmlformats.org/presentationml/2006/main">
  <p:tag name="KSO_WM_DIAGRAM_VIRTUALLY_FRAME" val="{&quot;height&quot;:111.6,&quot;left&quot;:504,&quot;top&quot;:331.2,&quot;width&quot;:399.6}"/>
</p:tagLst>
</file>

<file path=ppt/tags/tag11.xml><?xml version="1.0" encoding="utf-8"?>
<p:tagLst xmlns:p="http://schemas.openxmlformats.org/presentationml/2006/main">
  <p:tag name="KSO_WM_DIAGRAM_VIRTUALLY_FRAME" val="{&quot;height&quot;:111.6,&quot;left&quot;:504,&quot;top&quot;:331.2,&quot;width&quot;:399.6}"/>
</p:tagLst>
</file>

<file path=ppt/tags/tag12.xml><?xml version="1.0" encoding="utf-8"?>
<p:tagLst xmlns:p="http://schemas.openxmlformats.org/presentationml/2006/main">
  <p:tag name="KSO_WM_DIAGRAM_VIRTUALLY_FRAME" val="{&quot;height&quot;:111.6,&quot;left&quot;:504,&quot;top&quot;:331.2,&quot;width&quot;:399.6}"/>
</p:tagLst>
</file>

<file path=ppt/tags/tag13.xml><?xml version="1.0" encoding="utf-8"?>
<p:tagLst xmlns:p="http://schemas.openxmlformats.org/presentationml/2006/main">
  <p:tag name="KSO_WM_DIAGRAM_VIRTUALLY_FRAME" val="{&quot;height&quot;:111.6,&quot;left&quot;:504,&quot;top&quot;:331.2,&quot;width&quot;:399.6}"/>
</p:tagLst>
</file>

<file path=ppt/tags/tag14.xml><?xml version="1.0" encoding="utf-8"?>
<p:tagLst xmlns:p="http://schemas.openxmlformats.org/presentationml/2006/main">
  <p:tag name="KSO_WM_DIAGRAM_VIRTUALLY_FRAME" val="{&quot;height&quot;:309.6,&quot;left&quot;:644.4,&quot;top&quot;:104.4,&quot;width&quot;:273.6}"/>
</p:tagLst>
</file>

<file path=ppt/tags/tag15.xml><?xml version="1.0" encoding="utf-8"?>
<p:tagLst xmlns:p="http://schemas.openxmlformats.org/presentationml/2006/main">
  <p:tag name="KSO_WM_DIAGRAM_VIRTUALLY_FRAME" val="{&quot;height&quot;:309.6,&quot;left&quot;:644.4,&quot;top&quot;:104.4,&quot;width&quot;:273.6}"/>
</p:tagLst>
</file>

<file path=ppt/tags/tag16.xml><?xml version="1.0" encoding="utf-8"?>
<p:tagLst xmlns:p="http://schemas.openxmlformats.org/presentationml/2006/main">
  <p:tag name="KSO_WM_DIAGRAM_VIRTUALLY_FRAME" val="{&quot;height&quot;:309.6,&quot;left&quot;:644.4,&quot;top&quot;:104.4,&quot;width&quot;:273.6}"/>
</p:tagLst>
</file>

<file path=ppt/tags/tag17.xml><?xml version="1.0" encoding="utf-8"?>
<p:tagLst xmlns:p="http://schemas.openxmlformats.org/presentationml/2006/main">
  <p:tag name="KSO_WM_DIAGRAM_VIRTUALLY_FRAME" val="{&quot;height&quot;:309.6,&quot;left&quot;:644.4,&quot;top&quot;:104.4,&quot;width&quot;:273.6}"/>
</p:tagLst>
</file>

<file path=ppt/tags/tag18.xml><?xml version="1.0" encoding="utf-8"?>
<p:tagLst xmlns:p="http://schemas.openxmlformats.org/presentationml/2006/main">
  <p:tag name="KSO_WM_DIAGRAM_VIRTUALLY_FRAME" val="{&quot;height&quot;:309.6,&quot;left&quot;:644.4,&quot;top&quot;:104.4,&quot;width&quot;:273.6}"/>
</p:tagLst>
</file>

<file path=ppt/tags/tag19.xml><?xml version="1.0" encoding="utf-8"?>
<p:tagLst xmlns:p="http://schemas.openxmlformats.org/presentationml/2006/main">
  <p:tag name="KSO_WM_DIAGRAM_VIRTUALLY_FRAME" val="{&quot;height&quot;:309.6,&quot;left&quot;:644.4,&quot;top&quot;:104.4,&quot;width&quot;:273.6}"/>
</p:tagLst>
</file>

<file path=ppt/tags/tag20.xml><?xml version="1.0" encoding="utf-8"?>
<p:tagLst xmlns:p="http://schemas.openxmlformats.org/presentationml/2006/main">
  <p:tag name="KSO_WM_DIAGRAM_VIRTUALLY_FRAME" val="{&quot;height&quot;:284.4,&quot;left&quot;:43.2,&quot;top&quot;:144,&quot;width&quot;:421.25}"/>
</p:tagLst>
</file>

<file path=ppt/tags/tag21.xml><?xml version="1.0" encoding="utf-8"?>
<p:tagLst xmlns:p="http://schemas.openxmlformats.org/presentationml/2006/main">
  <p:tag name="KSO_WM_DIAGRAM_VIRTUALLY_FRAME" val="{&quot;height&quot;:284.4,&quot;left&quot;:43.2,&quot;top&quot;:144,&quot;width&quot;:421.25}"/>
</p:tagLst>
</file>

<file path=ppt/tags/tag22.xml><?xml version="1.0" encoding="utf-8"?>
<p:tagLst xmlns:p="http://schemas.openxmlformats.org/presentationml/2006/main">
  <p:tag name="KSO_WM_DIAGRAM_VIRTUALLY_FRAME" val="{&quot;height&quot;:284.4,&quot;left&quot;:43.2,&quot;top&quot;:144,&quot;width&quot;:421.25}"/>
</p:tagLst>
</file>

<file path=ppt/tags/tag23.xml><?xml version="1.0" encoding="utf-8"?>
<p:tagLst xmlns:p="http://schemas.openxmlformats.org/presentationml/2006/main">
  <p:tag name="KSO_WM_DIAGRAM_VIRTUALLY_FRAME" val="{&quot;height&quot;:284.4,&quot;left&quot;:43.2,&quot;top&quot;:144,&quot;width&quot;:421.25}"/>
</p:tagLst>
</file>

<file path=ppt/tags/tag24.xml><?xml version="1.0" encoding="utf-8"?>
<p:tagLst xmlns:p="http://schemas.openxmlformats.org/presentationml/2006/main">
  <p:tag name="KSO_WM_DIAGRAM_VIRTUALLY_FRAME" val="{&quot;height&quot;:284.4,&quot;left&quot;:43.2,&quot;top&quot;:144,&quot;width&quot;:421.25}"/>
</p:tagLst>
</file>

<file path=ppt/tags/tag25.xml><?xml version="1.0" encoding="utf-8"?>
<p:tagLst xmlns:p="http://schemas.openxmlformats.org/presentationml/2006/main">
  <p:tag name="KSO_WM_DIAGRAM_VIRTUALLY_FRAME" val="{&quot;height&quot;:284.4,&quot;left&quot;:43.2,&quot;top&quot;:144,&quot;width&quot;:421.25}"/>
</p:tagLst>
</file>

<file path=ppt/tags/tag26.xml><?xml version="1.0" encoding="utf-8"?>
<p:tagLst xmlns:p="http://schemas.openxmlformats.org/presentationml/2006/main">
  <p:tag name="TABLE_ENDDRAG_ORIGIN_RECT" val="416*188"/>
  <p:tag name="TABLE_ENDDRAG_RECT" val="534*105*416*188"/>
</p:tagLst>
</file>

<file path=ppt/theme/theme1.xml><?xml version="1.0" encoding="utf-8"?>
<a:theme xmlns:a="http://schemas.openxmlformats.org/drawingml/2006/main" name="TwinMarket">
  <a:themeElements>
    <a:clrScheme name="TwinMarket">
      <a:dk1>
        <a:srgbClr val="1B2A41"/>
      </a:dk1>
      <a:lt1>
        <a:srgbClr val="FFFFFF"/>
      </a:lt1>
      <a:dk2>
        <a:srgbClr val="1F3A68"/>
      </a:dk2>
      <a:lt2>
        <a:srgbClr val="EEF2F8"/>
      </a:lt2>
      <a:accent1>
        <a:srgbClr val="F2B91E"/>
      </a:accent1>
      <a:accent2>
        <a:srgbClr val="D9343A"/>
      </a:accent2>
      <a:accent3>
        <a:srgbClr val="3566C8"/>
      </a:accent3>
      <a:accent4>
        <a:srgbClr val="2E8B57"/>
      </a:accent4>
      <a:accent5>
        <a:srgbClr val="7A8599"/>
      </a:accent5>
      <a:accent6>
        <a:srgbClr val="FBE7A9"/>
      </a:accent6>
      <a:hlink>
        <a:srgbClr val="3566C8"/>
      </a:hlink>
      <a:folHlink>
        <a:srgbClr val="6D2E46"/>
      </a:folHlink>
    </a:clrScheme>
    <a:fontScheme name="TwinMark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winMarket">
  <a:themeElements>
    <a:clrScheme name="TwinMarket">
      <a:dk1>
        <a:srgbClr val="1B2A41"/>
      </a:dk1>
      <a:lt1>
        <a:srgbClr val="FFFFFF"/>
      </a:lt1>
      <a:dk2>
        <a:srgbClr val="1F3A68"/>
      </a:dk2>
      <a:lt2>
        <a:srgbClr val="EEF2F8"/>
      </a:lt2>
      <a:accent1>
        <a:srgbClr val="F2B91E"/>
      </a:accent1>
      <a:accent2>
        <a:srgbClr val="D9343A"/>
      </a:accent2>
      <a:accent3>
        <a:srgbClr val="3566C8"/>
      </a:accent3>
      <a:accent4>
        <a:srgbClr val="2E8B57"/>
      </a:accent4>
      <a:accent5>
        <a:srgbClr val="7A8599"/>
      </a:accent5>
      <a:accent6>
        <a:srgbClr val="FBE7A9"/>
      </a:accent6>
      <a:hlink>
        <a:srgbClr val="3566C8"/>
      </a:hlink>
      <a:folHlink>
        <a:srgbClr val="6D2E46"/>
      </a:folHlink>
    </a:clrScheme>
    <a:fontScheme name="TwinMark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2750</Words>
  <Application>WPS 演示</Application>
  <PresentationFormat>On-screen Show (16:9)</PresentationFormat>
  <Paragraphs>202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Times New Roman</vt:lpstr>
      <vt:lpstr>Cambria</vt:lpstr>
      <vt:lpstr>Cambria</vt:lpstr>
      <vt:lpstr>Cambria</vt:lpstr>
      <vt:lpstr>Calibri</vt:lpstr>
      <vt:lpstr>Arial Unicode MS</vt:lpstr>
      <vt:lpstr>等线 Light</vt:lpstr>
      <vt:lpstr>等线</vt:lpstr>
      <vt:lpstr>TwinMarket</vt:lpstr>
      <vt:lpstr>What happens if you whisper a rumor to 100 AI investors?</vt:lpstr>
      <vt:lpstr>Markets are moved by people</vt:lpstr>
      <vt:lpstr>TwinMarket: AI investors living on a social network</vt:lpstr>
      <vt:lpstr>The simulated market behaves like the real one</vt:lpstr>
      <vt:lpstr>Bubbles form and burst on their own</vt:lpstr>
      <vt:lpstr>One rumor, and the market panics</vt:lpstr>
      <vt:lpstr>TwinMarket: a wind tunnel for financial markets</vt:lpstr>
      <vt:lpstr>Backup: what if every investor were identical?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TwinMarket – 3-minute paper presentation</dc:title>
  <dc:creator>PptxGenJS</dc:creator>
  <dc:subject>PptxGenJS Presentation</dc:subject>
  <cp:lastModifiedBy>李婧雅</cp:lastModifiedBy>
  <cp:revision>6</cp:revision>
  <dcterms:created xsi:type="dcterms:W3CDTF">2026-10-06T10:47:00Z</dcterms:created>
  <dcterms:modified xsi:type="dcterms:W3CDTF">2026-10-08T03:33:28Z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73649A3CDFEE42859115C6E0EBBAA7E0_12</vt:lpwstr>
  </property>
</Properties>
</file>