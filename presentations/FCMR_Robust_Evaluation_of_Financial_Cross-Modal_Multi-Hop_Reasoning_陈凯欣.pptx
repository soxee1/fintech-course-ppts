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9"/>
  </p:normalViewPr>
  <p:slideViewPr>
    <p:cSldViewPr snapToGrid="0">
      <p:cViewPr varScale="1">
        <p:scale>
          <a:sx n="114" d="100"/>
          <a:sy n="114" d="100"/>
        </p:scale>
        <p:origin x="49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p:txBody>
      </p:sp>
      <p:sp>
        <p:nvSpPr>
          <p:cNvPr id="3" name="Date Placeholder"/>
          <p:cNvSpPr>
            <a:spLocks noGrp="1"/>
          </p:cNvSpPr>
          <p:nvPr>
            <p:ph type="dt" sz="quarter" idx="1"/>
          </p:nvPr>
        </p:nvSpPr>
        <p:spPr>
          <a:prstGeom prst="rect">
            <a:avLst/>
          </a:prstGeom>
        </p:spPr>
        <p:txBody>
          <a:bodyPr/>
          <a:lstStyle/>
          <a:p/>
        </p:txBody>
      </p:sp>
      <p:sp>
        <p:nvSpPr>
          <p:cNvPr id="4" name="Slide Image Placeholder"/>
          <p:cNvSpPr>
            <a:spLocks noGrp="1" noRot="1" noChangeAspect="1"/>
          </p:cNvSpPr>
          <p:nvPr>
            <p:ph type="sldImg" idx="2"/>
          </p:nvPr>
        </p:nvSpPr>
        <p:spPr>
          <a:prstGeom prst="rect">
            <a:avLst/>
          </a:prstGeom>
        </p:spPr>
        <p:txBody>
          <a:bodyPr/>
          <a:lstStyle/>
          <a:p/>
        </p:txBody>
      </p:sp>
      <p:sp>
        <p:nvSpPr>
          <p:cNvPr id="5" name="Notes Placeholder"/>
          <p:cNvSpPr>
            <a:spLocks noGrp="1"/>
          </p:cNvSpPr>
          <p:nvPr>
            <p:ph type="body" sz="quarter" idx="3"/>
          </p:nvPr>
        </p:nvSpPr>
        <p:spPr>
          <a:prstGeom prst="rect">
            <a:avLst/>
          </a:prstGeom>
        </p:spPr>
        <p:txBody>
          <a:bodyPr/>
          <a:lstStyle/>
          <a:p/>
        </p:txBody>
      </p:sp>
      <p:sp>
        <p:nvSpPr>
          <p:cNvPr id="6" name="Footer Placeholder"/>
          <p:cNvSpPr>
            <a:spLocks noGrp="1"/>
          </p:cNvSpPr>
          <p:nvPr>
            <p:ph type="ftr" sz="quarter" idx="4"/>
          </p:nvPr>
        </p:nvSpPr>
        <p:spPr>
          <a:prstGeom prst="rect">
            <a:avLst/>
          </a:prstGeom>
        </p:spPr>
        <p:txBody>
          <a:bodyPr/>
          <a:lstStyle/>
          <a:p/>
        </p:txBody>
      </p:sp>
      <p:sp>
        <p:nvSpPr>
          <p:cNvPr id="7" name="Slide Number Placeholder"/>
          <p:cNvSpPr>
            <a:spLocks noGrp="1"/>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Good </a:t>
            </a:r>
            <a:r>
              <a:rPr lang="en-US" dirty="0"/>
              <a:t>afternoon</a:t>
            </a:r>
            <a:r>
              <a:rPr dirty="0"/>
              <a:t>. Today I will present FCMR, a benchmark for financial cross-modal multi-hop reasoning. The paper asks a simple but important question: can a multimodal language model combine evidence from financial text, tables, and charts, rather than solving each input separately?</a:t>
            </a:r>
            <a:endParaRPr dirty="0"/>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motivation is that existing benchmarks may reward recall instead of genuine reasoning. On the hardest subset of MMQA, GPT-4o still reaches 43.4 percent exact match when the image is removed. In addition, only 0.8 percent of MMQA questions actually require three modalities. So a high score may hide two problems: data contamination and shortcuts that let the model ignore visual evidence.</a:t>
            </a:r>
            <a:endParaRPr dirty="0"/>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FCMR addresses these shortcuts by constructing every question from text, a financial table, and a chart. Easy questions use one-hop statements, medium questions use two-hop combinations, and hard questions require three-hop reasoning across all three modalities. The final dataset contains 2,199 questions. The model must select every true statement, so partial reasoning does not receive credit. This example shows why the task is difficult: the model must retrieve a fact from a report, apply a numerical condition in the table, and then identify a trend or ranking from the chart.</a:t>
            </a:r>
            <a:endParaRPr dirty="0"/>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results show a large gap between fluent answers and reliable reasoning. On the hard split, random selection scores about 12.3 percent. GPT-4o reaches 24.4 percent, while the best multimodal model, Claude 3.5 Sonnet, reaches only 30.4 percent. The authors then divide the reasoning process into planning, modality identification, retrieval, and reasoning. Their key diagnosis is that information retrieval is the main bottleneck. Models may identify the correct modality, but still fail to extract the required evidence. My takeaway is that progress in financial AI needs better grounded retrieval and cross-modal reasoning, not only larger models.</a:t>
            </a:r>
            <a:endParaRPr dirty="0"/>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a:spLocks noGrp="1"/>
          </p:cNvSpPr>
          <p:nvPr/>
        </p:nvSpPr>
        <p:spPr>
          <a:xfrm>
            <a:off x="0" y="0"/>
            <a:ext cx="12192000" cy="6858000"/>
          </a:xfrm>
          <a:prstGeom prst="rect">
            <a:avLst/>
          </a:prstGeom>
          <a:noFill/>
          <a:ln w="254000" cap="flat">
            <a:solidFill>
              <a:srgbClr val="2A5989"/>
            </a:solidFill>
            <a:miter/>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
        <p:nvSpPr>
          <p:cNvPr id="2" name="标题 1"/>
          <p:cNvSpPr>
            <a:spLocks noGrp="1"/>
          </p:cNvSpPr>
          <p:nvPr>
            <p:ph type="ctrTitle"/>
          </p:nvPr>
        </p:nvSpPr>
        <p:spPr>
          <a:xfrm>
            <a:off x="1524000" y="2984808"/>
            <a:ext cx="9144000" cy="1811411"/>
          </a:xfrm>
        </p:spPr>
        <p:txBody>
          <a:bodyPr anchor="b"/>
          <a:lstStyle>
            <a:lvl1pPr algn="ctr">
              <a:buNone/>
              <a:defRPr sz="6000">
                <a:solidFill>
                  <a:srgbClr val="2A5989"/>
                </a:solidFill>
                <a:latin typeface="华文中宋"/>
                <a:ea typeface="华文中宋"/>
                <a:cs typeface="华文中宋"/>
              </a:defRPr>
            </a:lvl1pPr>
          </a:lstStyle>
          <a:p>
            <a:r>
              <a:t>单击此处编辑母版标题样式</a:t>
            </a:r>
          </a:p>
        </p:txBody>
      </p:sp>
      <p:sp>
        <p:nvSpPr>
          <p:cNvPr id="3" name="副标题 2"/>
          <p:cNvSpPr>
            <a:spLocks noGrp="1"/>
          </p:cNvSpPr>
          <p:nvPr>
            <p:ph type="subTitle" idx="1"/>
          </p:nvPr>
        </p:nvSpPr>
        <p:spPr>
          <a:xfrm>
            <a:off x="1524000" y="5183386"/>
            <a:ext cx="9144000" cy="446649"/>
          </a:xfrm>
        </p:spPr>
        <p:txBody>
          <a:bodyPr/>
          <a:lstStyle>
            <a:lvl1pPr marL="0" indent="0" algn="ctr">
              <a:buNone/>
              <a:defRPr sz="2400">
                <a:latin typeface="DFKai-SB"/>
                <a:ea typeface="DFKai-SB"/>
                <a:cs typeface="DFKai-SB"/>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单击此处编辑母版副标题样式</a:t>
            </a:r>
          </a:p>
        </p:txBody>
      </p:sp>
      <p:sp>
        <p:nvSpPr>
          <p:cNvPr id="4" name="日期占位符 3"/>
          <p:cNvSpPr>
            <a:spLocks noGrp="1"/>
          </p:cNvSpPr>
          <p:nvPr>
            <p:ph type="dt" idx="10"/>
          </p:nvPr>
        </p:nvSpPr>
        <p:spPr/>
        <p:txBody>
          <a:bodyPr/>
          <a:lstStyle/>
          <a:p>
            <a:fld id="{C668B0DF-9E95-4FF5-9934-3B6869D759F3}" type="datetimeFigureOut">
              <a:rPr/>
            </a:fld>
            <a:endParaRPr/>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a:fld id="{AF201765-28EA-41EE-8360-4DCDA7AD8B0A}" type="slidenum">
              <a:rPr/>
            </a:fld>
            <a:endParaRPr/>
          </a:p>
        </p:txBody>
      </p:sp>
      <p:sp>
        <p:nvSpPr>
          <p:cNvPr id="9" name="直接连接符 8"/>
          <p:cNvSpPr>
            <a:spLocks noGrp="1"/>
          </p:cNvSpPr>
          <p:nvPr/>
        </p:nvSpPr>
        <p:spPr>
          <a:xfrm>
            <a:off x="4431323" y="3441007"/>
            <a:ext cx="3319975" cy="0"/>
          </a:xfrm>
          <a:prstGeom prst="line">
            <a:avLst/>
          </a:prstGeom>
          <a:ln w="19050">
            <a:solidFill>
              <a:srgbClr val="2A5989"/>
            </a:solidFill>
          </a:ln>
        </p:spPr>
        <p:style>
          <a:lnRef idx="1">
            <a:schemeClr val="accent1"/>
          </a:lnRef>
          <a:fillRef idx="0">
            <a:schemeClr val="accent1"/>
          </a:fillRef>
          <a:effectRef idx="0">
            <a:schemeClr val="accent1"/>
          </a:effectRef>
          <a:fontRef idx="minor">
            <a:schemeClr val="tx1"/>
          </a:fontRef>
        </p:style>
      </p:sp>
      <p:pic>
        <p:nvPicPr>
          <p:cNvPr id="10" name="图片 9"/>
          <p:cNvPicPr>
            <a:picLocks noChangeAspect="1"/>
          </p:cNvPicPr>
          <p:nvPr/>
        </p:nvPicPr>
        <p:blipFill>
          <a:blip r:embed="rId2"/>
          <a:stretch>
            <a:fillRect/>
          </a:stretch>
        </p:blipFill>
        <p:spPr>
          <a:xfrm>
            <a:off x="5357890" y="1143000"/>
            <a:ext cx="1476220" cy="148055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1488" y="365125"/>
            <a:ext cx="10352312" cy="1325563"/>
          </a:xfrm>
        </p:spPr>
        <p:txBody>
          <a:bodyPr/>
          <a:lstStyle>
            <a:lvl1pPr>
              <a:buNone/>
              <a:defRPr>
                <a:solidFill>
                  <a:srgbClr val="2A5989"/>
                </a:solidFill>
                <a:latin typeface="华文中宋"/>
                <a:ea typeface="华文中宋"/>
                <a:cs typeface="华文中宋"/>
              </a:defRPr>
            </a:lvl1pPr>
          </a:lstStyle>
          <a:p>
            <a:r>
              <a:t>单击此处编辑母版标题样式</a:t>
            </a:r>
          </a:p>
        </p:txBody>
      </p:sp>
      <p:sp>
        <p:nvSpPr>
          <p:cNvPr id="3" name="内容占位符 2"/>
          <p:cNvSpPr>
            <a:spLocks noGrp="1"/>
          </p:cNvSpPr>
          <p:nvPr>
            <p:ph idx="1"/>
          </p:nvPr>
        </p:nvSpPr>
        <p:spPr/>
        <p:txBody>
          <a:bodyPr/>
          <a:lstStyle>
            <a:lvl1pPr marL="457200" indent="-457200">
              <a:buFont typeface="Wingdings" panose="05000000000000000000"/>
              <a:buChar char="n"/>
              <a:defRPr>
                <a:latin typeface="华文中宋"/>
                <a:ea typeface="华文中宋"/>
                <a:cs typeface="华文中宋"/>
              </a:defRPr>
            </a:lvl1pPr>
            <a:lvl2pPr marL="800100" indent="-342900">
              <a:buFont typeface="Wingdings" panose="05000000000000000000"/>
              <a:buChar char="n"/>
              <a:defRPr>
                <a:latin typeface="DFKai-SB"/>
                <a:ea typeface="DFKai-SB"/>
                <a:cs typeface="DFKai-SB"/>
              </a:defRPr>
            </a:lvl2pPr>
            <a:lvl3pPr marL="1257300" indent="-342900">
              <a:buFont typeface="Wingdings" panose="05000000000000000000"/>
              <a:buChar char="n"/>
              <a:defRPr>
                <a:latin typeface="DFKai-SB"/>
                <a:ea typeface="DFKai-SB"/>
                <a:cs typeface="DFKai-SB"/>
              </a:defRPr>
            </a:lvl3pPr>
            <a:lvl4pPr marL="1657350" indent="-285750">
              <a:buFont typeface="Wingdings" panose="05000000000000000000"/>
              <a:buChar char="n"/>
              <a:defRPr>
                <a:latin typeface="DFKai-SB"/>
                <a:ea typeface="DFKai-SB"/>
                <a:cs typeface="DFKai-SB"/>
              </a:defRPr>
            </a:lvl4pPr>
            <a:lvl5pPr marL="2114550" indent="-285750">
              <a:buFont typeface="Wingdings" panose="05000000000000000000"/>
              <a:buChar char="n"/>
              <a:defRPr>
                <a:latin typeface="DFKai-SB"/>
                <a:ea typeface="DFKai-SB"/>
                <a:cs typeface="DFKai-SB"/>
              </a:defRPr>
            </a:lvl5p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p:cNvSpPr>
            <a:spLocks noGrp="1"/>
          </p:cNvSpPr>
          <p:nvPr>
            <p:ph type="dt" idx="10"/>
          </p:nvPr>
        </p:nvSpPr>
        <p:spPr/>
        <p:txBody>
          <a:bodyPr/>
          <a:lstStyle/>
          <a:p>
            <a:fld id="{C668B0DF-9E95-4FF5-9934-3B6869D759F3}" type="datetimeFigureOut">
              <a:rPr/>
            </a:fld>
            <a:endParaRPr/>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a:fld id="{AF201765-28EA-41EE-8360-4DCDA7AD8B0A}" type="slidenum">
              <a:rPr/>
            </a:fld>
            <a:endParaRPr/>
          </a:p>
        </p:txBody>
      </p:sp>
      <p:sp>
        <p:nvSpPr>
          <p:cNvPr id="7" name="矩形 6"/>
          <p:cNvSpPr>
            <a:spLocks noGrp="1"/>
          </p:cNvSpPr>
          <p:nvPr/>
        </p:nvSpPr>
        <p:spPr>
          <a:xfrm>
            <a:off x="0" y="0"/>
            <a:ext cx="12192000" cy="6858000"/>
          </a:xfrm>
          <a:prstGeom prst="rect">
            <a:avLst/>
          </a:prstGeom>
          <a:noFill/>
          <a:ln w="254000" cap="flat">
            <a:solidFill>
              <a:srgbClr val="2A5989"/>
            </a:solidFill>
            <a:miter/>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
        <p:nvSpPr>
          <p:cNvPr id="8" name="矩形 7"/>
          <p:cNvSpPr>
            <a:spLocks noGrp="1"/>
          </p:cNvSpPr>
          <p:nvPr/>
        </p:nvSpPr>
        <p:spPr>
          <a:xfrm>
            <a:off x="838201" y="478972"/>
            <a:ext cx="163286" cy="457200"/>
          </a:xfrm>
          <a:prstGeom prst="rect">
            <a:avLst/>
          </a:prstGeom>
          <a:solidFill>
            <a:srgbClr val="2A59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1001486" y="1709738"/>
            <a:ext cx="10345964" cy="2852737"/>
          </a:xfrm>
        </p:spPr>
        <p:txBody>
          <a:bodyPr anchor="b"/>
          <a:lstStyle>
            <a:lvl1pPr>
              <a:buNone/>
              <a:defRPr sz="6000">
                <a:solidFill>
                  <a:srgbClr val="1E4B74"/>
                </a:solidFill>
                <a:latin typeface="华文中宋"/>
                <a:ea typeface="华文中宋"/>
                <a:cs typeface="华文中宋"/>
              </a:defRPr>
            </a:lvl1pPr>
          </a:lstStyle>
          <a:p>
            <a:r>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单击此处编辑母版文本样式</a:t>
            </a:r>
          </a:p>
        </p:txBody>
      </p:sp>
      <p:sp>
        <p:nvSpPr>
          <p:cNvPr id="4" name="日期占位符 3"/>
          <p:cNvSpPr>
            <a:spLocks noGrp="1"/>
          </p:cNvSpPr>
          <p:nvPr>
            <p:ph type="dt" idx="10"/>
          </p:nvPr>
        </p:nvSpPr>
        <p:spPr/>
        <p:txBody>
          <a:bodyPr/>
          <a:lstStyle/>
          <a:p>
            <a:fld id="{C668B0DF-9E95-4FF5-9934-3B6869D759F3}" type="datetimeFigureOut">
              <a:rPr/>
            </a:fld>
            <a:endParaRPr/>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a:fld id="{AF201765-28EA-41EE-8360-4DCDA7AD8B0A}" type="slidenum">
              <a:rPr/>
            </a:fld>
            <a:endParaRPr/>
          </a:p>
        </p:txBody>
      </p:sp>
      <p:sp>
        <p:nvSpPr>
          <p:cNvPr id="7" name="矩形 6"/>
          <p:cNvSpPr>
            <a:spLocks noGrp="1"/>
          </p:cNvSpPr>
          <p:nvPr/>
        </p:nvSpPr>
        <p:spPr>
          <a:xfrm>
            <a:off x="0" y="0"/>
            <a:ext cx="12192000" cy="6858000"/>
          </a:xfrm>
          <a:prstGeom prst="rect">
            <a:avLst/>
          </a:prstGeom>
          <a:noFill/>
          <a:ln w="254000" cap="flat">
            <a:solidFill>
              <a:srgbClr val="2A5989"/>
            </a:solidFill>
            <a:miter/>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
        <p:nvSpPr>
          <p:cNvPr id="8" name="矩形 7"/>
          <p:cNvSpPr>
            <a:spLocks noGrp="1"/>
          </p:cNvSpPr>
          <p:nvPr/>
        </p:nvSpPr>
        <p:spPr>
          <a:xfrm>
            <a:off x="838200" y="3487965"/>
            <a:ext cx="163286" cy="457200"/>
          </a:xfrm>
          <a:prstGeom prst="rect">
            <a:avLst/>
          </a:prstGeom>
          <a:solidFill>
            <a:srgbClr val="2A59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t>单击此处编辑母版标题样式</a:t>
            </a:r>
          </a:p>
        </p:txBody>
      </p:sp>
      <p:sp>
        <p:nvSpPr>
          <p:cNvPr id="3" name="内容占位符 2"/>
          <p:cNvSpPr>
            <a:spLocks noGrp="1"/>
          </p:cNvSpPr>
          <p:nvPr>
            <p:ph idx="1"/>
          </p:nvPr>
        </p:nvSpPr>
        <p:spPr>
          <a:xfrm>
            <a:off x="838200" y="1825625"/>
            <a:ext cx="5181600" cy="4351338"/>
          </a:xfrm>
        </p:spPr>
        <p:txBody>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内容占位符 3"/>
          <p:cNvSpPr>
            <a:spLocks noGrp="1"/>
          </p:cNvSpPr>
          <p:nvPr>
            <p:ph idx="2"/>
          </p:nvPr>
        </p:nvSpPr>
        <p:spPr>
          <a:xfrm>
            <a:off x="6172200" y="1825625"/>
            <a:ext cx="5181600" cy="4351338"/>
          </a:xfrm>
        </p:spPr>
        <p:txBody>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5" name="日期占位符 4"/>
          <p:cNvSpPr>
            <a:spLocks noGrp="1"/>
          </p:cNvSpPr>
          <p:nvPr>
            <p:ph type="dt" idx="10"/>
          </p:nvPr>
        </p:nvSpPr>
        <p:spPr/>
        <p:txBody>
          <a:bodyPr/>
          <a:lstStyle/>
          <a:p>
            <a:fld id="{C668B0DF-9E95-4FF5-9934-3B6869D759F3}" type="datetimeFigureOut">
              <a:rPr/>
            </a:fld>
            <a:endParaRPr/>
          </a:p>
        </p:txBody>
      </p:sp>
      <p:sp>
        <p:nvSpPr>
          <p:cNvPr id="6" name="页脚占位符 5"/>
          <p:cNvSpPr>
            <a:spLocks noGrp="1"/>
          </p:cNvSpPr>
          <p:nvPr>
            <p:ph type="ftr" idx="11"/>
          </p:nvPr>
        </p:nvSpPr>
        <p:spPr/>
        <p:txBody>
          <a:bodyPr/>
          <a:lstStyle/>
          <a:p/>
        </p:txBody>
      </p:sp>
      <p:sp>
        <p:nvSpPr>
          <p:cNvPr id="7" name="灯片编号占位符 6"/>
          <p:cNvSpPr>
            <a:spLocks noGrp="1"/>
          </p:cNvSpPr>
          <p:nvPr>
            <p:ph type="sldNum" idx="12"/>
          </p:nvPr>
        </p:nvSpPr>
        <p:spPr/>
        <p:txBody>
          <a:bodyPr/>
          <a:lstStyle/>
          <a:p>
            <a:fld id="{AF201765-28EA-41EE-8360-4DCDA7AD8B0A}" type="slidenum">
              <a:rPr/>
            </a:fld>
            <a:endParaRPr/>
          </a:p>
        </p:txBody>
      </p:sp>
      <p:sp>
        <p:nvSpPr>
          <p:cNvPr id="8" name="矩形 7"/>
          <p:cNvSpPr>
            <a:spLocks noGrp="1"/>
          </p:cNvSpPr>
          <p:nvPr/>
        </p:nvSpPr>
        <p:spPr>
          <a:xfrm>
            <a:off x="0" y="0"/>
            <a:ext cx="12192000" cy="6858000"/>
          </a:xfrm>
          <a:prstGeom prst="rect">
            <a:avLst/>
          </a:prstGeom>
          <a:noFill/>
          <a:ln w="254000" cap="flat">
            <a:solidFill>
              <a:srgbClr val="2A5989"/>
            </a:solidFill>
            <a:miter/>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单击此处编辑母版文本样式</a:t>
            </a:r>
          </a:p>
        </p:txBody>
      </p:sp>
      <p:sp>
        <p:nvSpPr>
          <p:cNvPr id="4" name="内容占位符 3"/>
          <p:cNvSpPr>
            <a:spLocks noGrp="1"/>
          </p:cNvSpPr>
          <p:nvPr>
            <p:ph idx="2"/>
          </p:nvPr>
        </p:nvSpPr>
        <p:spPr>
          <a:xfrm>
            <a:off x="839788" y="2505075"/>
            <a:ext cx="5157787" cy="3684588"/>
          </a:xfrm>
        </p:spPr>
        <p:txBody>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5" name="文本占位符 4"/>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单击此处编辑母版文本样式</a:t>
            </a:r>
          </a:p>
        </p:txBody>
      </p:sp>
      <p:sp>
        <p:nvSpPr>
          <p:cNvPr id="6" name="内容占位符 5"/>
          <p:cNvSpPr>
            <a:spLocks noGrp="1"/>
          </p:cNvSpPr>
          <p:nvPr>
            <p:ph idx="4"/>
          </p:nvPr>
        </p:nvSpPr>
        <p:spPr>
          <a:xfrm>
            <a:off x="6172200" y="2505075"/>
            <a:ext cx="5183188" cy="3684588"/>
          </a:xfrm>
        </p:spPr>
        <p:txBody>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7" name="日期占位符 6"/>
          <p:cNvSpPr>
            <a:spLocks noGrp="1"/>
          </p:cNvSpPr>
          <p:nvPr>
            <p:ph type="dt" idx="10"/>
          </p:nvPr>
        </p:nvSpPr>
        <p:spPr/>
        <p:txBody>
          <a:bodyPr/>
          <a:lstStyle/>
          <a:p>
            <a:fld id="{C668B0DF-9E95-4FF5-9934-3B6869D759F3}" type="datetimeFigureOut">
              <a:rPr/>
            </a:fld>
            <a:endParaRPr/>
          </a:p>
        </p:txBody>
      </p:sp>
      <p:sp>
        <p:nvSpPr>
          <p:cNvPr id="8" name="页脚占位符 7"/>
          <p:cNvSpPr>
            <a:spLocks noGrp="1"/>
          </p:cNvSpPr>
          <p:nvPr>
            <p:ph type="ftr" idx="11"/>
          </p:nvPr>
        </p:nvSpPr>
        <p:spPr/>
        <p:txBody>
          <a:bodyPr/>
          <a:lstStyle/>
          <a:p/>
        </p:txBody>
      </p:sp>
      <p:sp>
        <p:nvSpPr>
          <p:cNvPr id="9" name="灯片编号占位符 8"/>
          <p:cNvSpPr>
            <a:spLocks noGrp="1"/>
          </p:cNvSpPr>
          <p:nvPr>
            <p:ph type="sldNum" idx="12"/>
          </p:nvPr>
        </p:nvSpPr>
        <p:spPr/>
        <p:txBody>
          <a:bodyPr/>
          <a:lstStyle/>
          <a:p>
            <a:fld id="{AF201765-28EA-41EE-8360-4DCDA7AD8B0A}" type="slidenum">
              <a:rPr/>
            </a:fld>
            <a:endParaRPr/>
          </a:p>
        </p:txBody>
      </p:sp>
      <p:sp>
        <p:nvSpPr>
          <p:cNvPr id="10" name="矩形 9"/>
          <p:cNvSpPr>
            <a:spLocks noGrp="1"/>
          </p:cNvSpPr>
          <p:nvPr/>
        </p:nvSpPr>
        <p:spPr>
          <a:xfrm>
            <a:off x="0" y="0"/>
            <a:ext cx="12192000" cy="6858000"/>
          </a:xfrm>
          <a:prstGeom prst="rect">
            <a:avLst/>
          </a:prstGeom>
          <a:noFill/>
          <a:ln w="254000" cap="flat">
            <a:solidFill>
              <a:srgbClr val="2A5989"/>
            </a:solidFill>
            <a:miter/>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t>单击此处编辑母版标题样式</a:t>
            </a:r>
          </a:p>
        </p:txBody>
      </p:sp>
      <p:sp>
        <p:nvSpPr>
          <p:cNvPr id="3" name="日期占位符 2"/>
          <p:cNvSpPr>
            <a:spLocks noGrp="1"/>
          </p:cNvSpPr>
          <p:nvPr>
            <p:ph type="dt" idx="10"/>
          </p:nvPr>
        </p:nvSpPr>
        <p:spPr/>
        <p:txBody>
          <a:bodyPr/>
          <a:lstStyle/>
          <a:p>
            <a:fld id="{C668B0DF-9E95-4FF5-9934-3B6869D759F3}" type="datetimeFigureOut">
              <a:rPr/>
            </a:fld>
            <a:endParaRPr/>
          </a:p>
        </p:txBody>
      </p:sp>
      <p:sp>
        <p:nvSpPr>
          <p:cNvPr id="4" name="页脚占位符 3"/>
          <p:cNvSpPr>
            <a:spLocks noGrp="1"/>
          </p:cNvSpPr>
          <p:nvPr>
            <p:ph type="ftr" idx="11"/>
          </p:nvPr>
        </p:nvSpPr>
        <p:spPr/>
        <p:txBody>
          <a:bodyPr/>
          <a:lstStyle/>
          <a:p/>
        </p:txBody>
      </p:sp>
      <p:sp>
        <p:nvSpPr>
          <p:cNvPr id="5" name="灯片编号占位符 4"/>
          <p:cNvSpPr>
            <a:spLocks noGrp="1"/>
          </p:cNvSpPr>
          <p:nvPr>
            <p:ph type="sldNum" idx="12"/>
          </p:nvPr>
        </p:nvSpPr>
        <p:spPr/>
        <p:txBody>
          <a:bodyPr/>
          <a:lstStyle/>
          <a:p>
            <a:fld id="{AF201765-28EA-41EE-8360-4DCDA7AD8B0A}" type="slidenum">
              <a:rPr/>
            </a:fld>
            <a:endParaRPr/>
          </a:p>
        </p:txBody>
      </p:sp>
      <p:sp>
        <p:nvSpPr>
          <p:cNvPr id="6" name="矩形 5"/>
          <p:cNvSpPr>
            <a:spLocks noGrp="1"/>
          </p:cNvSpPr>
          <p:nvPr/>
        </p:nvSpPr>
        <p:spPr>
          <a:xfrm>
            <a:off x="0" y="0"/>
            <a:ext cx="12192000" cy="6858000"/>
          </a:xfrm>
          <a:prstGeom prst="rect">
            <a:avLst/>
          </a:prstGeom>
          <a:noFill/>
          <a:ln w="254000" cap="flat">
            <a:solidFill>
              <a:srgbClr val="2A5989"/>
            </a:solidFill>
            <a:miter/>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idx="10"/>
          </p:nvPr>
        </p:nvSpPr>
        <p:spPr/>
        <p:txBody>
          <a:bodyPr/>
          <a:lstStyle/>
          <a:p>
            <a:fld id="{C668B0DF-9E95-4FF5-9934-3B6869D759F3}" type="datetimeFigureOut">
              <a:rPr/>
            </a:fld>
            <a:endParaRPr/>
          </a:p>
        </p:txBody>
      </p:sp>
      <p:sp>
        <p:nvSpPr>
          <p:cNvPr id="3" name="页脚占位符 2"/>
          <p:cNvSpPr>
            <a:spLocks noGrp="1"/>
          </p:cNvSpPr>
          <p:nvPr>
            <p:ph type="ftr" idx="11"/>
          </p:nvPr>
        </p:nvSpPr>
        <p:spPr/>
        <p:txBody>
          <a:bodyPr/>
          <a:lstStyle/>
          <a:p/>
        </p:txBody>
      </p:sp>
      <p:sp>
        <p:nvSpPr>
          <p:cNvPr id="4" name="灯片编号占位符 3"/>
          <p:cNvSpPr>
            <a:spLocks noGrp="1"/>
          </p:cNvSpPr>
          <p:nvPr>
            <p:ph type="sldNum" idx="12"/>
          </p:nvPr>
        </p:nvSpPr>
        <p:spPr/>
        <p:txBody>
          <a:bodyPr/>
          <a:lstStyle/>
          <a:p>
            <a:fld id="{AF201765-28EA-41EE-8360-4DCDA7AD8B0A}" type="slidenum">
              <a:rPr/>
            </a:fld>
            <a:endParaRPr/>
          </a:p>
        </p:txBody>
      </p:sp>
      <p:sp>
        <p:nvSpPr>
          <p:cNvPr id="5" name="矩形 4"/>
          <p:cNvSpPr>
            <a:spLocks noGrp="1"/>
          </p:cNvSpPr>
          <p:nvPr/>
        </p:nvSpPr>
        <p:spPr>
          <a:xfrm>
            <a:off x="0" y="0"/>
            <a:ext cx="12192000" cy="6858000"/>
          </a:xfrm>
          <a:prstGeom prst="rect">
            <a:avLst/>
          </a:prstGeom>
          <a:noFill/>
          <a:ln w="254000" cap="flat">
            <a:solidFill>
              <a:srgbClr val="2A5989"/>
            </a:solidFill>
            <a:miter/>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内容占位符 2"/>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文本占位符 3"/>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单击此处编辑母版文本样式</a:t>
            </a:r>
          </a:p>
        </p:txBody>
      </p:sp>
      <p:sp>
        <p:nvSpPr>
          <p:cNvPr id="5" name="日期占位符 4"/>
          <p:cNvSpPr>
            <a:spLocks noGrp="1"/>
          </p:cNvSpPr>
          <p:nvPr>
            <p:ph type="dt" idx="10"/>
          </p:nvPr>
        </p:nvSpPr>
        <p:spPr/>
        <p:txBody>
          <a:bodyPr/>
          <a:lstStyle/>
          <a:p>
            <a:fld id="{C668B0DF-9E95-4FF5-9934-3B6869D759F3}" type="datetimeFigureOut">
              <a:rPr/>
            </a:fld>
            <a:endParaRPr/>
          </a:p>
        </p:txBody>
      </p:sp>
      <p:sp>
        <p:nvSpPr>
          <p:cNvPr id="6" name="页脚占位符 5"/>
          <p:cNvSpPr>
            <a:spLocks noGrp="1"/>
          </p:cNvSpPr>
          <p:nvPr>
            <p:ph type="ftr" idx="11"/>
          </p:nvPr>
        </p:nvSpPr>
        <p:spPr/>
        <p:txBody>
          <a:bodyPr/>
          <a:lstStyle/>
          <a:p/>
        </p:txBody>
      </p:sp>
      <p:sp>
        <p:nvSpPr>
          <p:cNvPr id="7" name="灯片编号占位符 6"/>
          <p:cNvSpPr>
            <a:spLocks noGrp="1"/>
          </p:cNvSpPr>
          <p:nvPr>
            <p:ph type="sldNum" idx="12"/>
          </p:nvPr>
        </p:nvSpPr>
        <p:spPr/>
        <p:txBody>
          <a:bodyPr/>
          <a:lstStyle/>
          <a:p>
            <a:fld id="{AF201765-28EA-41EE-8360-4DCDA7AD8B0A}" type="slidenum">
              <a:rPr/>
            </a:fld>
            <a:endParaRPr/>
          </a:p>
        </p:txBody>
      </p:sp>
      <p:sp>
        <p:nvSpPr>
          <p:cNvPr id="8" name="矩形 7"/>
          <p:cNvSpPr>
            <a:spLocks noGrp="1"/>
          </p:cNvSpPr>
          <p:nvPr/>
        </p:nvSpPr>
        <p:spPr>
          <a:xfrm>
            <a:off x="0" y="0"/>
            <a:ext cx="12192000" cy="6858000"/>
          </a:xfrm>
          <a:prstGeom prst="rect">
            <a:avLst/>
          </a:prstGeom>
          <a:noFill/>
          <a:ln w="254000" cap="flat">
            <a:solidFill>
              <a:srgbClr val="2A5989"/>
            </a:solidFill>
            <a:miter/>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p:txBody>
      </p:sp>
      <p:sp>
        <p:nvSpPr>
          <p:cNvPr id="4" name="文本占位符 3"/>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单击此处编辑母版文本样式</a:t>
            </a:r>
          </a:p>
        </p:txBody>
      </p:sp>
      <p:sp>
        <p:nvSpPr>
          <p:cNvPr id="5" name="日期占位符 4"/>
          <p:cNvSpPr>
            <a:spLocks noGrp="1"/>
          </p:cNvSpPr>
          <p:nvPr>
            <p:ph type="dt" idx="10"/>
          </p:nvPr>
        </p:nvSpPr>
        <p:spPr/>
        <p:txBody>
          <a:bodyPr/>
          <a:lstStyle/>
          <a:p>
            <a:fld id="{C668B0DF-9E95-4FF5-9934-3B6869D759F3}" type="datetimeFigureOut">
              <a:rPr/>
            </a:fld>
            <a:endParaRPr/>
          </a:p>
        </p:txBody>
      </p:sp>
      <p:sp>
        <p:nvSpPr>
          <p:cNvPr id="6" name="页脚占位符 5"/>
          <p:cNvSpPr>
            <a:spLocks noGrp="1"/>
          </p:cNvSpPr>
          <p:nvPr>
            <p:ph type="ftr" idx="11"/>
          </p:nvPr>
        </p:nvSpPr>
        <p:spPr/>
        <p:txBody>
          <a:bodyPr/>
          <a:lstStyle/>
          <a:p/>
        </p:txBody>
      </p:sp>
      <p:sp>
        <p:nvSpPr>
          <p:cNvPr id="7" name="灯片编号占位符 6"/>
          <p:cNvSpPr>
            <a:spLocks noGrp="1"/>
          </p:cNvSpPr>
          <p:nvPr>
            <p:ph type="sldNum" idx="12"/>
          </p:nvPr>
        </p:nvSpPr>
        <p:spPr/>
        <p:txBody>
          <a:bodyPr/>
          <a:lstStyle/>
          <a:p>
            <a:fld id="{AF201765-28EA-41EE-8360-4DCDA7AD8B0A}" type="slidenum">
              <a:rPr/>
            </a:fld>
            <a:endParaRPr/>
          </a:p>
        </p:txBody>
      </p:sp>
      <p:sp>
        <p:nvSpPr>
          <p:cNvPr id="8" name="矩形 7"/>
          <p:cNvSpPr>
            <a:spLocks noGrp="1"/>
          </p:cNvSpPr>
          <p:nvPr/>
        </p:nvSpPr>
        <p:spPr>
          <a:xfrm>
            <a:off x="0" y="0"/>
            <a:ext cx="12192000" cy="6858000"/>
          </a:xfrm>
          <a:prstGeom prst="rect">
            <a:avLst/>
          </a:prstGeom>
          <a:noFill/>
          <a:ln w="254000" cap="flat">
            <a:solidFill>
              <a:srgbClr val="2A5989"/>
            </a:solidFill>
            <a:miter/>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t>单击此处编辑母版标题样式</a:t>
            </a:r>
          </a:p>
        </p:txBody>
      </p:sp>
      <p:sp>
        <p:nvSpPr>
          <p:cNvPr id="3" name="竖排文字占位符 2"/>
          <p:cNvSpPr>
            <a:spLocks noGrp="1"/>
          </p:cNvSpPr>
          <p:nvPr>
            <p:ph type="body" idx="1"/>
          </p:nvPr>
        </p:nvSpPr>
        <p:spPr/>
        <p:txBody>
          <a:bodyPr vert="eaVert"/>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p:cNvSpPr>
            <a:spLocks noGrp="1"/>
          </p:cNvSpPr>
          <p:nvPr>
            <p:ph type="dt" idx="10"/>
          </p:nvPr>
        </p:nvSpPr>
        <p:spPr/>
        <p:txBody>
          <a:bodyPr/>
          <a:lstStyle/>
          <a:p>
            <a:fld id="{C668B0DF-9E95-4FF5-9934-3B6869D759F3}" type="datetimeFigureOut">
              <a:rPr/>
            </a:fld>
            <a:endParaRPr/>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a:fld id="{AF201765-28EA-41EE-8360-4DCDA7AD8B0A}" type="slidenum">
              <a:rPr/>
            </a:fld>
            <a:endParaRPr/>
          </a:p>
        </p:txBody>
      </p:sp>
      <p:sp>
        <p:nvSpPr>
          <p:cNvPr id="7" name="矩形 6"/>
          <p:cNvSpPr>
            <a:spLocks noGrp="1"/>
          </p:cNvSpPr>
          <p:nvPr/>
        </p:nvSpPr>
        <p:spPr>
          <a:xfrm>
            <a:off x="0" y="0"/>
            <a:ext cx="12192000" cy="6858000"/>
          </a:xfrm>
          <a:prstGeom prst="rect">
            <a:avLst/>
          </a:prstGeom>
          <a:noFill/>
          <a:ln w="254000" cap="flat">
            <a:solidFill>
              <a:srgbClr val="2A5989"/>
            </a:solidFill>
            <a:miter/>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p:nvPr>
        </p:nvSpPr>
        <p:spPr>
          <a:xfrm>
            <a:off x="8724900" y="365125"/>
            <a:ext cx="2628900" cy="5811838"/>
          </a:xfrm>
        </p:spPr>
        <p:txBody>
          <a:bodyPr vert="eaVert"/>
          <a:lstStyle/>
          <a:p>
            <a:r>
              <a:t>单击此处编辑母版标题样式</a:t>
            </a:r>
          </a:p>
        </p:txBody>
      </p:sp>
      <p:sp>
        <p:nvSpPr>
          <p:cNvPr id="3" name="竖排文字占位符 2"/>
          <p:cNvSpPr>
            <a:spLocks noGrp="1"/>
          </p:cNvSpPr>
          <p:nvPr>
            <p:ph type="body" idx="1"/>
          </p:nvPr>
        </p:nvSpPr>
        <p:spPr>
          <a:xfrm>
            <a:off x="838200" y="365125"/>
            <a:ext cx="7734300" cy="5811838"/>
          </a:xfrm>
        </p:spPr>
        <p:txBody>
          <a:bodyPr vert="eaVert"/>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p:cNvSpPr>
            <a:spLocks noGrp="1"/>
          </p:cNvSpPr>
          <p:nvPr>
            <p:ph type="dt" idx="10"/>
          </p:nvPr>
        </p:nvSpPr>
        <p:spPr/>
        <p:txBody>
          <a:bodyPr/>
          <a:lstStyle/>
          <a:p>
            <a:fld id="{C668B0DF-9E95-4FF5-9934-3B6869D759F3}" type="datetimeFigureOut">
              <a:rPr/>
            </a:fld>
            <a:endParaRPr/>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a:fld id="{AF201765-28EA-41EE-8360-4DCDA7AD8B0A}" type="slidenum">
              <a:rPr/>
            </a:fld>
            <a:endParaRPr/>
          </a:p>
        </p:txBody>
      </p:sp>
      <p:sp>
        <p:nvSpPr>
          <p:cNvPr id="7" name="矩形 6"/>
          <p:cNvSpPr>
            <a:spLocks noGrp="1"/>
          </p:cNvSpPr>
          <p:nvPr/>
        </p:nvSpPr>
        <p:spPr>
          <a:xfrm>
            <a:off x="0" y="0"/>
            <a:ext cx="12192000" cy="6858000"/>
          </a:xfrm>
          <a:prstGeom prst="rect">
            <a:avLst/>
          </a:prstGeom>
          <a:noFill/>
          <a:ln w="254000" cap="flat">
            <a:solidFill>
              <a:srgbClr val="2A5989"/>
            </a:solidFill>
            <a:miter/>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C668B0DF-9E95-4FF5-9934-3B6869D759F3}" type="datetimeFigureOut">
              <a:rPr/>
            </a:fld>
            <a:endParaRPr/>
          </a:p>
        </p:txBody>
      </p:sp>
      <p:sp>
        <p:nvSpPr>
          <p:cNvPr id="5" name="页脚占位符 4"/>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p:txBody>
      </p:sp>
      <p:sp>
        <p:nvSpPr>
          <p:cNvPr id="6" name="灯片编号占位符 5"/>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AF201765-28EA-41EE-8360-4DCDA7AD8B0A}"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panose="020B0704020202020204"/>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panose="020B0704020202020204"/>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panose="020B0704020202020204"/>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panose="020B0704020202020204"/>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panose="020B0704020202020204"/>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panose="020B0704020202020204"/>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panose="020B0704020202020204"/>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panose="020B0704020202020204"/>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panose="020B0704020202020204"/>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hyperlink" Target="https://aclanthology.org/2025.acl-long.1138/" TargetMode="Externa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Grp="1"/>
          </p:cNvSpPr>
          <p:nvPr/>
        </p:nvSpPr>
        <p:spPr>
          <a:xfrm>
            <a:off x="1524000" y="2914650"/>
            <a:ext cx="9144000" cy="533400"/>
          </a:xfrm>
          <a:prstGeom prst="rect">
            <a:avLst/>
          </a:prstGeom>
          <a:noFill/>
          <a:ln w="0">
            <a:noFill/>
          </a:ln>
        </p:spPr>
        <p:txBody>
          <a:bodyPr anchor="ctr"/>
          <a:lstStyle>
            <a:defPPr algn="ctr">
              <a:defRPr sz="3600" b="1">
                <a:solidFill>
                  <a:srgbClr val="173E65"/>
                </a:solidFill>
              </a:defRPr>
            </a:defPPr>
          </a:lstStyle>
          <a:p>
            <a:pPr algn="ctr">
              <a:defRPr sz="3600" b="1">
                <a:solidFill>
                  <a:srgbClr val="173E65"/>
                </a:solidFill>
              </a:defRPr>
            </a:pPr>
            <a:r>
              <a:rPr sz="3600" b="1" dirty="0">
                <a:solidFill>
                  <a:srgbClr val="173E65"/>
                </a:solidFill>
              </a:rPr>
              <a:t>FCMR</a:t>
            </a:r>
            <a:endParaRPr sz="3600" b="1" dirty="0">
              <a:solidFill>
                <a:srgbClr val="173E65"/>
              </a:solidFill>
            </a:endParaRPr>
          </a:p>
        </p:txBody>
      </p:sp>
      <p:sp>
        <p:nvSpPr>
          <p:cNvPr id="5" name="矩形 4"/>
          <p:cNvSpPr>
            <a:spLocks noGrp="1"/>
          </p:cNvSpPr>
          <p:nvPr/>
        </p:nvSpPr>
        <p:spPr>
          <a:xfrm>
            <a:off x="1238250" y="3552825"/>
            <a:ext cx="9715500" cy="857250"/>
          </a:xfrm>
          <a:prstGeom prst="rect">
            <a:avLst/>
          </a:prstGeom>
          <a:noFill/>
          <a:ln w="0">
            <a:noFill/>
          </a:ln>
        </p:spPr>
        <p:txBody>
          <a:bodyPr anchor="ctr"/>
          <a:lstStyle>
            <a:defPPr algn="ctr">
              <a:defRPr sz="2400" b="1">
                <a:solidFill>
                  <a:srgbClr val="173E65"/>
                </a:solidFill>
              </a:defRPr>
            </a:defPPr>
          </a:lstStyle>
          <a:p>
            <a:pPr algn="ctr">
              <a:defRPr sz="2400" b="1">
                <a:solidFill>
                  <a:srgbClr val="173E65"/>
                </a:solidFill>
              </a:defRPr>
            </a:pPr>
            <a:r>
              <a:rPr sz="2400" b="1" dirty="0">
                <a:solidFill>
                  <a:srgbClr val="173E65"/>
                </a:solidFill>
              </a:rPr>
              <a:t>Robust Evaluation of Financial</a:t>
            </a:r>
            <a:endParaRPr sz="2400" b="1" dirty="0">
              <a:solidFill>
                <a:srgbClr val="173E65"/>
              </a:solidFill>
            </a:endParaRPr>
          </a:p>
          <a:p>
            <a:pPr algn="ctr">
              <a:defRPr sz="2400" b="1">
                <a:solidFill>
                  <a:srgbClr val="173E65"/>
                </a:solidFill>
              </a:defRPr>
            </a:pPr>
            <a:r>
              <a:rPr sz="2400" b="1" dirty="0">
                <a:solidFill>
                  <a:srgbClr val="173E65"/>
                </a:solidFill>
              </a:rPr>
              <a:t>Cross-Modal Multi-Hop Reasoning</a:t>
            </a:r>
            <a:endParaRPr sz="2400" b="1" dirty="0">
              <a:solidFill>
                <a:srgbClr val="173E65"/>
              </a:solidFill>
            </a:endParaRPr>
          </a:p>
        </p:txBody>
      </p:sp>
      <p:sp>
        <p:nvSpPr>
          <p:cNvPr id="6" name="矩形 5"/>
          <p:cNvSpPr>
            <a:spLocks noGrp="1"/>
          </p:cNvSpPr>
          <p:nvPr/>
        </p:nvSpPr>
        <p:spPr>
          <a:xfrm>
            <a:off x="1428750" y="4410075"/>
            <a:ext cx="9334500" cy="666750"/>
          </a:xfrm>
          <a:prstGeom prst="rect">
            <a:avLst/>
          </a:prstGeom>
          <a:noFill/>
          <a:ln w="0">
            <a:noFill/>
          </a:ln>
        </p:spPr>
        <p:txBody>
          <a:bodyPr anchor="ctr"/>
          <a:lstStyle>
            <a:defPPr algn="ctr">
              <a:defRPr sz="1650" b="0">
                <a:solidFill>
                  <a:srgbClr val="526477"/>
                </a:solidFill>
              </a:defRPr>
            </a:defPPr>
          </a:lstStyle>
          <a:p>
            <a:pPr algn="ctr">
              <a:defRPr sz="1650" b="0">
                <a:solidFill>
                  <a:srgbClr val="526477"/>
                </a:solidFill>
              </a:defRPr>
            </a:pPr>
            <a:r>
              <a:rPr b="0" dirty="0">
                <a:solidFill>
                  <a:srgbClr val="526477"/>
                </a:solidFill>
              </a:rPr>
              <a:t>Can multimodal models reason across financial text, tables, and charts?</a:t>
            </a:r>
            <a:endParaRPr b="0" dirty="0">
              <a:solidFill>
                <a:srgbClr val="526477"/>
              </a:solidFill>
            </a:endParaRPr>
          </a:p>
        </p:txBody>
      </p:sp>
      <p:sp>
        <p:nvSpPr>
          <p:cNvPr id="7" name="矩形 6"/>
          <p:cNvSpPr>
            <a:spLocks noGrp="1"/>
          </p:cNvSpPr>
          <p:nvPr/>
        </p:nvSpPr>
        <p:spPr>
          <a:xfrm>
            <a:off x="1428750" y="5076825"/>
            <a:ext cx="9144000" cy="333375"/>
          </a:xfrm>
          <a:prstGeom prst="rect">
            <a:avLst/>
          </a:prstGeom>
          <a:noFill/>
          <a:ln w="0">
            <a:noFill/>
          </a:ln>
        </p:spPr>
        <p:txBody>
          <a:bodyPr anchor="ctr"/>
          <a:lstStyle>
            <a:defPPr algn="ctr">
              <a:defRPr sz="1425" b="0">
                <a:solidFill>
                  <a:srgbClr val="173E65"/>
                </a:solidFill>
              </a:defRPr>
            </a:defPPr>
          </a:lstStyle>
          <a:p>
            <a:pPr algn="ctr">
              <a:defRPr sz="1425" b="0">
                <a:solidFill>
                  <a:srgbClr val="173E65"/>
                </a:solidFill>
              </a:defRPr>
            </a:pPr>
            <a:r>
              <a:rPr lang="zh-CN" altLang="zh-CN" sz="1200" dirty="0">
                <a:solidFill>
                  <a:srgbClr val="173E65"/>
                </a:solidFill>
              </a:rPr>
              <a:t>Kim, S., Kim, C., &amp; Kim, T. (2025). Proceedings of ACL 2025, 23352–23380. </a:t>
            </a:r>
            <a:r>
              <a:rPr lang="zh-CN" altLang="zh-CN" sz="1200" dirty="0">
                <a:solidFill>
                  <a:srgbClr val="173E65"/>
                </a:solidFill>
                <a:hlinkClick r:id="rId1"/>
              </a:rPr>
              <a:t>https://aclanthology.org/2025.acl-long.1138/</a:t>
            </a:r>
            <a:endParaRPr sz="1200" b="0" dirty="0">
              <a:solidFill>
                <a:srgbClr val="173E65"/>
              </a:solidFill>
            </a:endParaRPr>
          </a:p>
        </p:txBody>
      </p:sp>
      <p:sp>
        <p:nvSpPr>
          <p:cNvPr id="8" name="矩形 7"/>
          <p:cNvSpPr>
            <a:spLocks noGrp="1"/>
          </p:cNvSpPr>
          <p:nvPr/>
        </p:nvSpPr>
        <p:spPr>
          <a:xfrm>
            <a:off x="1524000" y="5600700"/>
            <a:ext cx="9144000" cy="333375"/>
          </a:xfrm>
          <a:prstGeom prst="rect">
            <a:avLst/>
          </a:prstGeom>
          <a:noFill/>
          <a:ln w="0">
            <a:noFill/>
          </a:ln>
        </p:spPr>
        <p:txBody>
          <a:bodyPr anchor="ctr"/>
          <a:lstStyle>
            <a:defPPr algn="ctr">
              <a:defRPr sz="1425" b="0">
                <a:solidFill>
                  <a:srgbClr val="526477"/>
                </a:solidFill>
              </a:defRPr>
            </a:defPPr>
          </a:lstStyle>
          <a:p>
            <a:pPr algn="ctr">
              <a:defRPr sz="1425" b="0">
                <a:solidFill>
                  <a:srgbClr val="526477"/>
                </a:solidFill>
              </a:defRPr>
            </a:pPr>
            <a:r>
              <a:rPr sz="1600" b="0" dirty="0">
                <a:solidFill>
                  <a:srgbClr val="526477"/>
                </a:solidFill>
              </a:rPr>
              <a:t>Presenter: Kaixin Chen     Student ID: 26213050113</a:t>
            </a:r>
            <a:endParaRPr sz="1600" b="0" dirty="0">
              <a:solidFill>
                <a:srgbClr val="526477"/>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Grp="1"/>
          </p:cNvSpPr>
          <p:nvPr/>
        </p:nvSpPr>
        <p:spPr>
          <a:xfrm>
            <a:off x="1098975" y="400050"/>
            <a:ext cx="10287000" cy="571500"/>
          </a:xfrm>
          <a:prstGeom prst="rect">
            <a:avLst/>
          </a:prstGeom>
          <a:noFill/>
          <a:ln w="0">
            <a:noFill/>
          </a:ln>
        </p:spPr>
        <p:txBody>
          <a:bodyPr anchor="ctr"/>
          <a:lstStyle>
            <a:defPPr algn="l">
              <a:defRPr sz="2250" b="1">
                <a:solidFill>
                  <a:srgbClr val="2A5989"/>
                </a:solidFill>
              </a:defRPr>
            </a:defPPr>
          </a:lstStyle>
          <a:p>
            <a:pPr algn="l">
              <a:defRPr sz="2250" b="1">
                <a:solidFill>
                  <a:srgbClr val="2A5989"/>
                </a:solidFill>
              </a:defRPr>
            </a:pPr>
            <a:r>
              <a:rPr sz="2250" b="1" dirty="0">
                <a:solidFill>
                  <a:srgbClr val="2A5989"/>
                </a:solidFill>
              </a:rPr>
              <a:t>Why existing benchmarks can overestimate reasoning</a:t>
            </a:r>
            <a:endParaRPr sz="2250" b="1" dirty="0">
              <a:solidFill>
                <a:srgbClr val="2A5989"/>
              </a:solidFill>
            </a:endParaRPr>
          </a:p>
        </p:txBody>
      </p:sp>
      <p:sp>
        <p:nvSpPr>
          <p:cNvPr id="5" name="矩形 4"/>
          <p:cNvSpPr>
            <a:spLocks noGrp="1"/>
          </p:cNvSpPr>
          <p:nvPr/>
        </p:nvSpPr>
        <p:spPr>
          <a:xfrm>
            <a:off x="666750" y="1314450"/>
            <a:ext cx="2190750" cy="819150"/>
          </a:xfrm>
          <a:prstGeom prst="rect">
            <a:avLst/>
          </a:prstGeom>
          <a:noFill/>
          <a:ln w="0">
            <a:noFill/>
          </a:ln>
        </p:spPr>
        <p:txBody>
          <a:bodyPr anchor="ctr"/>
          <a:lstStyle>
            <a:defPPr algn="l">
              <a:defRPr sz="4275" b="1">
                <a:solidFill>
                  <a:srgbClr val="547DA5"/>
                </a:solidFill>
              </a:defRPr>
            </a:defPPr>
          </a:lstStyle>
          <a:p>
            <a:pPr algn="l">
              <a:defRPr sz="4275" b="1">
                <a:solidFill>
                  <a:srgbClr val="547DA5"/>
                </a:solidFill>
              </a:defRPr>
            </a:pPr>
            <a:r>
              <a:rPr sz="4275" b="1" dirty="0">
                <a:solidFill>
                  <a:srgbClr val="547DA5"/>
                </a:solidFill>
              </a:rPr>
              <a:t>43.4%</a:t>
            </a:r>
            <a:endParaRPr sz="4275" b="1" dirty="0">
              <a:solidFill>
                <a:srgbClr val="547DA5"/>
              </a:solidFill>
            </a:endParaRPr>
          </a:p>
        </p:txBody>
      </p:sp>
      <p:sp>
        <p:nvSpPr>
          <p:cNvPr id="6" name="矩形 5"/>
          <p:cNvSpPr>
            <a:spLocks noGrp="1"/>
          </p:cNvSpPr>
          <p:nvPr/>
        </p:nvSpPr>
        <p:spPr>
          <a:xfrm>
            <a:off x="704850" y="2133600"/>
            <a:ext cx="3143250" cy="742950"/>
          </a:xfrm>
          <a:prstGeom prst="rect">
            <a:avLst/>
          </a:prstGeom>
          <a:noFill/>
          <a:ln w="0">
            <a:noFill/>
          </a:ln>
        </p:spPr>
        <p:txBody>
          <a:bodyPr anchor="ctr"/>
          <a:lstStyle>
            <a:defPPr algn="l">
              <a:defRPr sz="1575" b="0">
                <a:solidFill>
                  <a:srgbClr val="173E65"/>
                </a:solidFill>
              </a:defRPr>
            </a:defPPr>
          </a:lstStyle>
          <a:p>
            <a:pPr algn="l">
              <a:defRPr sz="1575" b="0">
                <a:solidFill>
                  <a:srgbClr val="173E65"/>
                </a:solidFill>
              </a:defRPr>
            </a:pPr>
            <a:r>
              <a:rPr sz="1575" b="0">
                <a:solidFill>
                  <a:srgbClr val="173E65"/>
                </a:solidFill>
              </a:rPr>
              <a:t>GPT-4o exact match on MMQA</a:t>
            </a:r>
            <a:endParaRPr sz="1575" b="0">
              <a:solidFill>
                <a:srgbClr val="173E65"/>
              </a:solidFill>
            </a:endParaRPr>
          </a:p>
          <a:p>
            <a:pPr algn="l">
              <a:defRPr sz="1575" b="0">
                <a:solidFill>
                  <a:srgbClr val="173E65"/>
                </a:solidFill>
              </a:defRPr>
            </a:pPr>
            <a:r>
              <a:rPr sz="1575" b="0">
                <a:solidFill>
                  <a:srgbClr val="173E65"/>
                </a:solidFill>
              </a:rPr>
              <a:t>without seeing the image</a:t>
            </a:r>
            <a:endParaRPr sz="1575" b="0">
              <a:solidFill>
                <a:srgbClr val="173E65"/>
              </a:solidFill>
            </a:endParaRPr>
          </a:p>
        </p:txBody>
      </p:sp>
      <p:sp>
        <p:nvSpPr>
          <p:cNvPr id="7" name="矩形 6"/>
          <p:cNvSpPr>
            <a:spLocks noGrp="1"/>
          </p:cNvSpPr>
          <p:nvPr/>
        </p:nvSpPr>
        <p:spPr>
          <a:xfrm>
            <a:off x="666750" y="3295650"/>
            <a:ext cx="2190750" cy="819150"/>
          </a:xfrm>
          <a:prstGeom prst="rect">
            <a:avLst/>
          </a:prstGeom>
          <a:noFill/>
          <a:ln w="0">
            <a:noFill/>
          </a:ln>
        </p:spPr>
        <p:txBody>
          <a:bodyPr anchor="ctr"/>
          <a:lstStyle>
            <a:defPPr algn="l">
              <a:defRPr sz="4275" b="1">
                <a:solidFill>
                  <a:srgbClr val="8BA7C2"/>
                </a:solidFill>
              </a:defRPr>
            </a:defPPr>
          </a:lstStyle>
          <a:p>
            <a:pPr algn="l">
              <a:defRPr sz="4275" b="1">
                <a:solidFill>
                  <a:srgbClr val="8BA7C2"/>
                </a:solidFill>
              </a:defRPr>
            </a:pPr>
            <a:r>
              <a:rPr sz="4275" b="1">
                <a:solidFill>
                  <a:srgbClr val="8BA7C2"/>
                </a:solidFill>
              </a:rPr>
              <a:t>0.8%</a:t>
            </a:r>
            <a:endParaRPr sz="4275" b="1">
              <a:solidFill>
                <a:srgbClr val="8BA7C2"/>
              </a:solidFill>
            </a:endParaRPr>
          </a:p>
        </p:txBody>
      </p:sp>
      <p:sp>
        <p:nvSpPr>
          <p:cNvPr id="8" name="矩形 7"/>
          <p:cNvSpPr>
            <a:spLocks noGrp="1"/>
          </p:cNvSpPr>
          <p:nvPr/>
        </p:nvSpPr>
        <p:spPr>
          <a:xfrm>
            <a:off x="704850" y="4114800"/>
            <a:ext cx="3143250" cy="742950"/>
          </a:xfrm>
          <a:prstGeom prst="rect">
            <a:avLst/>
          </a:prstGeom>
          <a:noFill/>
          <a:ln w="0">
            <a:noFill/>
          </a:ln>
        </p:spPr>
        <p:txBody>
          <a:bodyPr anchor="ctr"/>
          <a:lstStyle>
            <a:defPPr algn="l">
              <a:defRPr sz="1575" b="0">
                <a:solidFill>
                  <a:srgbClr val="173E65"/>
                </a:solidFill>
              </a:defRPr>
            </a:defPPr>
          </a:lstStyle>
          <a:p>
            <a:pPr algn="l">
              <a:defRPr sz="1575" b="0">
                <a:solidFill>
                  <a:srgbClr val="173E65"/>
                </a:solidFill>
              </a:defRPr>
            </a:pPr>
            <a:r>
              <a:rPr sz="1575" b="0">
                <a:solidFill>
                  <a:srgbClr val="173E65"/>
                </a:solidFill>
              </a:rPr>
              <a:t>of MMQA questions truly use</a:t>
            </a:r>
            <a:endParaRPr sz="1575" b="0">
              <a:solidFill>
                <a:srgbClr val="173E65"/>
              </a:solidFill>
            </a:endParaRPr>
          </a:p>
          <a:p>
            <a:pPr algn="l">
              <a:defRPr sz="1575" b="0">
                <a:solidFill>
                  <a:srgbClr val="173E65"/>
                </a:solidFill>
              </a:defRPr>
            </a:pPr>
            <a:r>
              <a:rPr sz="1575" b="0">
                <a:solidFill>
                  <a:srgbClr val="173E65"/>
                </a:solidFill>
              </a:rPr>
              <a:t>three modalities</a:t>
            </a:r>
            <a:endParaRPr sz="1575" b="0">
              <a:solidFill>
                <a:srgbClr val="173E65"/>
              </a:solidFill>
            </a:endParaRPr>
          </a:p>
        </p:txBody>
      </p:sp>
      <p:sp>
        <p:nvSpPr>
          <p:cNvPr id="9" name="圆角矩形 8"/>
          <p:cNvSpPr>
            <a:spLocks noGrp="1"/>
          </p:cNvSpPr>
          <p:nvPr/>
        </p:nvSpPr>
        <p:spPr>
          <a:xfrm>
            <a:off x="4262436" y="1133475"/>
            <a:ext cx="7000875" cy="4591050"/>
          </a:xfrm>
          <a:prstGeom prst="roundRect">
            <a:avLst>
              <a:gd name="adj" fmla="val 2490"/>
            </a:avLst>
          </a:prstGeom>
          <a:solidFill>
            <a:srgbClr val="F4F6F8"/>
          </a:solidFill>
          <a:ln w="9525">
            <a:solidFill>
              <a:srgbClr val="C8D5E2"/>
            </a:solidFill>
          </a:ln>
        </p:spPr>
      </p:sp>
      <p:pic>
        <p:nvPicPr>
          <p:cNvPr id="10" name="图片 9"/>
          <p:cNvPicPr>
            <a:picLocks noChangeAspect="1"/>
          </p:cNvPicPr>
          <p:nvPr/>
        </p:nvPicPr>
        <p:blipFill>
          <a:blip r:embed="rId1"/>
          <a:srcRect t="2818" b="2471"/>
          <a:stretch>
            <a:fillRect/>
          </a:stretch>
        </p:blipFill>
        <p:spPr>
          <a:xfrm>
            <a:off x="5946319" y="1421780"/>
            <a:ext cx="3633107" cy="4014440"/>
          </a:xfrm>
          <a:prstGeom prst="rect">
            <a:avLst/>
          </a:prstGeom>
        </p:spPr>
      </p:pic>
      <p:sp>
        <p:nvSpPr>
          <p:cNvPr id="11" name="矩形 10"/>
          <p:cNvSpPr>
            <a:spLocks noGrp="1"/>
          </p:cNvSpPr>
          <p:nvPr/>
        </p:nvSpPr>
        <p:spPr>
          <a:xfrm>
            <a:off x="666750" y="5886450"/>
            <a:ext cx="10572750" cy="457200"/>
          </a:xfrm>
          <a:prstGeom prst="rect">
            <a:avLst/>
          </a:prstGeom>
          <a:noFill/>
          <a:ln w="0">
            <a:noFill/>
          </a:ln>
        </p:spPr>
        <p:txBody>
          <a:bodyPr anchor="ctr"/>
          <a:lstStyle>
            <a:defPPr algn="ctr">
              <a:defRPr sz="1875" b="1">
                <a:solidFill>
                  <a:srgbClr val="2A5989"/>
                </a:solidFill>
              </a:defRPr>
            </a:defPPr>
          </a:lstStyle>
          <a:p>
            <a:pPr algn="ctr">
              <a:defRPr sz="1875" b="1">
                <a:solidFill>
                  <a:srgbClr val="2A5989"/>
                </a:solidFill>
              </a:defRPr>
            </a:pPr>
            <a:r>
              <a:rPr sz="1875" b="1">
                <a:solidFill>
                  <a:srgbClr val="2A5989"/>
                </a:solidFill>
              </a:rPr>
              <a:t>A model may recall an answer or ignore one modality and still score well.</a:t>
            </a:r>
            <a:endParaRPr sz="1875" b="1">
              <a:solidFill>
                <a:srgbClr val="2A5989"/>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Grp="1"/>
          </p:cNvSpPr>
          <p:nvPr/>
        </p:nvSpPr>
        <p:spPr>
          <a:xfrm>
            <a:off x="1117910" y="423863"/>
            <a:ext cx="10287000" cy="571500"/>
          </a:xfrm>
          <a:prstGeom prst="rect">
            <a:avLst/>
          </a:prstGeom>
          <a:noFill/>
          <a:ln w="0">
            <a:noFill/>
          </a:ln>
        </p:spPr>
        <p:txBody>
          <a:bodyPr anchor="ctr"/>
          <a:lstStyle>
            <a:defPPr algn="l">
              <a:defRPr sz="2250" b="1">
                <a:solidFill>
                  <a:srgbClr val="2A5989"/>
                </a:solidFill>
              </a:defRPr>
            </a:defPPr>
          </a:lstStyle>
          <a:p>
            <a:pPr algn="l">
              <a:defRPr sz="2250" b="1">
                <a:solidFill>
                  <a:srgbClr val="2A5989"/>
                </a:solidFill>
              </a:defRPr>
            </a:pPr>
            <a:r>
              <a:rPr sz="2250" b="1" dirty="0">
                <a:solidFill>
                  <a:srgbClr val="2A5989"/>
                </a:solidFill>
              </a:rPr>
              <a:t>FCMR forces evidence integration across three modalities</a:t>
            </a:r>
            <a:endParaRPr sz="2250" b="1" dirty="0">
              <a:solidFill>
                <a:srgbClr val="2A5989"/>
              </a:solidFill>
            </a:endParaRPr>
          </a:p>
        </p:txBody>
      </p:sp>
      <p:sp>
        <p:nvSpPr>
          <p:cNvPr id="5" name="圆角矩形 4"/>
          <p:cNvSpPr>
            <a:spLocks noGrp="1"/>
          </p:cNvSpPr>
          <p:nvPr/>
        </p:nvSpPr>
        <p:spPr>
          <a:xfrm>
            <a:off x="1037062" y="1066800"/>
            <a:ext cx="10287001" cy="4191000"/>
          </a:xfrm>
          <a:prstGeom prst="roundRect">
            <a:avLst>
              <a:gd name="adj" fmla="val 2727"/>
            </a:avLst>
          </a:prstGeom>
          <a:solidFill>
            <a:srgbClr val="FFFFFF"/>
          </a:solidFill>
          <a:ln w="9525">
            <a:solidFill>
              <a:srgbClr val="C8D5E2"/>
            </a:solidFill>
          </a:ln>
        </p:spPr>
      </p:sp>
      <p:pic>
        <p:nvPicPr>
          <p:cNvPr id="6" name="图片 5"/>
          <p:cNvPicPr>
            <a:picLocks noChangeAspect="1"/>
          </p:cNvPicPr>
          <p:nvPr/>
        </p:nvPicPr>
        <p:blipFill>
          <a:blip r:embed="rId1"/>
          <a:stretch>
            <a:fillRect/>
          </a:stretch>
        </p:blipFill>
        <p:spPr>
          <a:xfrm>
            <a:off x="2850931" y="1181100"/>
            <a:ext cx="6490138" cy="3962400"/>
          </a:xfrm>
          <a:prstGeom prst="rect">
            <a:avLst/>
          </a:prstGeom>
        </p:spPr>
      </p:pic>
      <p:sp>
        <p:nvSpPr>
          <p:cNvPr id="7" name="矩形 6"/>
          <p:cNvSpPr>
            <a:spLocks noGrp="1"/>
          </p:cNvSpPr>
          <p:nvPr/>
        </p:nvSpPr>
        <p:spPr>
          <a:xfrm>
            <a:off x="790575" y="5451552"/>
            <a:ext cx="1123950" cy="552450"/>
          </a:xfrm>
          <a:prstGeom prst="rect">
            <a:avLst/>
          </a:prstGeom>
          <a:noFill/>
          <a:ln w="0">
            <a:noFill/>
          </a:ln>
        </p:spPr>
        <p:txBody>
          <a:bodyPr anchor="ctr"/>
          <a:lstStyle>
            <a:defPPr algn="ctr">
              <a:defRPr sz="2325" b="1">
                <a:solidFill>
                  <a:srgbClr val="2A5989"/>
                </a:solidFill>
              </a:defRPr>
            </a:defPPr>
          </a:lstStyle>
          <a:p>
            <a:pPr algn="ctr">
              <a:defRPr sz="2325" b="1">
                <a:solidFill>
                  <a:srgbClr val="2A5989"/>
                </a:solidFill>
              </a:defRPr>
            </a:pPr>
            <a:r>
              <a:rPr sz="2325" b="1" dirty="0">
                <a:solidFill>
                  <a:srgbClr val="2A5989"/>
                </a:solidFill>
              </a:rPr>
              <a:t>2,199</a:t>
            </a:r>
            <a:endParaRPr sz="2325" b="1" dirty="0">
              <a:solidFill>
                <a:srgbClr val="2A5989"/>
              </a:solidFill>
            </a:endParaRPr>
          </a:p>
        </p:txBody>
      </p:sp>
      <p:sp>
        <p:nvSpPr>
          <p:cNvPr id="8" name="矩形 7"/>
          <p:cNvSpPr>
            <a:spLocks noGrp="1"/>
          </p:cNvSpPr>
          <p:nvPr/>
        </p:nvSpPr>
        <p:spPr>
          <a:xfrm>
            <a:off x="1828800" y="5476875"/>
            <a:ext cx="1524000" cy="514350"/>
          </a:xfrm>
          <a:prstGeom prst="rect">
            <a:avLst/>
          </a:prstGeom>
          <a:noFill/>
          <a:ln w="0">
            <a:noFill/>
          </a:ln>
        </p:spPr>
        <p:txBody>
          <a:bodyPr anchor="ctr"/>
          <a:lstStyle>
            <a:defPPr algn="l">
              <a:defRPr sz="1350" b="0">
                <a:solidFill>
                  <a:srgbClr val="173E65"/>
                </a:solidFill>
              </a:defRPr>
            </a:defPPr>
          </a:lstStyle>
          <a:p>
            <a:pPr algn="l">
              <a:defRPr sz="1350" b="0">
                <a:solidFill>
                  <a:srgbClr val="173E65"/>
                </a:solidFill>
              </a:defRPr>
            </a:pPr>
            <a:r>
              <a:rPr sz="1350" b="0" dirty="0">
                <a:solidFill>
                  <a:srgbClr val="173E65"/>
                </a:solidFill>
              </a:rPr>
              <a:t>questions</a:t>
            </a:r>
            <a:endParaRPr sz="1350" b="0" dirty="0">
              <a:solidFill>
                <a:srgbClr val="173E65"/>
              </a:solidFill>
            </a:endParaRPr>
          </a:p>
        </p:txBody>
      </p:sp>
      <p:sp>
        <p:nvSpPr>
          <p:cNvPr id="9" name="矩形 8"/>
          <p:cNvSpPr>
            <a:spLocks noGrp="1"/>
          </p:cNvSpPr>
          <p:nvPr/>
        </p:nvSpPr>
        <p:spPr>
          <a:xfrm>
            <a:off x="3543300" y="5457825"/>
            <a:ext cx="1123950" cy="552450"/>
          </a:xfrm>
          <a:prstGeom prst="rect">
            <a:avLst/>
          </a:prstGeom>
          <a:noFill/>
          <a:ln w="0">
            <a:noFill/>
          </a:ln>
        </p:spPr>
        <p:txBody>
          <a:bodyPr anchor="ctr"/>
          <a:lstStyle>
            <a:defPPr algn="ctr">
              <a:defRPr sz="2325" b="1">
                <a:solidFill>
                  <a:srgbClr val="2A5989"/>
                </a:solidFill>
              </a:defRPr>
            </a:defPPr>
          </a:lstStyle>
          <a:p>
            <a:pPr algn="ctr">
              <a:defRPr sz="2325" b="1">
                <a:solidFill>
                  <a:srgbClr val="2A5989"/>
                </a:solidFill>
              </a:defRPr>
            </a:pPr>
            <a:r>
              <a:rPr sz="2325" b="1">
                <a:solidFill>
                  <a:srgbClr val="2A5989"/>
                </a:solidFill>
              </a:rPr>
              <a:t>3</a:t>
            </a:r>
            <a:endParaRPr sz="2325" b="1">
              <a:solidFill>
                <a:srgbClr val="2A5989"/>
              </a:solidFill>
            </a:endParaRPr>
          </a:p>
        </p:txBody>
      </p:sp>
      <p:sp>
        <p:nvSpPr>
          <p:cNvPr id="10" name="矩形 9"/>
          <p:cNvSpPr>
            <a:spLocks noGrp="1"/>
          </p:cNvSpPr>
          <p:nvPr/>
        </p:nvSpPr>
        <p:spPr>
          <a:xfrm>
            <a:off x="4248150" y="5476875"/>
            <a:ext cx="1524000" cy="514350"/>
          </a:xfrm>
          <a:prstGeom prst="rect">
            <a:avLst/>
          </a:prstGeom>
          <a:noFill/>
          <a:ln w="0">
            <a:noFill/>
          </a:ln>
        </p:spPr>
        <p:txBody>
          <a:bodyPr anchor="ctr"/>
          <a:lstStyle>
            <a:defPPr algn="l">
              <a:defRPr sz="1350" b="0">
                <a:solidFill>
                  <a:srgbClr val="173E65"/>
                </a:solidFill>
              </a:defRPr>
            </a:defPPr>
          </a:lstStyle>
          <a:p>
            <a:pPr algn="l">
              <a:defRPr sz="1350" b="0">
                <a:solidFill>
                  <a:srgbClr val="173E65"/>
                </a:solidFill>
              </a:defRPr>
            </a:pPr>
            <a:r>
              <a:rPr sz="1350" b="0" dirty="0">
                <a:solidFill>
                  <a:srgbClr val="173E65"/>
                </a:solidFill>
              </a:rPr>
              <a:t>difficulty levels</a:t>
            </a:r>
            <a:endParaRPr sz="1350" b="0" dirty="0">
              <a:solidFill>
                <a:srgbClr val="173E65"/>
              </a:solidFill>
            </a:endParaRPr>
          </a:p>
        </p:txBody>
      </p:sp>
      <p:sp>
        <p:nvSpPr>
          <p:cNvPr id="11" name="矩形 10"/>
          <p:cNvSpPr>
            <a:spLocks noGrp="1"/>
          </p:cNvSpPr>
          <p:nvPr/>
        </p:nvSpPr>
        <p:spPr>
          <a:xfrm>
            <a:off x="6477000" y="5451552"/>
            <a:ext cx="1123950" cy="552450"/>
          </a:xfrm>
          <a:prstGeom prst="rect">
            <a:avLst/>
          </a:prstGeom>
          <a:noFill/>
          <a:ln w="0">
            <a:noFill/>
          </a:ln>
        </p:spPr>
        <p:txBody>
          <a:bodyPr anchor="ctr"/>
          <a:lstStyle>
            <a:defPPr algn="ctr">
              <a:defRPr sz="2325" b="1">
                <a:solidFill>
                  <a:srgbClr val="547DA5"/>
                </a:solidFill>
              </a:defRPr>
            </a:defPPr>
          </a:lstStyle>
          <a:p>
            <a:pPr algn="ctr">
              <a:defRPr sz="2325" b="1">
                <a:solidFill>
                  <a:srgbClr val="547DA5"/>
                </a:solidFill>
              </a:defRPr>
            </a:pPr>
            <a:r>
              <a:rPr sz="2325" b="1" dirty="0">
                <a:solidFill>
                  <a:srgbClr val="547DA5"/>
                </a:solidFill>
              </a:rPr>
              <a:t>3-hop</a:t>
            </a:r>
            <a:endParaRPr sz="2325" b="1" dirty="0">
              <a:solidFill>
                <a:srgbClr val="547DA5"/>
              </a:solidFill>
            </a:endParaRPr>
          </a:p>
        </p:txBody>
      </p:sp>
      <p:sp>
        <p:nvSpPr>
          <p:cNvPr id="12" name="矩形 11"/>
          <p:cNvSpPr>
            <a:spLocks noGrp="1"/>
          </p:cNvSpPr>
          <p:nvPr/>
        </p:nvSpPr>
        <p:spPr>
          <a:xfrm>
            <a:off x="7467600" y="5476875"/>
            <a:ext cx="1524000" cy="514350"/>
          </a:xfrm>
          <a:prstGeom prst="rect">
            <a:avLst/>
          </a:prstGeom>
          <a:noFill/>
          <a:ln w="0">
            <a:noFill/>
          </a:ln>
        </p:spPr>
        <p:txBody>
          <a:bodyPr anchor="ctr"/>
          <a:lstStyle>
            <a:defPPr algn="l">
              <a:defRPr sz="1350" b="0">
                <a:solidFill>
                  <a:srgbClr val="173E65"/>
                </a:solidFill>
              </a:defRPr>
            </a:defPPr>
          </a:lstStyle>
          <a:p>
            <a:pPr algn="l">
              <a:defRPr sz="1350" b="0">
                <a:solidFill>
                  <a:srgbClr val="173E65"/>
                </a:solidFill>
              </a:defRPr>
            </a:pPr>
            <a:r>
              <a:rPr sz="1350" b="0">
                <a:solidFill>
                  <a:srgbClr val="173E65"/>
                </a:solidFill>
              </a:rPr>
              <a:t>hard reasoning</a:t>
            </a:r>
            <a:endParaRPr sz="1350" b="0">
              <a:solidFill>
                <a:srgbClr val="173E65"/>
              </a:solidFill>
            </a:endParaRPr>
          </a:p>
        </p:txBody>
      </p:sp>
      <p:sp>
        <p:nvSpPr>
          <p:cNvPr id="13" name="矩形 12"/>
          <p:cNvSpPr>
            <a:spLocks noGrp="1"/>
          </p:cNvSpPr>
          <p:nvPr/>
        </p:nvSpPr>
        <p:spPr>
          <a:xfrm>
            <a:off x="9410700" y="5451552"/>
            <a:ext cx="1123950" cy="552450"/>
          </a:xfrm>
          <a:prstGeom prst="rect">
            <a:avLst/>
          </a:prstGeom>
          <a:noFill/>
          <a:ln w="0">
            <a:noFill/>
          </a:ln>
        </p:spPr>
        <p:txBody>
          <a:bodyPr anchor="ctr"/>
          <a:lstStyle>
            <a:defPPr algn="ctr">
              <a:defRPr sz="2325" b="1">
                <a:solidFill>
                  <a:srgbClr val="2A5989"/>
                </a:solidFill>
              </a:defRPr>
            </a:defPPr>
          </a:lstStyle>
          <a:p>
            <a:pPr algn="ctr">
              <a:defRPr sz="2325" b="1">
                <a:solidFill>
                  <a:srgbClr val="2A5989"/>
                </a:solidFill>
              </a:defRPr>
            </a:pPr>
            <a:r>
              <a:rPr sz="2325" b="1" dirty="0">
                <a:solidFill>
                  <a:srgbClr val="2A5989"/>
                </a:solidFill>
              </a:rPr>
              <a:t>All</a:t>
            </a:r>
            <a:endParaRPr sz="2325" b="1" dirty="0">
              <a:solidFill>
                <a:srgbClr val="2A5989"/>
              </a:solidFill>
            </a:endParaRPr>
          </a:p>
        </p:txBody>
      </p:sp>
      <p:sp>
        <p:nvSpPr>
          <p:cNvPr id="14" name="矩形 13"/>
          <p:cNvSpPr>
            <a:spLocks noGrp="1"/>
          </p:cNvSpPr>
          <p:nvPr/>
        </p:nvSpPr>
        <p:spPr>
          <a:xfrm>
            <a:off x="10287000" y="5476875"/>
            <a:ext cx="1524000" cy="514350"/>
          </a:xfrm>
          <a:prstGeom prst="rect">
            <a:avLst/>
          </a:prstGeom>
          <a:noFill/>
          <a:ln w="0">
            <a:noFill/>
          </a:ln>
        </p:spPr>
        <p:txBody>
          <a:bodyPr anchor="ctr"/>
          <a:lstStyle>
            <a:defPPr algn="l">
              <a:defRPr sz="1350" b="0">
                <a:solidFill>
                  <a:srgbClr val="173E65"/>
                </a:solidFill>
              </a:defRPr>
            </a:defPPr>
          </a:lstStyle>
          <a:p>
            <a:pPr algn="l">
              <a:defRPr sz="1350" b="0">
                <a:solidFill>
                  <a:srgbClr val="173E65"/>
                </a:solidFill>
              </a:defRPr>
            </a:pPr>
            <a:r>
              <a:rPr sz="1350" b="0">
                <a:solidFill>
                  <a:srgbClr val="173E65"/>
                </a:solidFill>
              </a:rPr>
              <a:t>modalities required</a:t>
            </a:r>
            <a:endParaRPr sz="1350" b="0">
              <a:solidFill>
                <a:srgbClr val="173E65"/>
              </a:solidFill>
            </a:endParaRPr>
          </a:p>
        </p:txBody>
      </p:sp>
      <p:sp>
        <p:nvSpPr>
          <p:cNvPr id="15" name="矩形 14"/>
          <p:cNvSpPr>
            <a:spLocks noGrp="1"/>
          </p:cNvSpPr>
          <p:nvPr/>
        </p:nvSpPr>
        <p:spPr>
          <a:xfrm>
            <a:off x="1352550" y="6023052"/>
            <a:ext cx="9486900" cy="472998"/>
          </a:xfrm>
          <a:prstGeom prst="rect">
            <a:avLst/>
          </a:prstGeom>
          <a:noFill/>
          <a:ln w="0">
            <a:noFill/>
          </a:ln>
        </p:spPr>
        <p:txBody>
          <a:bodyPr anchor="ctr"/>
          <a:lstStyle>
            <a:defPPr algn="ctr">
              <a:defRPr sz="1500" b="1">
                <a:solidFill>
                  <a:srgbClr val="2A5989"/>
                </a:solidFill>
              </a:defRPr>
            </a:defPPr>
          </a:lstStyle>
          <a:p>
            <a:pPr algn="ctr">
              <a:defRPr sz="1500" b="1">
                <a:solidFill>
                  <a:srgbClr val="2A5989"/>
                </a:solidFill>
              </a:defRPr>
            </a:pPr>
            <a:r>
              <a:rPr sz="1600" b="1" dirty="0">
                <a:solidFill>
                  <a:srgbClr val="2A5989"/>
                </a:solidFill>
              </a:rPr>
              <a:t>Hard questions require three-hop reasoning across text, tables, and charts.</a:t>
            </a:r>
            <a:endParaRPr sz="1600" b="1" dirty="0">
              <a:solidFill>
                <a:srgbClr val="2A5989"/>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Grp="1"/>
          </p:cNvSpPr>
          <p:nvPr/>
        </p:nvSpPr>
        <p:spPr>
          <a:xfrm>
            <a:off x="1114657" y="409575"/>
            <a:ext cx="10287000" cy="571500"/>
          </a:xfrm>
          <a:prstGeom prst="rect">
            <a:avLst/>
          </a:prstGeom>
          <a:noFill/>
          <a:ln w="0">
            <a:noFill/>
          </a:ln>
        </p:spPr>
        <p:txBody>
          <a:bodyPr anchor="ctr"/>
          <a:lstStyle>
            <a:defPPr algn="l">
              <a:defRPr sz="2250" b="1">
                <a:solidFill>
                  <a:srgbClr val="2A5989"/>
                </a:solidFill>
              </a:defRPr>
            </a:defPPr>
          </a:lstStyle>
          <a:p>
            <a:pPr algn="l">
              <a:defRPr sz="2250" b="1">
                <a:solidFill>
                  <a:srgbClr val="2A5989"/>
                </a:solidFill>
              </a:defRPr>
            </a:pPr>
            <a:r>
              <a:rPr sz="2250" b="1" dirty="0">
                <a:solidFill>
                  <a:srgbClr val="2A5989"/>
                </a:solidFill>
              </a:rPr>
              <a:t>State-of-the-art models still fail on hard reasoning</a:t>
            </a:r>
            <a:endParaRPr sz="2250" b="1" dirty="0">
              <a:solidFill>
                <a:srgbClr val="2A5989"/>
              </a:solidFill>
            </a:endParaRPr>
          </a:p>
        </p:txBody>
      </p:sp>
      <p:sp>
        <p:nvSpPr>
          <p:cNvPr id="5" name="矩形 4"/>
          <p:cNvSpPr>
            <a:spLocks noGrp="1"/>
          </p:cNvSpPr>
          <p:nvPr/>
        </p:nvSpPr>
        <p:spPr>
          <a:xfrm>
            <a:off x="723900" y="1200150"/>
            <a:ext cx="5810250" cy="381000"/>
          </a:xfrm>
          <a:prstGeom prst="rect">
            <a:avLst/>
          </a:prstGeom>
          <a:noFill/>
          <a:ln w="0">
            <a:noFill/>
          </a:ln>
        </p:spPr>
        <p:txBody>
          <a:bodyPr anchor="ctr"/>
          <a:lstStyle>
            <a:defPPr algn="l">
              <a:defRPr sz="1500" b="1">
                <a:solidFill>
                  <a:srgbClr val="173E65"/>
                </a:solidFill>
              </a:defRPr>
            </a:defPPr>
          </a:lstStyle>
          <a:p>
            <a:pPr algn="l">
              <a:defRPr sz="1500" b="1">
                <a:solidFill>
                  <a:srgbClr val="173E65"/>
                </a:solidFill>
              </a:defRPr>
            </a:pPr>
            <a:r>
              <a:rPr sz="1500" b="1" dirty="0">
                <a:solidFill>
                  <a:srgbClr val="173E65"/>
                </a:solidFill>
              </a:rPr>
              <a:t>Accuracy on the Hard split (%)</a:t>
            </a:r>
            <a:endParaRPr sz="1500" b="1" dirty="0">
              <a:solidFill>
                <a:srgbClr val="173E65"/>
              </a:solidFill>
            </a:endParaRPr>
          </a:p>
        </p:txBody>
      </p:sp>
      <p:sp>
        <p:nvSpPr>
          <p:cNvPr id="6" name="矩形 5"/>
          <p:cNvSpPr>
            <a:spLocks noGrp="1"/>
          </p:cNvSpPr>
          <p:nvPr/>
        </p:nvSpPr>
        <p:spPr>
          <a:xfrm>
            <a:off x="723900" y="1924050"/>
            <a:ext cx="1809750" cy="400050"/>
          </a:xfrm>
          <a:prstGeom prst="rect">
            <a:avLst/>
          </a:prstGeom>
          <a:noFill/>
          <a:ln w="0">
            <a:noFill/>
          </a:ln>
        </p:spPr>
        <p:txBody>
          <a:bodyPr anchor="ctr"/>
          <a:lstStyle>
            <a:defPPr algn="l">
              <a:defRPr sz="1350" b="1">
                <a:solidFill>
                  <a:srgbClr val="173E65"/>
                </a:solidFill>
              </a:defRPr>
            </a:defPPr>
          </a:lstStyle>
          <a:p>
            <a:pPr algn="l">
              <a:defRPr sz="1350" b="1">
                <a:solidFill>
                  <a:srgbClr val="173E65"/>
                </a:solidFill>
              </a:defRPr>
            </a:pPr>
            <a:r>
              <a:rPr sz="1350" b="1">
                <a:solidFill>
                  <a:srgbClr val="173E65"/>
                </a:solidFill>
              </a:rPr>
              <a:t>Random</a:t>
            </a:r>
            <a:endParaRPr sz="1350" b="1">
              <a:solidFill>
                <a:srgbClr val="173E65"/>
              </a:solidFill>
            </a:endParaRPr>
          </a:p>
        </p:txBody>
      </p:sp>
      <p:sp>
        <p:nvSpPr>
          <p:cNvPr id="7" name="圆角矩形 6"/>
          <p:cNvSpPr>
            <a:spLocks noGrp="1"/>
          </p:cNvSpPr>
          <p:nvPr/>
        </p:nvSpPr>
        <p:spPr>
          <a:xfrm>
            <a:off x="2495550" y="1952625"/>
            <a:ext cx="4095750" cy="323850"/>
          </a:xfrm>
          <a:prstGeom prst="roundRect">
            <a:avLst>
              <a:gd name="adj" fmla="val 35294"/>
            </a:avLst>
          </a:prstGeom>
          <a:solidFill>
            <a:srgbClr val="F4F6F8"/>
          </a:solidFill>
          <a:ln w="0">
            <a:solidFill>
              <a:srgbClr val="F4F6F8"/>
            </a:solidFill>
          </a:ln>
        </p:spPr>
      </p:sp>
      <p:sp>
        <p:nvSpPr>
          <p:cNvPr id="8" name="圆角矩形 7"/>
          <p:cNvSpPr>
            <a:spLocks noGrp="1"/>
          </p:cNvSpPr>
          <p:nvPr/>
        </p:nvSpPr>
        <p:spPr>
          <a:xfrm>
            <a:off x="2495550" y="1952625"/>
            <a:ext cx="1437023" cy="323850"/>
          </a:xfrm>
          <a:prstGeom prst="roundRect">
            <a:avLst>
              <a:gd name="adj" fmla="val 35294"/>
            </a:avLst>
          </a:prstGeom>
          <a:solidFill>
            <a:srgbClr val="C8D5E2"/>
          </a:solidFill>
          <a:ln w="0">
            <a:solidFill>
              <a:srgbClr val="C8D5E2"/>
            </a:solidFill>
          </a:ln>
        </p:spPr>
      </p:sp>
      <p:sp>
        <p:nvSpPr>
          <p:cNvPr id="9" name="矩形 8"/>
          <p:cNvSpPr>
            <a:spLocks noGrp="1"/>
          </p:cNvSpPr>
          <p:nvPr/>
        </p:nvSpPr>
        <p:spPr>
          <a:xfrm>
            <a:off x="6705600" y="1914525"/>
            <a:ext cx="628650" cy="400050"/>
          </a:xfrm>
          <a:prstGeom prst="rect">
            <a:avLst/>
          </a:prstGeom>
          <a:noFill/>
          <a:ln w="0">
            <a:noFill/>
          </a:ln>
        </p:spPr>
        <p:txBody>
          <a:bodyPr anchor="ctr"/>
          <a:lstStyle>
            <a:defPPr algn="r">
              <a:defRPr sz="1425" b="1">
                <a:solidFill>
                  <a:srgbClr val="173E65"/>
                </a:solidFill>
              </a:defRPr>
            </a:defPPr>
          </a:lstStyle>
          <a:p>
            <a:pPr algn="r">
              <a:defRPr sz="1425" b="1">
                <a:solidFill>
                  <a:srgbClr val="173E65"/>
                </a:solidFill>
              </a:defRPr>
            </a:pPr>
            <a:r>
              <a:rPr sz="1425" b="1">
                <a:solidFill>
                  <a:srgbClr val="173E65"/>
                </a:solidFill>
              </a:rPr>
              <a:t>12.3</a:t>
            </a:r>
            <a:endParaRPr sz="1425" b="1">
              <a:solidFill>
                <a:srgbClr val="173E65"/>
              </a:solidFill>
            </a:endParaRPr>
          </a:p>
        </p:txBody>
      </p:sp>
      <p:sp>
        <p:nvSpPr>
          <p:cNvPr id="10" name="矩形 9"/>
          <p:cNvSpPr>
            <a:spLocks noGrp="1"/>
          </p:cNvSpPr>
          <p:nvPr/>
        </p:nvSpPr>
        <p:spPr>
          <a:xfrm>
            <a:off x="723900" y="2924175"/>
            <a:ext cx="1809750" cy="400050"/>
          </a:xfrm>
          <a:prstGeom prst="rect">
            <a:avLst/>
          </a:prstGeom>
          <a:noFill/>
          <a:ln w="0">
            <a:noFill/>
          </a:ln>
        </p:spPr>
        <p:txBody>
          <a:bodyPr anchor="ctr"/>
          <a:lstStyle>
            <a:defPPr algn="l">
              <a:defRPr sz="1350" b="1">
                <a:solidFill>
                  <a:srgbClr val="173E65"/>
                </a:solidFill>
              </a:defRPr>
            </a:defPPr>
          </a:lstStyle>
          <a:p>
            <a:pPr algn="l">
              <a:defRPr sz="1350" b="1">
                <a:solidFill>
                  <a:srgbClr val="173E65"/>
                </a:solidFill>
              </a:defRPr>
            </a:pPr>
            <a:r>
              <a:rPr sz="1350" b="1">
                <a:solidFill>
                  <a:srgbClr val="173E65"/>
                </a:solidFill>
              </a:rPr>
              <a:t>GPT-4o</a:t>
            </a:r>
            <a:endParaRPr sz="1350" b="1">
              <a:solidFill>
                <a:srgbClr val="173E65"/>
              </a:solidFill>
            </a:endParaRPr>
          </a:p>
        </p:txBody>
      </p:sp>
      <p:sp>
        <p:nvSpPr>
          <p:cNvPr id="11" name="圆角矩形 10"/>
          <p:cNvSpPr>
            <a:spLocks noGrp="1"/>
          </p:cNvSpPr>
          <p:nvPr/>
        </p:nvSpPr>
        <p:spPr>
          <a:xfrm>
            <a:off x="2495550" y="2952750"/>
            <a:ext cx="4095750" cy="323850"/>
          </a:xfrm>
          <a:prstGeom prst="roundRect">
            <a:avLst>
              <a:gd name="adj" fmla="val 35294"/>
            </a:avLst>
          </a:prstGeom>
          <a:solidFill>
            <a:srgbClr val="F4F6F8"/>
          </a:solidFill>
          <a:ln w="0">
            <a:solidFill>
              <a:srgbClr val="F4F6F8"/>
            </a:solidFill>
          </a:ln>
        </p:spPr>
      </p:sp>
      <p:sp>
        <p:nvSpPr>
          <p:cNvPr id="12" name="圆角矩形 11"/>
          <p:cNvSpPr>
            <a:spLocks noGrp="1"/>
          </p:cNvSpPr>
          <p:nvPr/>
        </p:nvSpPr>
        <p:spPr>
          <a:xfrm>
            <a:off x="2495550" y="2952750"/>
            <a:ext cx="2851812" cy="323850"/>
          </a:xfrm>
          <a:prstGeom prst="roundRect">
            <a:avLst>
              <a:gd name="adj" fmla="val 35294"/>
            </a:avLst>
          </a:prstGeom>
          <a:solidFill>
            <a:srgbClr val="6E95B9"/>
          </a:solidFill>
          <a:ln w="0">
            <a:solidFill>
              <a:srgbClr val="6E95B9"/>
            </a:solidFill>
          </a:ln>
        </p:spPr>
      </p:sp>
      <p:sp>
        <p:nvSpPr>
          <p:cNvPr id="13" name="矩形 12"/>
          <p:cNvSpPr>
            <a:spLocks noGrp="1"/>
          </p:cNvSpPr>
          <p:nvPr/>
        </p:nvSpPr>
        <p:spPr>
          <a:xfrm>
            <a:off x="6705600" y="2914650"/>
            <a:ext cx="628650" cy="400050"/>
          </a:xfrm>
          <a:prstGeom prst="rect">
            <a:avLst/>
          </a:prstGeom>
          <a:noFill/>
          <a:ln w="0">
            <a:noFill/>
          </a:ln>
        </p:spPr>
        <p:txBody>
          <a:bodyPr anchor="ctr"/>
          <a:lstStyle>
            <a:defPPr algn="r">
              <a:defRPr sz="1425" b="1">
                <a:solidFill>
                  <a:srgbClr val="173E65"/>
                </a:solidFill>
              </a:defRPr>
            </a:defPPr>
          </a:lstStyle>
          <a:p>
            <a:pPr algn="r">
              <a:defRPr sz="1425" b="1">
                <a:solidFill>
                  <a:srgbClr val="173E65"/>
                </a:solidFill>
              </a:defRPr>
            </a:pPr>
            <a:r>
              <a:rPr sz="1425" b="1">
                <a:solidFill>
                  <a:srgbClr val="173E65"/>
                </a:solidFill>
              </a:rPr>
              <a:t>24.4</a:t>
            </a:r>
            <a:endParaRPr sz="1425" b="1">
              <a:solidFill>
                <a:srgbClr val="173E65"/>
              </a:solidFill>
            </a:endParaRPr>
          </a:p>
        </p:txBody>
      </p:sp>
      <p:sp>
        <p:nvSpPr>
          <p:cNvPr id="14" name="矩形 13"/>
          <p:cNvSpPr>
            <a:spLocks noGrp="1"/>
          </p:cNvSpPr>
          <p:nvPr/>
        </p:nvSpPr>
        <p:spPr>
          <a:xfrm>
            <a:off x="723900" y="3924300"/>
            <a:ext cx="1809750" cy="400050"/>
          </a:xfrm>
          <a:prstGeom prst="rect">
            <a:avLst/>
          </a:prstGeom>
          <a:noFill/>
          <a:ln w="0">
            <a:noFill/>
          </a:ln>
        </p:spPr>
        <p:txBody>
          <a:bodyPr anchor="ctr"/>
          <a:lstStyle>
            <a:defPPr algn="l">
              <a:defRPr sz="1350" b="1">
                <a:solidFill>
                  <a:srgbClr val="173E65"/>
                </a:solidFill>
              </a:defRPr>
            </a:defPPr>
          </a:lstStyle>
          <a:p>
            <a:pPr algn="l">
              <a:defRPr sz="1350" b="1">
                <a:solidFill>
                  <a:srgbClr val="173E65"/>
                </a:solidFill>
              </a:defRPr>
            </a:pPr>
            <a:r>
              <a:rPr sz="1350" b="1">
                <a:solidFill>
                  <a:srgbClr val="173E65"/>
                </a:solidFill>
              </a:rPr>
              <a:t>Claude 3.5 Sonnet</a:t>
            </a:r>
            <a:endParaRPr sz="1350" b="1">
              <a:solidFill>
                <a:srgbClr val="173E65"/>
              </a:solidFill>
            </a:endParaRPr>
          </a:p>
        </p:txBody>
      </p:sp>
      <p:sp>
        <p:nvSpPr>
          <p:cNvPr id="15" name="圆角矩形 14"/>
          <p:cNvSpPr>
            <a:spLocks noGrp="1"/>
          </p:cNvSpPr>
          <p:nvPr/>
        </p:nvSpPr>
        <p:spPr>
          <a:xfrm>
            <a:off x="2495550" y="3952875"/>
            <a:ext cx="4095750" cy="323850"/>
          </a:xfrm>
          <a:prstGeom prst="roundRect">
            <a:avLst>
              <a:gd name="adj" fmla="val 35294"/>
            </a:avLst>
          </a:prstGeom>
          <a:solidFill>
            <a:srgbClr val="F4F6F8"/>
          </a:solidFill>
          <a:ln w="0">
            <a:solidFill>
              <a:srgbClr val="F4F6F8"/>
            </a:solidFill>
          </a:ln>
        </p:spPr>
      </p:sp>
      <p:sp>
        <p:nvSpPr>
          <p:cNvPr id="16" name="圆角矩形 15"/>
          <p:cNvSpPr>
            <a:spLocks noGrp="1"/>
          </p:cNvSpPr>
          <p:nvPr/>
        </p:nvSpPr>
        <p:spPr>
          <a:xfrm>
            <a:off x="2495550" y="3952875"/>
            <a:ext cx="3556281" cy="323850"/>
          </a:xfrm>
          <a:prstGeom prst="roundRect">
            <a:avLst>
              <a:gd name="adj" fmla="val 35294"/>
            </a:avLst>
          </a:prstGeom>
          <a:solidFill>
            <a:srgbClr val="2A5989"/>
          </a:solidFill>
          <a:ln w="0">
            <a:solidFill>
              <a:srgbClr val="2A5989"/>
            </a:solidFill>
          </a:ln>
        </p:spPr>
      </p:sp>
      <p:sp>
        <p:nvSpPr>
          <p:cNvPr id="17" name="矩形 16"/>
          <p:cNvSpPr>
            <a:spLocks noGrp="1"/>
          </p:cNvSpPr>
          <p:nvPr/>
        </p:nvSpPr>
        <p:spPr>
          <a:xfrm>
            <a:off x="6705600" y="3914775"/>
            <a:ext cx="628650" cy="400050"/>
          </a:xfrm>
          <a:prstGeom prst="rect">
            <a:avLst/>
          </a:prstGeom>
          <a:noFill/>
          <a:ln w="0">
            <a:noFill/>
          </a:ln>
        </p:spPr>
        <p:txBody>
          <a:bodyPr anchor="ctr"/>
          <a:lstStyle>
            <a:defPPr algn="r">
              <a:defRPr sz="1425" b="1">
                <a:solidFill>
                  <a:srgbClr val="173E65"/>
                </a:solidFill>
              </a:defRPr>
            </a:defPPr>
          </a:lstStyle>
          <a:p>
            <a:pPr algn="r">
              <a:defRPr sz="1425" b="1">
                <a:solidFill>
                  <a:srgbClr val="173E65"/>
                </a:solidFill>
              </a:defRPr>
            </a:pPr>
            <a:r>
              <a:rPr sz="1425" b="1">
                <a:solidFill>
                  <a:srgbClr val="173E65"/>
                </a:solidFill>
              </a:rPr>
              <a:t>30.4</a:t>
            </a:r>
            <a:endParaRPr sz="1425" b="1">
              <a:solidFill>
                <a:srgbClr val="173E65"/>
              </a:solidFill>
            </a:endParaRPr>
          </a:p>
        </p:txBody>
      </p:sp>
      <p:sp>
        <p:nvSpPr>
          <p:cNvPr id="18" name="矩形 17"/>
          <p:cNvSpPr>
            <a:spLocks noGrp="1"/>
          </p:cNvSpPr>
          <p:nvPr/>
        </p:nvSpPr>
        <p:spPr>
          <a:xfrm>
            <a:off x="2390775" y="4419600"/>
            <a:ext cx="285750" cy="266700"/>
          </a:xfrm>
          <a:prstGeom prst="rect">
            <a:avLst/>
          </a:prstGeom>
          <a:noFill/>
          <a:ln w="0">
            <a:noFill/>
          </a:ln>
        </p:spPr>
        <p:txBody>
          <a:bodyPr anchor="ctr"/>
          <a:lstStyle>
            <a:defPPr algn="l">
              <a:defRPr sz="975" b="0">
                <a:solidFill>
                  <a:srgbClr val="526477"/>
                </a:solidFill>
              </a:defRPr>
            </a:defPPr>
          </a:lstStyle>
          <a:p>
            <a:pPr algn="l">
              <a:defRPr sz="975" b="0">
                <a:solidFill>
                  <a:srgbClr val="526477"/>
                </a:solidFill>
              </a:defRPr>
            </a:pPr>
            <a:r>
              <a:rPr sz="975" b="0" dirty="0">
                <a:solidFill>
                  <a:srgbClr val="526477"/>
                </a:solidFill>
              </a:rPr>
              <a:t>0</a:t>
            </a:r>
            <a:endParaRPr sz="975" b="0" dirty="0">
              <a:solidFill>
                <a:srgbClr val="526477"/>
              </a:solidFill>
            </a:endParaRPr>
          </a:p>
        </p:txBody>
      </p:sp>
      <p:sp>
        <p:nvSpPr>
          <p:cNvPr id="19" name="矩形 18"/>
          <p:cNvSpPr>
            <a:spLocks noGrp="1"/>
          </p:cNvSpPr>
          <p:nvPr/>
        </p:nvSpPr>
        <p:spPr>
          <a:xfrm>
            <a:off x="6343650" y="4419600"/>
            <a:ext cx="361950" cy="266700"/>
          </a:xfrm>
          <a:prstGeom prst="rect">
            <a:avLst/>
          </a:prstGeom>
          <a:noFill/>
          <a:ln w="0">
            <a:noFill/>
          </a:ln>
        </p:spPr>
        <p:txBody>
          <a:bodyPr anchor="ctr"/>
          <a:lstStyle>
            <a:defPPr algn="r">
              <a:defRPr sz="975" b="0">
                <a:solidFill>
                  <a:srgbClr val="526477"/>
                </a:solidFill>
              </a:defRPr>
            </a:defPPr>
          </a:lstStyle>
          <a:p>
            <a:pPr algn="r">
              <a:defRPr sz="975" b="0">
                <a:solidFill>
                  <a:srgbClr val="526477"/>
                </a:solidFill>
              </a:defRPr>
            </a:pPr>
            <a:r>
              <a:rPr sz="975" b="0" dirty="0">
                <a:solidFill>
                  <a:srgbClr val="526477"/>
                </a:solidFill>
              </a:rPr>
              <a:t>35</a:t>
            </a:r>
            <a:endParaRPr sz="975" b="0" dirty="0">
              <a:solidFill>
                <a:srgbClr val="526477"/>
              </a:solidFill>
            </a:endParaRPr>
          </a:p>
        </p:txBody>
      </p:sp>
      <p:sp>
        <p:nvSpPr>
          <p:cNvPr id="20" name="圆角矩形 19"/>
          <p:cNvSpPr>
            <a:spLocks noGrp="1"/>
          </p:cNvSpPr>
          <p:nvPr/>
        </p:nvSpPr>
        <p:spPr>
          <a:xfrm>
            <a:off x="7524750" y="1390650"/>
            <a:ext cx="3752850" cy="1238250"/>
          </a:xfrm>
          <a:prstGeom prst="roundRect">
            <a:avLst>
              <a:gd name="adj" fmla="val 9231"/>
            </a:avLst>
          </a:prstGeom>
          <a:solidFill>
            <a:srgbClr val="DCE6EF"/>
          </a:solidFill>
          <a:ln w="0">
            <a:solidFill>
              <a:srgbClr val="DCE6EF"/>
            </a:solidFill>
          </a:ln>
        </p:spPr>
      </p:sp>
      <p:sp>
        <p:nvSpPr>
          <p:cNvPr id="21" name="矩形 20"/>
          <p:cNvSpPr>
            <a:spLocks noGrp="1"/>
          </p:cNvSpPr>
          <p:nvPr/>
        </p:nvSpPr>
        <p:spPr>
          <a:xfrm>
            <a:off x="7762875" y="1562100"/>
            <a:ext cx="1619250" cy="666750"/>
          </a:xfrm>
          <a:prstGeom prst="rect">
            <a:avLst/>
          </a:prstGeom>
          <a:noFill/>
          <a:ln w="0">
            <a:noFill/>
          </a:ln>
        </p:spPr>
        <p:txBody>
          <a:bodyPr anchor="ctr"/>
          <a:lstStyle>
            <a:defPPr algn="l">
              <a:defRPr sz="3825" b="1">
                <a:solidFill>
                  <a:srgbClr val="2A5989"/>
                </a:solidFill>
              </a:defRPr>
            </a:defPPr>
          </a:lstStyle>
          <a:p>
            <a:pPr algn="l">
              <a:defRPr sz="3825" b="1">
                <a:solidFill>
                  <a:srgbClr val="2A5989"/>
                </a:solidFill>
              </a:defRPr>
            </a:pPr>
            <a:r>
              <a:rPr sz="3825" b="1">
                <a:solidFill>
                  <a:srgbClr val="2A5989"/>
                </a:solidFill>
              </a:rPr>
              <a:t>30.4%</a:t>
            </a:r>
            <a:endParaRPr sz="3825" b="1">
              <a:solidFill>
                <a:srgbClr val="2A5989"/>
              </a:solidFill>
            </a:endParaRPr>
          </a:p>
        </p:txBody>
      </p:sp>
      <p:sp>
        <p:nvSpPr>
          <p:cNvPr id="22" name="矩形 21"/>
          <p:cNvSpPr>
            <a:spLocks noGrp="1"/>
          </p:cNvSpPr>
          <p:nvPr/>
        </p:nvSpPr>
        <p:spPr>
          <a:xfrm>
            <a:off x="9429750" y="1657350"/>
            <a:ext cx="1524000" cy="552450"/>
          </a:xfrm>
          <a:prstGeom prst="rect">
            <a:avLst/>
          </a:prstGeom>
          <a:noFill/>
          <a:ln w="0">
            <a:noFill/>
          </a:ln>
        </p:spPr>
        <p:txBody>
          <a:bodyPr anchor="ctr"/>
          <a:lstStyle>
            <a:defPPr algn="l">
              <a:defRPr sz="1425" b="1">
                <a:solidFill>
                  <a:srgbClr val="173E65"/>
                </a:solidFill>
              </a:defRPr>
            </a:defPPr>
          </a:lstStyle>
          <a:p>
            <a:pPr algn="l">
              <a:defRPr sz="1425" b="1">
                <a:solidFill>
                  <a:srgbClr val="173E65"/>
                </a:solidFill>
              </a:defRPr>
            </a:pPr>
            <a:r>
              <a:rPr sz="1425" b="1">
                <a:solidFill>
                  <a:srgbClr val="173E65"/>
                </a:solidFill>
              </a:rPr>
              <a:t>best multimodal</a:t>
            </a:r>
            <a:endParaRPr sz="1425" b="1">
              <a:solidFill>
                <a:srgbClr val="173E65"/>
              </a:solidFill>
            </a:endParaRPr>
          </a:p>
          <a:p>
            <a:pPr algn="l">
              <a:defRPr sz="1425" b="1">
                <a:solidFill>
                  <a:srgbClr val="173E65"/>
                </a:solidFill>
              </a:defRPr>
            </a:pPr>
            <a:r>
              <a:rPr sz="1425" b="1">
                <a:solidFill>
                  <a:srgbClr val="173E65"/>
                </a:solidFill>
              </a:rPr>
              <a:t>model</a:t>
            </a:r>
            <a:endParaRPr sz="1425" b="1">
              <a:solidFill>
                <a:srgbClr val="173E65"/>
              </a:solidFill>
            </a:endParaRPr>
          </a:p>
        </p:txBody>
      </p:sp>
      <p:sp>
        <p:nvSpPr>
          <p:cNvPr id="23" name="矩形 22"/>
          <p:cNvSpPr>
            <a:spLocks noGrp="1"/>
          </p:cNvSpPr>
          <p:nvPr/>
        </p:nvSpPr>
        <p:spPr>
          <a:xfrm>
            <a:off x="7581900" y="3048000"/>
            <a:ext cx="2571750" cy="361950"/>
          </a:xfrm>
          <a:prstGeom prst="rect">
            <a:avLst/>
          </a:prstGeom>
          <a:noFill/>
          <a:ln w="0">
            <a:noFill/>
          </a:ln>
        </p:spPr>
        <p:txBody>
          <a:bodyPr anchor="ctr"/>
          <a:lstStyle>
            <a:defPPr algn="l">
              <a:defRPr sz="1425" b="1">
                <a:solidFill>
                  <a:srgbClr val="547DA5"/>
                </a:solidFill>
              </a:defRPr>
            </a:defPPr>
          </a:lstStyle>
          <a:p>
            <a:pPr algn="l">
              <a:defRPr sz="1425" b="1">
                <a:solidFill>
                  <a:srgbClr val="547DA5"/>
                </a:solidFill>
              </a:defRPr>
            </a:pPr>
            <a:r>
              <a:rPr sz="1425" b="1">
                <a:solidFill>
                  <a:srgbClr val="547DA5"/>
                </a:solidFill>
              </a:rPr>
              <a:t>Main bottleneck</a:t>
            </a:r>
            <a:endParaRPr sz="1425" b="1">
              <a:solidFill>
                <a:srgbClr val="547DA5"/>
              </a:solidFill>
            </a:endParaRPr>
          </a:p>
        </p:txBody>
      </p:sp>
      <p:sp>
        <p:nvSpPr>
          <p:cNvPr id="24" name="矩形 23"/>
          <p:cNvSpPr>
            <a:spLocks noGrp="1"/>
          </p:cNvSpPr>
          <p:nvPr/>
        </p:nvSpPr>
        <p:spPr>
          <a:xfrm>
            <a:off x="7581900" y="3400425"/>
            <a:ext cx="3286125" cy="457200"/>
          </a:xfrm>
          <a:prstGeom prst="rect">
            <a:avLst/>
          </a:prstGeom>
          <a:noFill/>
          <a:ln w="0">
            <a:noFill/>
          </a:ln>
        </p:spPr>
        <p:txBody>
          <a:bodyPr anchor="ctr"/>
          <a:lstStyle>
            <a:defPPr algn="l">
              <a:defRPr sz="2250" b="1">
                <a:solidFill>
                  <a:srgbClr val="173E65"/>
                </a:solidFill>
              </a:defRPr>
            </a:defPPr>
          </a:lstStyle>
          <a:p>
            <a:pPr algn="l">
              <a:defRPr sz="2250" b="1">
                <a:solidFill>
                  <a:srgbClr val="173E65"/>
                </a:solidFill>
              </a:defRPr>
            </a:pPr>
            <a:r>
              <a:rPr sz="2250" b="1">
                <a:solidFill>
                  <a:srgbClr val="173E65"/>
                </a:solidFill>
              </a:rPr>
              <a:t>Information retrieval</a:t>
            </a:r>
            <a:endParaRPr sz="2250" b="1">
              <a:solidFill>
                <a:srgbClr val="173E65"/>
              </a:solidFill>
            </a:endParaRPr>
          </a:p>
        </p:txBody>
      </p:sp>
      <p:sp>
        <p:nvSpPr>
          <p:cNvPr id="25" name="矩形 24"/>
          <p:cNvSpPr>
            <a:spLocks noGrp="1"/>
          </p:cNvSpPr>
          <p:nvPr/>
        </p:nvSpPr>
        <p:spPr>
          <a:xfrm>
            <a:off x="7581900" y="3981450"/>
            <a:ext cx="3333750" cy="781050"/>
          </a:xfrm>
          <a:prstGeom prst="rect">
            <a:avLst/>
          </a:prstGeom>
          <a:noFill/>
          <a:ln w="0">
            <a:noFill/>
          </a:ln>
        </p:spPr>
        <p:txBody>
          <a:bodyPr anchor="ctr"/>
          <a:lstStyle>
            <a:defPPr algn="l">
              <a:defRPr sz="1500" b="0">
                <a:solidFill>
                  <a:srgbClr val="526477"/>
                </a:solidFill>
              </a:defRPr>
            </a:defPPr>
          </a:lstStyle>
          <a:p>
            <a:pPr algn="l">
              <a:defRPr sz="1500" b="0">
                <a:solidFill>
                  <a:srgbClr val="526477"/>
                </a:solidFill>
              </a:defRPr>
            </a:pPr>
            <a:r>
              <a:rPr sz="1500" b="0">
                <a:solidFill>
                  <a:srgbClr val="526477"/>
                </a:solidFill>
              </a:rPr>
              <a:t>The main bottleneck is retrieving the right evidence across modalities.</a:t>
            </a:r>
            <a:endParaRPr sz="1500" b="0">
              <a:solidFill>
                <a:srgbClr val="526477"/>
              </a:solidFill>
            </a:endParaRPr>
          </a:p>
        </p:txBody>
      </p:sp>
      <p:sp>
        <p:nvSpPr>
          <p:cNvPr id="26" name="圆角矩形 25"/>
          <p:cNvSpPr>
            <a:spLocks noGrp="1"/>
          </p:cNvSpPr>
          <p:nvPr/>
        </p:nvSpPr>
        <p:spPr>
          <a:xfrm>
            <a:off x="723900" y="5438775"/>
            <a:ext cx="10648950" cy="685800"/>
          </a:xfrm>
          <a:prstGeom prst="roundRect">
            <a:avLst>
              <a:gd name="adj" fmla="val 16667"/>
            </a:avLst>
          </a:prstGeom>
          <a:solidFill>
            <a:srgbClr val="173E65"/>
          </a:solidFill>
          <a:ln w="0">
            <a:solidFill>
              <a:srgbClr val="173E65"/>
            </a:solidFill>
          </a:ln>
        </p:spPr>
      </p:sp>
      <p:sp>
        <p:nvSpPr>
          <p:cNvPr id="27" name="矩形 26"/>
          <p:cNvSpPr>
            <a:spLocks noGrp="1"/>
          </p:cNvSpPr>
          <p:nvPr/>
        </p:nvSpPr>
        <p:spPr>
          <a:xfrm>
            <a:off x="990600" y="5536348"/>
            <a:ext cx="10115550" cy="495300"/>
          </a:xfrm>
          <a:prstGeom prst="rect">
            <a:avLst/>
          </a:prstGeom>
          <a:noFill/>
          <a:ln w="0">
            <a:noFill/>
          </a:ln>
        </p:spPr>
        <p:txBody>
          <a:bodyPr anchor="ctr"/>
          <a:lstStyle>
            <a:defPPr algn="ctr">
              <a:defRPr sz="1800" b="1">
                <a:solidFill>
                  <a:srgbClr val="FFFFFF"/>
                </a:solidFill>
              </a:defRPr>
            </a:defPPr>
          </a:lstStyle>
          <a:p>
            <a:pPr algn="ctr">
              <a:defRPr sz="1800" b="1">
                <a:solidFill>
                  <a:srgbClr val="FFFFFF"/>
                </a:solidFill>
              </a:defRPr>
            </a:pPr>
            <a:r>
              <a:rPr sz="1800" b="1" dirty="0">
                <a:solidFill>
                  <a:srgbClr val="FFFFFF"/>
                </a:solidFill>
              </a:rPr>
              <a:t>Financial AI needs better retrieval and grounded reasoning, not only larger models.</a:t>
            </a:r>
            <a:endParaRPr sz="1800" b="1" dirty="0">
              <a:solidFill>
                <a:srgbClr val="FFFF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defPPr algn="ctr">
              <a:defRPr sz="5400" b="1">
                <a:solidFill>
                  <a:srgbClr val="2A5989"/>
                </a:solidFill>
              </a:defRPr>
            </a:defPPr>
          </a:lstStyle>
          <a:p>
            <a:pPr algn="ctr">
              <a:defRPr sz="5400" b="1">
                <a:solidFill>
                  <a:srgbClr val="2A5989"/>
                </a:solidFill>
              </a:defRPr>
            </a:pPr>
            <a:r>
              <a:rPr sz="5400" b="1" dirty="0">
                <a:solidFill>
                  <a:srgbClr val="2A5989"/>
                </a:solidFill>
              </a:rPr>
              <a:t>THANKS</a:t>
            </a:r>
            <a:endParaRPr dirty="0"/>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1080</Words>
  <Application>WPS 演示</Application>
  <PresentationFormat>宽屏</PresentationFormat>
  <Paragraphs>80</Paragraphs>
  <Slides>5</Slides>
  <Notes>5</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5</vt:i4>
      </vt:variant>
    </vt:vector>
  </HeadingPairs>
  <TitlesOfParts>
    <vt:vector size="23" baseType="lpstr">
      <vt:lpstr>Arial</vt:lpstr>
      <vt:lpstr>宋体</vt:lpstr>
      <vt:lpstr>Wingdings</vt:lpstr>
      <vt:lpstr>Arial</vt:lpstr>
      <vt:lpstr>华文中宋</vt:lpstr>
      <vt:lpstr>汉仪书宋二KW</vt:lpstr>
      <vt:lpstr>DFKai-SB</vt:lpstr>
      <vt:lpstr>Thonburi</vt:lpstr>
      <vt:lpstr>Wingdings</vt:lpstr>
      <vt:lpstr>Calibri</vt:lpstr>
      <vt:lpstr>Helvetica Neue</vt:lpstr>
      <vt:lpstr>微软雅黑</vt:lpstr>
      <vt:lpstr>方正雅意黑 GB18030L2</vt:lpstr>
      <vt:lpstr>宋体</vt:lpstr>
      <vt:lpstr>Arial Unicode MS</vt:lpstr>
      <vt:lpstr>Calibri Light</vt:lpstr>
      <vt:lpstr>华文中宋</vt:lpstr>
      <vt:lpstr>Office 主题</vt:lpstr>
      <vt:lpstr>PowerPoint 演示文稿</vt:lpstr>
      <vt:lpstr>PowerPoint 演示文稿</vt:lpstr>
      <vt:lpstr>PowerPoint 演示文稿</vt:lpstr>
      <vt:lpstr>PowerPoint 演示文稿</vt:lpstr>
      <vt:lpstr>THANKS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pulito</cp:lastModifiedBy>
  <cp:revision>5</cp:revision>
  <dcterms:created xsi:type="dcterms:W3CDTF">2026-10-14T06:54:27Z</dcterms:created>
  <dcterms:modified xsi:type="dcterms:W3CDTF">2026-10-14T06:54:27Z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4CB1561EED7B5A783A24CF6ACD81E861_42</vt:lpwstr>
  </property>
  <property fmtid="{D5CDD505-2E9C-101B-9397-08002B2CF9AE}" pid="3" name="KSOProductBuildVer">
    <vt:lpwstr>2052-12.1.28496.28496</vt:lpwstr>
  </property>
</Properties>
</file>