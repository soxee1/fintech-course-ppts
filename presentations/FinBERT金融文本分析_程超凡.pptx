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79" autoAdjust="0"/>
    <p:restoredTop sz="69963" autoAdjust="0"/>
  </p:normalViewPr>
  <p:slideViewPr>
    <p:cSldViewPr snapToGrid="0">
      <p:cViewPr varScale="1">
        <p:scale>
          <a:sx n="77" d="100"/>
          <a:sy n="77" d="100"/>
        </p:scale>
        <p:origin x="402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ESG accuracy</c:v>
          </c:tx>
          <c:invertIfNegative val="1"/>
          <c:dPt>
            <c:idx val="0"/>
            <c:invertIfNegative val="0"/>
            <c:bubble3D val="0"/>
            <c:spPr>
              <a:solidFill>
                <a:srgbClr val="1866B5"/>
              </a:solidFill>
            </c:spPr>
            <c:extLst>
              <c:ext xmlns:c16="http://schemas.microsoft.com/office/drawing/2014/chart" uri="{C3380CC4-5D6E-409C-BE32-E72D297353CC}">
                <c16:uniqueId val="{00000001-7808-4A12-8880-2DA4191F5D45}"/>
              </c:ext>
            </c:extLst>
          </c:dPt>
          <c:dPt>
            <c:idx val="1"/>
            <c:invertIfNegative val="0"/>
            <c:bubble3D val="0"/>
            <c:spPr>
              <a:solidFill>
                <a:srgbClr val="81AAD3"/>
              </a:solidFill>
            </c:spPr>
            <c:extLst>
              <c:ext xmlns:c16="http://schemas.microsoft.com/office/drawing/2014/chart" uri="{C3380CC4-5D6E-409C-BE32-E72D297353CC}">
                <c16:uniqueId val="{00000003-7808-4A12-8880-2DA4191F5D4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875" b="1">
                    <a:solidFill>
                      <a:srgbClr val="123D67"/>
                    </a:solidFill>
                    <a:latin typeface="Arial"/>
                    <a:ea typeface="Arial"/>
                    <a:cs typeface="Arial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FinBERT</c:v>
                </c:pt>
                <c:pt idx="1">
                  <c:v>BERT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0.89500000000000002</c:v>
                </c:pt>
                <c:pt idx="1">
                  <c:v>0.87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808-4A12-8880-2DA4191F5D4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6E2EF"/>
            </a:solidFill>
          </a:ln>
        </c:spPr>
        <c:txPr>
          <a:bodyPr anchorCtr="1"/>
          <a:lstStyle/>
          <a:p>
            <a:pPr>
              <a:defRPr sz="1725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5715">
              <a:solidFill>
                <a:srgbClr val="D6E2EF"/>
              </a:solidFill>
            </a:ln>
          </c:spPr>
        </c:majorGridlines>
        <c:numFmt formatCode="0.0%" sourceLinked="1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350">
                <a:solidFill>
                  <a:srgbClr val="61768B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between"/>
        <c:majorUnit val="0.25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50" b="0">
                <a:solidFill>
                  <a:srgbClr val="123D67"/>
                </a:solidFill>
                <a:latin typeface="Arial"/>
                <a:ea typeface="Arial"/>
                <a:cs typeface="Arial"/>
              </a:defRPr>
            </a:pPr>
            <a:endParaRPr lang="en-US" altLang="zh-CN" sz="1200" b="0" dirty="0">
              <a:solidFill>
                <a:srgbClr val="123D6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op-accent">
            <a:extLst>
              <a:ext uri="{FF2B5EF4-FFF2-40B4-BE49-F238E27FC236}">
                <a16:creationId xmlns:a16="http://schemas.microsoft.com/office/drawing/2014/main" id="{B7B9780F-EF0B-4383-BE9A-8F65B2B1C1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1866B5"/>
          </a:solidFill>
          <a:ln w="0">
            <a:noFill/>
          </a:ln>
        </p:spPr>
      </p:sp>
      <p:sp>
        <p:nvSpPr>
          <p:cNvPr id="2" name="heading-background">
            <a:extLst>
              <a:ext uri="{FF2B5EF4-FFF2-40B4-BE49-F238E27FC236}">
                <a16:creationId xmlns:a16="http://schemas.microsoft.com/office/drawing/2014/main" id="{6D508B18-809A-4809-B04B-743C88D46F0B}"/>
              </a:ext>
            </a:extLst>
          </p:cNvPr>
          <p:cNvSpPr>
            <a:spLocks noGrp="1"/>
          </p:cNvSpPr>
          <p:nvPr/>
        </p:nvSpPr>
        <p:spPr>
          <a:xfrm>
            <a:off x="0" y="66675"/>
            <a:ext cx="12192000" cy="990600"/>
          </a:xfrm>
          <a:prstGeom prst="rect">
            <a:avLst/>
          </a:prstGeom>
          <a:solidFill>
            <a:srgbClr val="EDF4FB"/>
          </a:solidFill>
          <a:ln w="0">
            <a:noFill/>
          </a:ln>
        </p:spPr>
      </p:sp>
      <p:sp>
        <p:nvSpPr>
          <p:cNvPr id="3" name="series">
            <a:extLst>
              <a:ext uri="{FF2B5EF4-FFF2-40B4-BE49-F238E27FC236}">
                <a16:creationId xmlns:a16="http://schemas.microsoft.com/office/drawing/2014/main" id="{DA3C63ED-C723-434C-BDB1-ED522BFB4C7D}"/>
              </a:ext>
            </a:extLst>
          </p:cNvPr>
          <p:cNvSpPr>
            <a:spLocks noGrp="1"/>
          </p:cNvSpPr>
          <p:nvPr/>
        </p:nvSpPr>
        <p:spPr>
          <a:xfrm>
            <a:off x="523875" y="219075"/>
            <a:ext cx="68580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125" b="1">
                <a:solidFill>
                  <a:srgbClr val="61768B"/>
                </a:solidFill>
                <a:latin typeface="Arial"/>
                <a:ea typeface="Arial"/>
                <a:cs typeface="Arial"/>
              </a:defRPr>
            </a:pPr>
            <a:r>
              <a:rPr sz="1125" b="1" dirty="0">
                <a:solidFill>
                  <a:srgbClr val="61768B"/>
                </a:solidFill>
                <a:latin typeface="Arial"/>
                <a:ea typeface="Arial"/>
                <a:cs typeface="Arial"/>
              </a:rPr>
              <a:t>FINBERT  /  PAPER READING</a:t>
            </a:r>
          </a:p>
        </p:txBody>
      </p:sp>
      <p:sp>
        <p:nvSpPr>
          <p:cNvPr id="4" name="section">
            <a:extLst>
              <a:ext uri="{FF2B5EF4-FFF2-40B4-BE49-F238E27FC236}">
                <a16:creationId xmlns:a16="http://schemas.microsoft.com/office/drawing/2014/main" id="{AC08AF2D-282C-4796-A15A-A779B9C10E60}"/>
              </a:ext>
            </a:extLst>
          </p:cNvPr>
          <p:cNvSpPr>
            <a:spLocks noGrp="1"/>
          </p:cNvSpPr>
          <p:nvPr/>
        </p:nvSpPr>
        <p:spPr>
          <a:xfrm>
            <a:off x="8334375" y="219075"/>
            <a:ext cx="3333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r">
              <a:defRPr sz="1125" b="1">
                <a:solidFill>
                  <a:srgbClr val="1866B5"/>
                </a:solidFill>
                <a:latin typeface="Arial"/>
                <a:ea typeface="Arial"/>
                <a:cs typeface="Arial"/>
              </a:defRPr>
            </a:pPr>
            <a:r>
              <a:rPr sz="1125" b="1" dirty="0">
                <a:solidFill>
                  <a:srgbClr val="1866B5"/>
                </a:solidFill>
                <a:latin typeface="Arial"/>
                <a:ea typeface="Arial"/>
                <a:cs typeface="Arial"/>
              </a:rPr>
              <a:t>FINANCIAL NLP</a:t>
            </a:r>
          </a:p>
        </p:txBody>
      </p:sp>
      <p:sp>
        <p:nvSpPr>
          <p:cNvPr id="5" name="footer-rule">
            <a:extLst>
              <a:ext uri="{FF2B5EF4-FFF2-40B4-BE49-F238E27FC236}">
                <a16:creationId xmlns:a16="http://schemas.microsoft.com/office/drawing/2014/main" id="{9E3A6DE2-710E-4ABF-9FDB-3FF9F3519616}"/>
              </a:ext>
            </a:extLst>
          </p:cNvPr>
          <p:cNvSpPr>
            <a:spLocks noGrp="1"/>
          </p:cNvSpPr>
          <p:nvPr/>
        </p:nvSpPr>
        <p:spPr>
          <a:xfrm>
            <a:off x="523875" y="6410325"/>
            <a:ext cx="11144250" cy="9525"/>
          </a:xfrm>
          <a:prstGeom prst="rect">
            <a:avLst/>
          </a:prstGeom>
          <a:solidFill>
            <a:srgbClr val="D6E2EF"/>
          </a:solidFill>
          <a:ln w="0">
            <a:noFill/>
          </a:ln>
        </p:spPr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7050DCCF-E4FC-434C-9D85-46938DA1611C}"/>
              </a:ext>
            </a:extLst>
          </p:cNvPr>
          <p:cNvSpPr>
            <a:spLocks noGrp="1"/>
          </p:cNvSpPr>
          <p:nvPr/>
        </p:nvSpPr>
        <p:spPr>
          <a:xfrm>
            <a:off x="10858500" y="6515100"/>
            <a:ext cx="8191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r">
              <a:defRPr sz="1200" b="0">
                <a:solidFill>
                  <a:srgbClr val="6176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68B"/>
                </a:solidFill>
                <a:latin typeface="Arial"/>
                <a:ea typeface="Arial"/>
                <a:cs typeface="Arial"/>
              </a:rPr>
              <a:t>01 / 09</a:t>
            </a:r>
          </a:p>
        </p:txBody>
      </p:sp>
      <p:sp>
        <p:nvSpPr>
          <p:cNvPr id="7" name="course">
            <a:extLst>
              <a:ext uri="{FF2B5EF4-FFF2-40B4-BE49-F238E27FC236}">
                <a16:creationId xmlns:a16="http://schemas.microsoft.com/office/drawing/2014/main" id="{87E3AABF-3A85-40D6-832A-DB6FC684FFB9}"/>
              </a:ext>
            </a:extLst>
          </p:cNvPr>
          <p:cNvSpPr>
            <a:spLocks noGrp="1"/>
          </p:cNvSpPr>
          <p:nvPr/>
        </p:nvSpPr>
        <p:spPr>
          <a:xfrm>
            <a:off x="523875" y="581025"/>
            <a:ext cx="1114425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2025" b="0">
                <a:solidFill>
                  <a:srgbClr val="123D67"/>
                </a:solidFill>
                <a:latin typeface="Arial"/>
                <a:ea typeface="Arial"/>
                <a:cs typeface="Arial"/>
              </a:defRPr>
            </a:pPr>
            <a:r>
              <a:rPr sz="2025" b="0" dirty="0">
                <a:solidFill>
                  <a:srgbClr val="123D67"/>
                </a:solidFill>
                <a:latin typeface="Arial"/>
                <a:ea typeface="Arial"/>
                <a:cs typeface="Arial"/>
              </a:rPr>
              <a:t>Financial Technology and Artificial Intelligence</a:t>
            </a:r>
          </a:p>
        </p:txBody>
      </p:sp>
      <p:sp>
        <p:nvSpPr>
          <p:cNvPr id="8" name="cover-sidebar">
            <a:extLst>
              <a:ext uri="{FF2B5EF4-FFF2-40B4-BE49-F238E27FC236}">
                <a16:creationId xmlns:a16="http://schemas.microsoft.com/office/drawing/2014/main" id="{BAA233BE-30B5-4C20-8E69-E5C1BFA3DDE7}"/>
              </a:ext>
            </a:extLst>
          </p:cNvPr>
          <p:cNvSpPr>
            <a:spLocks noGrp="1"/>
          </p:cNvSpPr>
          <p:nvPr/>
        </p:nvSpPr>
        <p:spPr>
          <a:xfrm>
            <a:off x="8391525" y="1496202"/>
            <a:ext cx="3219450" cy="4615153"/>
          </a:xfrm>
          <a:prstGeom prst="rect">
            <a:avLst/>
          </a:prstGeom>
          <a:solidFill>
            <a:srgbClr val="EDF4FB"/>
          </a:solidFill>
          <a:ln w="0">
            <a:noFill/>
          </a:ln>
        </p:spPr>
      </p:sp>
      <p:sp>
        <p:nvSpPr>
          <p:cNvPr id="9" name="cover-title">
            <a:extLst>
              <a:ext uri="{FF2B5EF4-FFF2-40B4-BE49-F238E27FC236}">
                <a16:creationId xmlns:a16="http://schemas.microsoft.com/office/drawing/2014/main" id="{C7FE26DD-0F7B-4F35-A447-7B5971EC6FC6}"/>
              </a:ext>
            </a:extLst>
          </p:cNvPr>
          <p:cNvSpPr>
            <a:spLocks noGrp="1"/>
          </p:cNvSpPr>
          <p:nvPr/>
        </p:nvSpPr>
        <p:spPr>
          <a:xfrm>
            <a:off x="523875" y="1514475"/>
            <a:ext cx="7524750" cy="904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5850" b="1">
                <a:solidFill>
                  <a:srgbClr val="123D67"/>
                </a:solidFill>
                <a:latin typeface="Arial"/>
                <a:ea typeface="Arial"/>
                <a:cs typeface="Arial"/>
              </a:defRPr>
            </a:pPr>
            <a:r>
              <a:rPr sz="5850" b="1" dirty="0" err="1">
                <a:solidFill>
                  <a:srgbClr val="123D67"/>
                </a:solidFill>
                <a:latin typeface="Arial"/>
                <a:ea typeface="Arial"/>
                <a:cs typeface="Arial"/>
              </a:rPr>
              <a:t>FinBERT</a:t>
            </a:r>
            <a:endParaRPr sz="5850" b="1" dirty="0">
              <a:solidFill>
                <a:srgbClr val="123D6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cover-full-title">
            <a:extLst>
              <a:ext uri="{FF2B5EF4-FFF2-40B4-BE49-F238E27FC236}">
                <a16:creationId xmlns:a16="http://schemas.microsoft.com/office/drawing/2014/main" id="{DAB81AFC-8510-4968-BEB8-1CD692CC2FB8}"/>
              </a:ext>
            </a:extLst>
          </p:cNvPr>
          <p:cNvSpPr>
            <a:spLocks noGrp="1"/>
          </p:cNvSpPr>
          <p:nvPr/>
        </p:nvSpPr>
        <p:spPr>
          <a:xfrm>
            <a:off x="552449" y="2590800"/>
            <a:ext cx="9524611" cy="1457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2850" b="0">
                <a:solidFill>
                  <a:srgbClr val="123D67"/>
                </a:solidFill>
                <a:latin typeface="Arial"/>
                <a:ea typeface="Arial"/>
                <a:cs typeface="Arial"/>
              </a:defRPr>
            </a:pPr>
            <a:r>
              <a:rPr sz="2850" b="0" dirty="0">
                <a:solidFill>
                  <a:srgbClr val="123D67"/>
                </a:solidFill>
                <a:latin typeface="Arial"/>
                <a:ea typeface="Arial"/>
                <a:cs typeface="Arial"/>
              </a:rPr>
              <a:t>A Large Language Model </a:t>
            </a:r>
            <a:endParaRPr lang="en-US" sz="2850" b="0" dirty="0">
              <a:solidFill>
                <a:srgbClr val="123D67"/>
              </a:solidFill>
              <a:latin typeface="Arial"/>
              <a:ea typeface="Arial"/>
              <a:cs typeface="Arial"/>
            </a:endParaRPr>
          </a:p>
          <a:p>
            <a:pPr algn="l">
              <a:defRPr sz="2850" b="0">
                <a:solidFill>
                  <a:srgbClr val="123D67"/>
                </a:solidFill>
                <a:latin typeface="Arial"/>
                <a:ea typeface="Arial"/>
                <a:cs typeface="Arial"/>
              </a:defRPr>
            </a:pPr>
            <a:r>
              <a:rPr sz="2850" b="0" dirty="0">
                <a:solidFill>
                  <a:srgbClr val="123D67"/>
                </a:solidFill>
                <a:latin typeface="Arial"/>
                <a:ea typeface="Arial"/>
                <a:cs typeface="Arial"/>
              </a:rPr>
              <a:t>for</a:t>
            </a:r>
            <a:r>
              <a:rPr lang="en-US" sz="2850" dirty="0">
                <a:solidFill>
                  <a:srgbClr val="123D67"/>
                </a:solidFill>
                <a:latin typeface="Arial"/>
                <a:ea typeface="Arial"/>
                <a:cs typeface="Arial"/>
              </a:rPr>
              <a:t> </a:t>
            </a:r>
            <a:r>
              <a:rPr sz="2850" b="0" dirty="0">
                <a:solidFill>
                  <a:srgbClr val="123D67"/>
                </a:solidFill>
                <a:latin typeface="Arial"/>
                <a:ea typeface="Arial"/>
                <a:cs typeface="Arial"/>
              </a:rPr>
              <a:t>Extracting Information</a:t>
            </a:r>
            <a:r>
              <a:rPr lang="en-US" sz="2850" b="0" dirty="0">
                <a:solidFill>
                  <a:srgbClr val="123D67"/>
                </a:solidFill>
                <a:latin typeface="Arial"/>
                <a:ea typeface="Arial"/>
                <a:cs typeface="Arial"/>
              </a:rPr>
              <a:t> </a:t>
            </a:r>
            <a:r>
              <a:rPr sz="2850" b="0" dirty="0">
                <a:solidFill>
                  <a:srgbClr val="123D67"/>
                </a:solidFill>
                <a:latin typeface="Arial"/>
                <a:ea typeface="Arial"/>
                <a:cs typeface="Arial"/>
              </a:rPr>
              <a:t>from Financial Text</a:t>
            </a:r>
          </a:p>
        </p:txBody>
      </p:sp>
      <p:sp>
        <p:nvSpPr>
          <p:cNvPr id="11" name="authors">
            <a:extLst>
              <a:ext uri="{FF2B5EF4-FFF2-40B4-BE49-F238E27FC236}">
                <a16:creationId xmlns:a16="http://schemas.microsoft.com/office/drawing/2014/main" id="{05CB6C64-0318-4BAC-A82A-69EA03780905}"/>
              </a:ext>
            </a:extLst>
          </p:cNvPr>
          <p:cNvSpPr>
            <a:spLocks noGrp="1"/>
          </p:cNvSpPr>
          <p:nvPr/>
        </p:nvSpPr>
        <p:spPr>
          <a:xfrm>
            <a:off x="552450" y="4362450"/>
            <a:ext cx="75247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875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1875" b="0" dirty="0">
                <a:solidFill>
                  <a:srgbClr val="233B52"/>
                </a:solidFill>
                <a:latin typeface="Arial"/>
                <a:ea typeface="Arial"/>
                <a:cs typeface="Arial"/>
              </a:rPr>
              <a:t>Allen H. Huang  |  Hui Wang  |  Yi Yang</a:t>
            </a:r>
          </a:p>
        </p:txBody>
      </p:sp>
      <p:sp>
        <p:nvSpPr>
          <p:cNvPr id="12" name="author-affiliations">
            <a:extLst>
              <a:ext uri="{FF2B5EF4-FFF2-40B4-BE49-F238E27FC236}">
                <a16:creationId xmlns:a16="http://schemas.microsoft.com/office/drawing/2014/main" id="{01893CB4-F348-47AF-A1D9-9E874CEFFB2F}"/>
              </a:ext>
            </a:extLst>
          </p:cNvPr>
          <p:cNvSpPr>
            <a:spLocks noGrp="1"/>
          </p:cNvSpPr>
          <p:nvPr/>
        </p:nvSpPr>
        <p:spPr>
          <a:xfrm>
            <a:off x="523875" y="4801572"/>
            <a:ext cx="75247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575" b="0">
                <a:solidFill>
                  <a:srgbClr val="61768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1768B"/>
                </a:solidFill>
                <a:latin typeface="Arial"/>
                <a:ea typeface="Arial"/>
                <a:cs typeface="Arial"/>
              </a:rPr>
              <a:t>HKUST  /  Renmin University of China</a:t>
            </a:r>
          </a:p>
        </p:txBody>
      </p:sp>
      <p:sp>
        <p:nvSpPr>
          <p:cNvPr id="13" name="journal">
            <a:extLst>
              <a:ext uri="{FF2B5EF4-FFF2-40B4-BE49-F238E27FC236}">
                <a16:creationId xmlns:a16="http://schemas.microsoft.com/office/drawing/2014/main" id="{313A6EF8-E0F9-4706-AD20-C3182411B288}"/>
              </a:ext>
            </a:extLst>
          </p:cNvPr>
          <p:cNvSpPr>
            <a:spLocks noGrp="1"/>
          </p:cNvSpPr>
          <p:nvPr/>
        </p:nvSpPr>
        <p:spPr>
          <a:xfrm>
            <a:off x="552450" y="5219700"/>
            <a:ext cx="752475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725" b="0">
                <a:solidFill>
                  <a:srgbClr val="61768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1768B"/>
                </a:solidFill>
                <a:latin typeface="Arial"/>
                <a:ea typeface="Arial"/>
                <a:cs typeface="Arial"/>
              </a:rPr>
              <a:t>Contemporary Accounting Research</a:t>
            </a:r>
          </a:p>
          <a:p>
            <a:pPr algn="l">
              <a:defRPr sz="1725" b="0">
                <a:solidFill>
                  <a:srgbClr val="61768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1768B"/>
                </a:solidFill>
                <a:latin typeface="Arial"/>
                <a:ea typeface="Arial"/>
                <a:cs typeface="Arial"/>
              </a:rPr>
              <a:t>40(2), 806-841  |  2023</a:t>
            </a:r>
          </a:p>
        </p:txBody>
      </p:sp>
      <p:sp>
        <p:nvSpPr>
          <p:cNvPr id="14" name="cover-focus-label">
            <a:extLst>
              <a:ext uri="{FF2B5EF4-FFF2-40B4-BE49-F238E27FC236}">
                <a16:creationId xmlns:a16="http://schemas.microsoft.com/office/drawing/2014/main" id="{88B9756E-6735-439F-8C0E-C3E762A04DDB}"/>
              </a:ext>
            </a:extLst>
          </p:cNvPr>
          <p:cNvSpPr>
            <a:spLocks noGrp="1"/>
          </p:cNvSpPr>
          <p:nvPr/>
        </p:nvSpPr>
        <p:spPr>
          <a:xfrm>
            <a:off x="8658225" y="1762903"/>
            <a:ext cx="27241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200" b="1">
                <a:solidFill>
                  <a:srgbClr val="1866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66B5"/>
                </a:solidFill>
                <a:latin typeface="Arial"/>
                <a:ea typeface="Arial"/>
                <a:cs typeface="Arial"/>
              </a:rPr>
              <a:t>READING FOCUS</a:t>
            </a:r>
          </a:p>
        </p:txBody>
      </p:sp>
      <p:sp>
        <p:nvSpPr>
          <p:cNvPr id="15" name="focus-1">
            <a:extLst>
              <a:ext uri="{FF2B5EF4-FFF2-40B4-BE49-F238E27FC236}">
                <a16:creationId xmlns:a16="http://schemas.microsoft.com/office/drawing/2014/main" id="{4A64D6BA-6BDC-41C0-B9C1-48285C37D6F9}"/>
              </a:ext>
            </a:extLst>
          </p:cNvPr>
          <p:cNvSpPr>
            <a:spLocks noGrp="1"/>
          </p:cNvSpPr>
          <p:nvPr/>
        </p:nvSpPr>
        <p:spPr>
          <a:xfrm>
            <a:off x="8658225" y="2286778"/>
            <a:ext cx="27241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800" b="1">
                <a:solidFill>
                  <a:srgbClr val="123D6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3D67"/>
                </a:solidFill>
                <a:latin typeface="Arial"/>
                <a:ea typeface="Arial"/>
                <a:cs typeface="Arial"/>
              </a:rPr>
              <a:t>01  Model design</a:t>
            </a:r>
          </a:p>
        </p:txBody>
      </p:sp>
      <p:sp>
        <p:nvSpPr>
          <p:cNvPr id="16" name="focus-1-desc">
            <a:extLst>
              <a:ext uri="{FF2B5EF4-FFF2-40B4-BE49-F238E27FC236}">
                <a16:creationId xmlns:a16="http://schemas.microsoft.com/office/drawing/2014/main" id="{BAF1F888-DDA2-4C7F-ABFD-6EE61585A16E}"/>
              </a:ext>
            </a:extLst>
          </p:cNvPr>
          <p:cNvSpPr>
            <a:spLocks noGrp="1"/>
          </p:cNvSpPr>
          <p:nvPr/>
        </p:nvSpPr>
        <p:spPr>
          <a:xfrm>
            <a:off x="8658225" y="2686828"/>
            <a:ext cx="2724150" cy="581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650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Finance vocabulary</a:t>
            </a:r>
          </a:p>
          <a:p>
            <a:pPr algn="l">
              <a:defRPr sz="1650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and BERT pretraining</a:t>
            </a:r>
          </a:p>
        </p:txBody>
      </p:sp>
      <p:sp>
        <p:nvSpPr>
          <p:cNvPr id="17" name="sidebar-rule-1">
            <a:extLst>
              <a:ext uri="{FF2B5EF4-FFF2-40B4-BE49-F238E27FC236}">
                <a16:creationId xmlns:a16="http://schemas.microsoft.com/office/drawing/2014/main" id="{EFF8D625-EF15-4698-B439-E4656F5CCB6B}"/>
              </a:ext>
            </a:extLst>
          </p:cNvPr>
          <p:cNvSpPr>
            <a:spLocks noGrp="1"/>
          </p:cNvSpPr>
          <p:nvPr/>
        </p:nvSpPr>
        <p:spPr>
          <a:xfrm>
            <a:off x="8658225" y="3439303"/>
            <a:ext cx="2657475" cy="9525"/>
          </a:xfrm>
          <a:prstGeom prst="rect">
            <a:avLst/>
          </a:prstGeom>
          <a:solidFill>
            <a:srgbClr val="D6E2EF"/>
          </a:solidFill>
          <a:ln w="0">
            <a:noFill/>
          </a:ln>
        </p:spPr>
      </p:sp>
      <p:sp>
        <p:nvSpPr>
          <p:cNvPr id="18" name="focus-2">
            <a:extLst>
              <a:ext uri="{FF2B5EF4-FFF2-40B4-BE49-F238E27FC236}">
                <a16:creationId xmlns:a16="http://schemas.microsoft.com/office/drawing/2014/main" id="{31905A4A-48D9-41CF-AFFF-CC8E76DD43F8}"/>
              </a:ext>
            </a:extLst>
          </p:cNvPr>
          <p:cNvSpPr>
            <a:spLocks noGrp="1"/>
          </p:cNvSpPr>
          <p:nvPr/>
        </p:nvSpPr>
        <p:spPr>
          <a:xfrm>
            <a:off x="8658225" y="3629803"/>
            <a:ext cx="27241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800" b="1">
                <a:solidFill>
                  <a:srgbClr val="123D6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3D67"/>
                </a:solidFill>
                <a:latin typeface="Arial"/>
                <a:ea typeface="Arial"/>
                <a:cs typeface="Arial"/>
              </a:rPr>
              <a:t>02  Controlled tests</a:t>
            </a:r>
          </a:p>
        </p:txBody>
      </p:sp>
      <p:sp>
        <p:nvSpPr>
          <p:cNvPr id="19" name="focus-2-desc">
            <a:extLst>
              <a:ext uri="{FF2B5EF4-FFF2-40B4-BE49-F238E27FC236}">
                <a16:creationId xmlns:a16="http://schemas.microsoft.com/office/drawing/2014/main" id="{6A2F1517-A801-4E83-B645-5484FE30B1D4}"/>
              </a:ext>
            </a:extLst>
          </p:cNvPr>
          <p:cNvSpPr>
            <a:spLocks noGrp="1"/>
          </p:cNvSpPr>
          <p:nvPr/>
        </p:nvSpPr>
        <p:spPr>
          <a:xfrm>
            <a:off x="8658225" y="4029853"/>
            <a:ext cx="2724150" cy="581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650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Sentiment benchmarks</a:t>
            </a:r>
          </a:p>
          <a:p>
            <a:pPr algn="l">
              <a:defRPr sz="1650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and mechanism checks</a:t>
            </a:r>
          </a:p>
        </p:txBody>
      </p:sp>
      <p:sp>
        <p:nvSpPr>
          <p:cNvPr id="20" name="sidebar-rule-2">
            <a:extLst>
              <a:ext uri="{FF2B5EF4-FFF2-40B4-BE49-F238E27FC236}">
                <a16:creationId xmlns:a16="http://schemas.microsoft.com/office/drawing/2014/main" id="{66E76EEB-CD25-4A2C-85C8-23A0D836D424}"/>
              </a:ext>
            </a:extLst>
          </p:cNvPr>
          <p:cNvSpPr>
            <a:spLocks noGrp="1"/>
          </p:cNvSpPr>
          <p:nvPr/>
        </p:nvSpPr>
        <p:spPr>
          <a:xfrm>
            <a:off x="8658225" y="4782328"/>
            <a:ext cx="2657475" cy="9525"/>
          </a:xfrm>
          <a:prstGeom prst="rect">
            <a:avLst/>
          </a:prstGeom>
          <a:solidFill>
            <a:srgbClr val="D6E2EF"/>
          </a:solidFill>
          <a:ln w="0">
            <a:noFill/>
          </a:ln>
        </p:spPr>
      </p:sp>
      <p:sp>
        <p:nvSpPr>
          <p:cNvPr id="21" name="focus-3">
            <a:extLst>
              <a:ext uri="{FF2B5EF4-FFF2-40B4-BE49-F238E27FC236}">
                <a16:creationId xmlns:a16="http://schemas.microsoft.com/office/drawing/2014/main" id="{36CB83EA-AAEF-45C2-836B-F7FBE78EE858}"/>
              </a:ext>
            </a:extLst>
          </p:cNvPr>
          <p:cNvSpPr>
            <a:spLocks noGrp="1"/>
          </p:cNvSpPr>
          <p:nvPr/>
        </p:nvSpPr>
        <p:spPr>
          <a:xfrm>
            <a:off x="8658225" y="4972828"/>
            <a:ext cx="27241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725" b="1">
                <a:solidFill>
                  <a:srgbClr val="123D6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D67"/>
                </a:solidFill>
                <a:latin typeface="Arial"/>
                <a:ea typeface="Arial"/>
                <a:cs typeface="Arial"/>
              </a:rPr>
              <a:t>03  Financial relevance</a:t>
            </a:r>
          </a:p>
        </p:txBody>
      </p:sp>
      <p:sp>
        <p:nvSpPr>
          <p:cNvPr id="22" name="focus-3-desc">
            <a:extLst>
              <a:ext uri="{FF2B5EF4-FFF2-40B4-BE49-F238E27FC236}">
                <a16:creationId xmlns:a16="http://schemas.microsoft.com/office/drawing/2014/main" id="{A4BC14AA-0827-43FC-9EF2-773CE8CAD135}"/>
              </a:ext>
            </a:extLst>
          </p:cNvPr>
          <p:cNvSpPr>
            <a:spLocks noGrp="1"/>
          </p:cNvSpPr>
          <p:nvPr/>
        </p:nvSpPr>
        <p:spPr>
          <a:xfrm>
            <a:off x="8658225" y="5372878"/>
            <a:ext cx="2724150" cy="581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650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ESG and earnings-call</a:t>
            </a:r>
          </a:p>
          <a:p>
            <a:pPr algn="l">
              <a:defRPr sz="1650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market evidence</a:t>
            </a:r>
          </a:p>
        </p:txBody>
      </p:sp>
      <p:sp>
        <p:nvSpPr>
          <p:cNvPr id="23" name="presenter">
            <a:extLst>
              <a:ext uri="{FF2B5EF4-FFF2-40B4-BE49-F238E27FC236}">
                <a16:creationId xmlns:a16="http://schemas.microsoft.com/office/drawing/2014/main" id="{0B337938-34B5-47C8-97EE-D34924BEEEA3}"/>
              </a:ext>
            </a:extLst>
          </p:cNvPr>
          <p:cNvSpPr>
            <a:spLocks noGrp="1"/>
          </p:cNvSpPr>
          <p:nvPr/>
        </p:nvSpPr>
        <p:spPr>
          <a:xfrm>
            <a:off x="552450" y="6029325"/>
            <a:ext cx="51435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650" b="0">
                <a:solidFill>
                  <a:srgbClr val="1866B5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1866B5"/>
                </a:solidFill>
                <a:latin typeface="Arial"/>
                <a:ea typeface="Arial"/>
                <a:cs typeface="Arial"/>
              </a:rPr>
              <a:t>Presenter: </a:t>
            </a:r>
            <a:r>
              <a:rPr lang="en-US" altLang="zh-CN" sz="1650" b="0" dirty="0" err="1">
                <a:solidFill>
                  <a:srgbClr val="1866B5"/>
                </a:solidFill>
                <a:latin typeface="Arial"/>
                <a:ea typeface="Arial"/>
                <a:cs typeface="Arial"/>
              </a:rPr>
              <a:t>Chaofan</a:t>
            </a:r>
            <a:r>
              <a:rPr lang="en-US" altLang="zh-CN" sz="1650" b="0" dirty="0">
                <a:solidFill>
                  <a:srgbClr val="1866B5"/>
                </a:solidFill>
                <a:latin typeface="Arial"/>
                <a:ea typeface="Arial"/>
                <a:cs typeface="Arial"/>
              </a:rPr>
              <a:t> Cheng</a:t>
            </a:r>
            <a:endParaRPr sz="1650" b="0" dirty="0">
              <a:solidFill>
                <a:srgbClr val="1866B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36922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op-accent">
            <a:extLst>
              <a:ext uri="{FF2B5EF4-FFF2-40B4-BE49-F238E27FC236}">
                <a16:creationId xmlns:a16="http://schemas.microsoft.com/office/drawing/2014/main" id="{7C62A3F3-10C3-4F5A-9DE4-CCA1A7D930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1866B5"/>
          </a:solidFill>
          <a:ln w="0">
            <a:noFill/>
          </a:ln>
        </p:spPr>
      </p:sp>
      <p:sp>
        <p:nvSpPr>
          <p:cNvPr id="2" name="heading-background">
            <a:extLst>
              <a:ext uri="{FF2B5EF4-FFF2-40B4-BE49-F238E27FC236}">
                <a16:creationId xmlns:a16="http://schemas.microsoft.com/office/drawing/2014/main" id="{08EBD77C-AF53-46EA-8B16-F6CA399FC1DF}"/>
              </a:ext>
            </a:extLst>
          </p:cNvPr>
          <p:cNvSpPr>
            <a:spLocks noGrp="1"/>
          </p:cNvSpPr>
          <p:nvPr/>
        </p:nvSpPr>
        <p:spPr>
          <a:xfrm>
            <a:off x="0" y="66675"/>
            <a:ext cx="12192000" cy="990600"/>
          </a:xfrm>
          <a:prstGeom prst="rect">
            <a:avLst/>
          </a:prstGeom>
          <a:solidFill>
            <a:srgbClr val="EDF4FB"/>
          </a:solidFill>
          <a:ln w="0">
            <a:noFill/>
          </a:ln>
        </p:spPr>
      </p:sp>
      <p:sp>
        <p:nvSpPr>
          <p:cNvPr id="3" name="series">
            <a:extLst>
              <a:ext uri="{FF2B5EF4-FFF2-40B4-BE49-F238E27FC236}">
                <a16:creationId xmlns:a16="http://schemas.microsoft.com/office/drawing/2014/main" id="{E1353BCB-3EBF-4D62-A717-B82069A2B82B}"/>
              </a:ext>
            </a:extLst>
          </p:cNvPr>
          <p:cNvSpPr>
            <a:spLocks noGrp="1"/>
          </p:cNvSpPr>
          <p:nvPr/>
        </p:nvSpPr>
        <p:spPr>
          <a:xfrm>
            <a:off x="523875" y="219075"/>
            <a:ext cx="68580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125" b="1">
                <a:solidFill>
                  <a:srgbClr val="61768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1768B"/>
                </a:solidFill>
                <a:latin typeface="Arial"/>
                <a:ea typeface="Arial"/>
                <a:cs typeface="Arial"/>
              </a:rPr>
              <a:t>FINBERT  /  PAPER READING</a:t>
            </a:r>
          </a:p>
        </p:txBody>
      </p:sp>
      <p:sp>
        <p:nvSpPr>
          <p:cNvPr id="4" name="section">
            <a:extLst>
              <a:ext uri="{FF2B5EF4-FFF2-40B4-BE49-F238E27FC236}">
                <a16:creationId xmlns:a16="http://schemas.microsoft.com/office/drawing/2014/main" id="{ADE57841-CF2C-4B25-A030-C0C256C480FD}"/>
              </a:ext>
            </a:extLst>
          </p:cNvPr>
          <p:cNvSpPr>
            <a:spLocks noGrp="1"/>
          </p:cNvSpPr>
          <p:nvPr/>
        </p:nvSpPr>
        <p:spPr>
          <a:xfrm>
            <a:off x="8334375" y="219075"/>
            <a:ext cx="3333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r">
              <a:defRPr sz="1125" b="1">
                <a:solidFill>
                  <a:srgbClr val="1866B5"/>
                </a:solidFill>
                <a:latin typeface="Arial"/>
                <a:ea typeface="Arial"/>
                <a:cs typeface="Arial"/>
              </a:defRPr>
            </a:pPr>
            <a:r>
              <a:rPr sz="1125" b="1" dirty="0">
                <a:solidFill>
                  <a:srgbClr val="1866B5"/>
                </a:solidFill>
                <a:latin typeface="Arial"/>
                <a:ea typeface="Arial"/>
                <a:cs typeface="Arial"/>
              </a:rPr>
              <a:t>READING ROADMAP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1740030E-CB63-451F-B4D5-A5B2FA516A33}"/>
              </a:ext>
            </a:extLst>
          </p:cNvPr>
          <p:cNvSpPr>
            <a:spLocks noGrp="1"/>
          </p:cNvSpPr>
          <p:nvPr/>
        </p:nvSpPr>
        <p:spPr>
          <a:xfrm>
            <a:off x="523875" y="514350"/>
            <a:ext cx="1114425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3000" b="1">
                <a:solidFill>
                  <a:srgbClr val="123D6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3D67"/>
                </a:solidFill>
                <a:latin typeface="Arial"/>
                <a:ea typeface="Arial"/>
                <a:cs typeface="Arial"/>
              </a:rPr>
              <a:t>Outline: the paper and its evidence</a:t>
            </a:r>
          </a:p>
        </p:txBody>
      </p:sp>
      <p:sp>
        <p:nvSpPr>
          <p:cNvPr id="6" name="footer-rule">
            <a:extLst>
              <a:ext uri="{FF2B5EF4-FFF2-40B4-BE49-F238E27FC236}">
                <a16:creationId xmlns:a16="http://schemas.microsoft.com/office/drawing/2014/main" id="{2F101735-4DF3-4C15-9BCE-0429A7DD9B44}"/>
              </a:ext>
            </a:extLst>
          </p:cNvPr>
          <p:cNvSpPr>
            <a:spLocks noGrp="1"/>
          </p:cNvSpPr>
          <p:nvPr/>
        </p:nvSpPr>
        <p:spPr>
          <a:xfrm>
            <a:off x="523875" y="6410325"/>
            <a:ext cx="11144250" cy="9525"/>
          </a:xfrm>
          <a:prstGeom prst="rect">
            <a:avLst/>
          </a:prstGeom>
          <a:solidFill>
            <a:srgbClr val="D6E2EF"/>
          </a:solidFill>
          <a:ln w="0">
            <a:noFill/>
          </a:ln>
        </p:spPr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5BDFBC59-7847-467E-A002-2F20603471F6}"/>
              </a:ext>
            </a:extLst>
          </p:cNvPr>
          <p:cNvSpPr>
            <a:spLocks noGrp="1"/>
          </p:cNvSpPr>
          <p:nvPr/>
        </p:nvSpPr>
        <p:spPr>
          <a:xfrm>
            <a:off x="10858500" y="6515100"/>
            <a:ext cx="8191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r">
              <a:defRPr sz="1200" b="0">
                <a:solidFill>
                  <a:srgbClr val="6176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68B"/>
                </a:solidFill>
                <a:latin typeface="Arial"/>
                <a:ea typeface="Arial"/>
                <a:cs typeface="Arial"/>
              </a:rPr>
              <a:t>02 / 09</a:t>
            </a:r>
          </a:p>
        </p:txBody>
      </p:sp>
      <p:sp>
        <p:nvSpPr>
          <p:cNvPr id="9" name="agenda-subtitle">
            <a:extLst>
              <a:ext uri="{FF2B5EF4-FFF2-40B4-BE49-F238E27FC236}">
                <a16:creationId xmlns:a16="http://schemas.microsoft.com/office/drawing/2014/main" id="{E57368AE-55EA-4C8D-850F-5E2845507A0D}"/>
              </a:ext>
            </a:extLst>
          </p:cNvPr>
          <p:cNvSpPr>
            <a:spLocks noGrp="1"/>
          </p:cNvSpPr>
          <p:nvPr/>
        </p:nvSpPr>
        <p:spPr>
          <a:xfrm>
            <a:off x="523875" y="1447800"/>
            <a:ext cx="111442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875" b="0">
                <a:solidFill>
                  <a:srgbClr val="61768B"/>
                </a:solidFill>
                <a:latin typeface="Arial"/>
                <a:ea typeface="Arial"/>
                <a:cs typeface="Arial"/>
              </a:defRPr>
            </a:pPr>
            <a:r>
              <a:rPr sz="1875" b="0" dirty="0">
                <a:solidFill>
                  <a:srgbClr val="61768B"/>
                </a:solidFill>
                <a:latin typeface="Arial"/>
                <a:ea typeface="Arial"/>
                <a:cs typeface="Arial"/>
              </a:rPr>
              <a:t>Research question → M</a:t>
            </a:r>
            <a:r>
              <a:rPr lang="en-US" sz="1875" b="0" dirty="0">
                <a:solidFill>
                  <a:srgbClr val="61768B"/>
                </a:solidFill>
                <a:latin typeface="Arial"/>
                <a:ea typeface="Arial"/>
                <a:cs typeface="Arial"/>
              </a:rPr>
              <a:t>ethods</a:t>
            </a:r>
            <a:r>
              <a:rPr sz="1875" b="0" dirty="0">
                <a:solidFill>
                  <a:srgbClr val="61768B"/>
                </a:solidFill>
                <a:latin typeface="Arial"/>
                <a:ea typeface="Arial"/>
                <a:cs typeface="Arial"/>
              </a:rPr>
              <a:t> → </a:t>
            </a:r>
            <a:r>
              <a:rPr lang="en-US" sz="1875" b="0" dirty="0">
                <a:solidFill>
                  <a:srgbClr val="61768B"/>
                </a:solidFill>
                <a:latin typeface="Arial"/>
                <a:ea typeface="Arial"/>
                <a:cs typeface="Arial"/>
              </a:rPr>
              <a:t>R</a:t>
            </a:r>
            <a:r>
              <a:rPr lang="en-US" sz="1875" dirty="0">
                <a:solidFill>
                  <a:srgbClr val="61768B"/>
                </a:solidFill>
                <a:latin typeface="Arial"/>
                <a:ea typeface="Arial"/>
                <a:cs typeface="Arial"/>
              </a:rPr>
              <a:t>esults and</a:t>
            </a:r>
            <a:r>
              <a:rPr sz="1875" b="0" dirty="0">
                <a:solidFill>
                  <a:srgbClr val="61768B"/>
                </a:solidFill>
                <a:latin typeface="Arial"/>
                <a:ea typeface="Arial"/>
                <a:cs typeface="Arial"/>
              </a:rPr>
              <a:t> applications → </a:t>
            </a:r>
            <a:r>
              <a:rPr lang="en-US" sz="1875" b="0" dirty="0">
                <a:solidFill>
                  <a:srgbClr val="61768B"/>
                </a:solidFill>
                <a:latin typeface="Arial"/>
                <a:ea typeface="Arial"/>
                <a:cs typeface="Arial"/>
              </a:rPr>
              <a:t>Conclusion</a:t>
            </a:r>
            <a:endParaRPr sz="1875" b="0" dirty="0">
              <a:solidFill>
                <a:srgbClr val="61768B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26" name="表格 25"/>
          <p:cNvGraphicFramePr/>
          <p:nvPr>
            <p:extLst>
              <p:ext uri="{D42A27DB-BD31-4B8C-83A1-F6EECF244321}">
                <p14:modId xmlns:p14="http://schemas.microsoft.com/office/powerpoint/2010/main" val="3320046999"/>
              </p:ext>
            </p:extLst>
          </p:nvPr>
        </p:nvGraphicFramePr>
        <p:xfrm>
          <a:off x="523875" y="2181225"/>
          <a:ext cx="11144250" cy="3771900"/>
        </p:xfrm>
        <a:graphic>
          <a:graphicData uri="http://schemas.openxmlformats.org/drawingml/2006/table">
            <a:tbl>
              <a:tblPr/>
              <a:tblGrid>
                <a:gridCol w="3476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19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438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Paper logic</a:t>
                      </a:r>
                    </a:p>
                  </a:txBody>
                  <a:tcPr>
                    <a:solidFill>
                      <a:srgbClr val="123D6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 focus on</a:t>
                      </a:r>
                    </a:p>
                  </a:txBody>
                  <a:tcPr>
                    <a:solidFill>
                      <a:srgbClr val="123D6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>
                    <a:solidFill>
                      <a:srgbClr val="123D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B52"/>
                          </a:solidFill>
                          <a:latin typeface="Arial"/>
                          <a:ea typeface="Arial"/>
                          <a:cs typeface="Arial"/>
                        </a:rPr>
                        <a:t>01  Motivation &amp;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B52"/>
                          </a:solidFill>
                          <a:latin typeface="Arial"/>
                          <a:ea typeface="Arial"/>
                          <a:cs typeface="Arial"/>
                        </a:rPr>
                        <a:t>Why does financial text</a:t>
                      </a:r>
                    </a:p>
                    <a:p>
                      <a:r>
                        <a:rPr sz="1800" b="0">
                          <a:solidFill>
                            <a:srgbClr val="233B52"/>
                          </a:solidFill>
                          <a:latin typeface="Arial"/>
                          <a:ea typeface="Arial"/>
                          <a:cs typeface="Arial"/>
                        </a:rPr>
                        <a:t>need its own model?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B52"/>
                          </a:solidFill>
                          <a:latin typeface="Arial"/>
                          <a:ea typeface="Arial"/>
                          <a:cs typeface="Arial"/>
                        </a:rPr>
                        <a:t>Sections 1-2</a:t>
                      </a:r>
                    </a:p>
                    <a:p>
                      <a:r>
                        <a:rPr sz="1800" b="0">
                          <a:solidFill>
                            <a:srgbClr val="233B52"/>
                          </a:solidFill>
                          <a:latin typeface="Arial"/>
                          <a:ea typeface="Arial"/>
                          <a:cs typeface="Arial"/>
                        </a:rPr>
                        <a:t>Figure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233B52"/>
                          </a:solidFill>
                          <a:latin typeface="Arial"/>
                          <a:ea typeface="Arial"/>
                          <a:cs typeface="Arial"/>
                        </a:rPr>
                        <a:t>02  Sentiment benchmarks</a:t>
                      </a:r>
                    </a:p>
                  </a:txBody>
                  <a:tcPr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233B52"/>
                          </a:solidFill>
                          <a:latin typeface="Arial"/>
                          <a:ea typeface="Arial"/>
                          <a:cs typeface="Arial"/>
                        </a:rPr>
                        <a:t>Does finance training</a:t>
                      </a:r>
                    </a:p>
                    <a:p>
                      <a:r>
                        <a:rPr sz="1800" b="0" dirty="0">
                          <a:solidFill>
                            <a:srgbClr val="233B52"/>
                          </a:solidFill>
                          <a:latin typeface="Arial"/>
                          <a:ea typeface="Arial"/>
                          <a:cs typeface="Arial"/>
                        </a:rPr>
                        <a:t>improve classification?</a:t>
                      </a:r>
                    </a:p>
                  </a:txBody>
                  <a:tcPr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B52"/>
                          </a:solidFill>
                          <a:latin typeface="Arial"/>
                          <a:ea typeface="Arial"/>
                          <a:cs typeface="Arial"/>
                        </a:rPr>
                        <a:t>Section 3</a:t>
                      </a:r>
                    </a:p>
                    <a:p>
                      <a:r>
                        <a:rPr sz="1800" b="0">
                          <a:solidFill>
                            <a:srgbClr val="233B52"/>
                          </a:solidFill>
                          <a:latin typeface="Arial"/>
                          <a:ea typeface="Arial"/>
                          <a:cs typeface="Arial"/>
                        </a:rPr>
                        <a:t>Table 1</a:t>
                      </a:r>
                    </a:p>
                  </a:txBody>
                  <a:tcPr>
                    <a:solidFill>
                      <a:srgbClr val="ED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233B52"/>
                          </a:solidFill>
                          <a:latin typeface="Arial"/>
                          <a:ea typeface="Arial"/>
                          <a:cs typeface="Arial"/>
                        </a:rPr>
                        <a:t>03  Robustness &amp; applications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B52"/>
                          </a:solidFill>
                          <a:latin typeface="Arial"/>
                          <a:ea typeface="Arial"/>
                          <a:cs typeface="Arial"/>
                        </a:rPr>
                        <a:t>Why does it work?</a:t>
                      </a:r>
                    </a:p>
                    <a:p>
                      <a:r>
                        <a:rPr sz="1800" b="0">
                          <a:solidFill>
                            <a:srgbClr val="233B52"/>
                          </a:solidFill>
                          <a:latin typeface="Arial"/>
                          <a:ea typeface="Arial"/>
                          <a:cs typeface="Arial"/>
                        </a:rPr>
                        <a:t>Where else is it useful?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B52"/>
                          </a:solidFill>
                          <a:latin typeface="Arial"/>
                          <a:ea typeface="Arial"/>
                          <a:cs typeface="Arial"/>
                        </a:rPr>
                        <a:t>Figure 1; Tables 3-5</a:t>
                      </a:r>
                    </a:p>
                    <a:p>
                      <a:r>
                        <a:rPr sz="1800" b="0">
                          <a:solidFill>
                            <a:srgbClr val="233B52"/>
                          </a:solidFill>
                          <a:latin typeface="Arial"/>
                          <a:ea typeface="Arial"/>
                          <a:cs typeface="Arial"/>
                        </a:rPr>
                        <a:t>Table 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233B52"/>
                          </a:solidFill>
                          <a:latin typeface="Arial"/>
                          <a:ea typeface="Arial"/>
                          <a:cs typeface="Arial"/>
                        </a:rPr>
                        <a:t>04  Conclusion &amp; assessment</a:t>
                      </a:r>
                    </a:p>
                  </a:txBody>
                  <a:tcPr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B52"/>
                          </a:solidFill>
                          <a:latin typeface="Arial"/>
                          <a:ea typeface="Arial"/>
                          <a:cs typeface="Arial"/>
                        </a:rPr>
                        <a:t>What is well supported?</a:t>
                      </a:r>
                    </a:p>
                    <a:p>
                      <a:r>
                        <a:rPr sz="1800" b="0">
                          <a:solidFill>
                            <a:srgbClr val="233B52"/>
                          </a:solidFill>
                          <a:latin typeface="Arial"/>
                          <a:ea typeface="Arial"/>
                          <a:cs typeface="Arial"/>
                        </a:rPr>
                        <a:t>What still needs testing?</a:t>
                      </a:r>
                    </a:p>
                  </a:txBody>
                  <a:tcPr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233B52"/>
                          </a:solidFill>
                          <a:latin typeface="Arial"/>
                          <a:ea typeface="Arial"/>
                          <a:cs typeface="Arial"/>
                        </a:rPr>
                        <a:t>Section 6</a:t>
                      </a:r>
                    </a:p>
                    <a:p>
                      <a:r>
                        <a:rPr sz="1800" b="0" dirty="0">
                          <a:solidFill>
                            <a:srgbClr val="233B52"/>
                          </a:solidFill>
                          <a:latin typeface="Arial"/>
                          <a:ea typeface="Arial"/>
                          <a:cs typeface="Arial"/>
                        </a:rPr>
                        <a:t>Reader assessment</a:t>
                      </a:r>
                    </a:p>
                  </a:txBody>
                  <a:tcPr>
                    <a:solidFill>
                      <a:srgbClr val="ED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2724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op-accent">
            <a:extLst>
              <a:ext uri="{FF2B5EF4-FFF2-40B4-BE49-F238E27FC236}">
                <a16:creationId xmlns:a16="http://schemas.microsoft.com/office/drawing/2014/main" id="{B604F43D-9B7E-44C0-A2A7-D3E659A643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1866B5"/>
          </a:solidFill>
          <a:ln w="0">
            <a:noFill/>
          </a:ln>
        </p:spPr>
      </p:sp>
      <p:sp>
        <p:nvSpPr>
          <p:cNvPr id="2" name="heading-background">
            <a:extLst>
              <a:ext uri="{FF2B5EF4-FFF2-40B4-BE49-F238E27FC236}">
                <a16:creationId xmlns:a16="http://schemas.microsoft.com/office/drawing/2014/main" id="{5011EEFD-03C3-49EB-B9EE-E188CCD2A55E}"/>
              </a:ext>
            </a:extLst>
          </p:cNvPr>
          <p:cNvSpPr>
            <a:spLocks noGrp="1"/>
          </p:cNvSpPr>
          <p:nvPr/>
        </p:nvSpPr>
        <p:spPr>
          <a:xfrm>
            <a:off x="0" y="66675"/>
            <a:ext cx="12192000" cy="990600"/>
          </a:xfrm>
          <a:prstGeom prst="rect">
            <a:avLst/>
          </a:prstGeom>
          <a:solidFill>
            <a:srgbClr val="EDF4FB"/>
          </a:solidFill>
          <a:ln w="0">
            <a:noFill/>
          </a:ln>
        </p:spPr>
      </p:sp>
      <p:sp>
        <p:nvSpPr>
          <p:cNvPr id="3" name="series">
            <a:extLst>
              <a:ext uri="{FF2B5EF4-FFF2-40B4-BE49-F238E27FC236}">
                <a16:creationId xmlns:a16="http://schemas.microsoft.com/office/drawing/2014/main" id="{D1137C3C-9E22-4989-97A2-4D9886DC6D24}"/>
              </a:ext>
            </a:extLst>
          </p:cNvPr>
          <p:cNvSpPr>
            <a:spLocks noGrp="1"/>
          </p:cNvSpPr>
          <p:nvPr/>
        </p:nvSpPr>
        <p:spPr>
          <a:xfrm>
            <a:off x="523875" y="219075"/>
            <a:ext cx="68580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125" b="1">
                <a:solidFill>
                  <a:srgbClr val="61768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1768B"/>
                </a:solidFill>
                <a:latin typeface="Arial"/>
                <a:ea typeface="Arial"/>
                <a:cs typeface="Arial"/>
              </a:rPr>
              <a:t>FINBERT  /  PAPER READING</a:t>
            </a:r>
          </a:p>
        </p:txBody>
      </p:sp>
      <p:sp>
        <p:nvSpPr>
          <p:cNvPr id="4" name="section">
            <a:extLst>
              <a:ext uri="{FF2B5EF4-FFF2-40B4-BE49-F238E27FC236}">
                <a16:creationId xmlns:a16="http://schemas.microsoft.com/office/drawing/2014/main" id="{F9CA6AF1-1BEA-432D-A3CE-56CB542B553E}"/>
              </a:ext>
            </a:extLst>
          </p:cNvPr>
          <p:cNvSpPr>
            <a:spLocks noGrp="1"/>
          </p:cNvSpPr>
          <p:nvPr/>
        </p:nvSpPr>
        <p:spPr>
          <a:xfrm>
            <a:off x="8334375" y="219075"/>
            <a:ext cx="3333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r">
              <a:defRPr sz="1125" b="1">
                <a:solidFill>
                  <a:srgbClr val="1866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66B5"/>
                </a:solidFill>
                <a:latin typeface="Arial"/>
                <a:ea typeface="Arial"/>
                <a:cs typeface="Arial"/>
              </a:rPr>
              <a:t>01 / MOTIVATION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7B6CC64F-E86F-41C7-8721-13B62F04AFCD}"/>
              </a:ext>
            </a:extLst>
          </p:cNvPr>
          <p:cNvSpPr>
            <a:spLocks noGrp="1"/>
          </p:cNvSpPr>
          <p:nvPr/>
        </p:nvSpPr>
        <p:spPr>
          <a:xfrm>
            <a:off x="523875" y="514350"/>
            <a:ext cx="1114425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3000" b="1">
                <a:solidFill>
                  <a:srgbClr val="123D6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3D67"/>
                </a:solidFill>
                <a:latin typeface="Arial"/>
                <a:ea typeface="Arial"/>
                <a:cs typeface="Arial"/>
              </a:rPr>
              <a:t>Research question</a:t>
            </a:r>
          </a:p>
        </p:txBody>
      </p:sp>
      <p:sp>
        <p:nvSpPr>
          <p:cNvPr id="6" name="footer-rule">
            <a:extLst>
              <a:ext uri="{FF2B5EF4-FFF2-40B4-BE49-F238E27FC236}">
                <a16:creationId xmlns:a16="http://schemas.microsoft.com/office/drawing/2014/main" id="{FD27E17E-79BE-47BE-8E8A-40A5E7B4F8D3}"/>
              </a:ext>
            </a:extLst>
          </p:cNvPr>
          <p:cNvSpPr>
            <a:spLocks noGrp="1"/>
          </p:cNvSpPr>
          <p:nvPr/>
        </p:nvSpPr>
        <p:spPr>
          <a:xfrm>
            <a:off x="523875" y="6410325"/>
            <a:ext cx="11144250" cy="9525"/>
          </a:xfrm>
          <a:prstGeom prst="rect">
            <a:avLst/>
          </a:prstGeom>
          <a:solidFill>
            <a:srgbClr val="D6E2EF"/>
          </a:solidFill>
          <a:ln w="0">
            <a:noFill/>
          </a:ln>
        </p:spPr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F6BF3992-AE8F-4BA8-8277-6B6A164D7307}"/>
              </a:ext>
            </a:extLst>
          </p:cNvPr>
          <p:cNvSpPr>
            <a:spLocks noGrp="1"/>
          </p:cNvSpPr>
          <p:nvPr/>
        </p:nvSpPr>
        <p:spPr>
          <a:xfrm>
            <a:off x="10858500" y="6515100"/>
            <a:ext cx="8191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r">
              <a:defRPr sz="1200" b="0">
                <a:solidFill>
                  <a:srgbClr val="6176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68B"/>
                </a:solidFill>
                <a:latin typeface="Arial"/>
                <a:ea typeface="Arial"/>
                <a:cs typeface="Arial"/>
              </a:rPr>
              <a:t>03 / 09</a:t>
            </a:r>
          </a:p>
        </p:txBody>
      </p:sp>
      <p:sp>
        <p:nvSpPr>
          <p:cNvPr id="9" name="gap-label">
            <a:extLst>
              <a:ext uri="{FF2B5EF4-FFF2-40B4-BE49-F238E27FC236}">
                <a16:creationId xmlns:a16="http://schemas.microsoft.com/office/drawing/2014/main" id="{888A40EA-E6F4-4226-A0FA-C48F3901A481}"/>
              </a:ext>
            </a:extLst>
          </p:cNvPr>
          <p:cNvSpPr>
            <a:spLocks noGrp="1"/>
          </p:cNvSpPr>
          <p:nvPr/>
        </p:nvSpPr>
        <p:spPr>
          <a:xfrm>
            <a:off x="523875" y="1304925"/>
            <a:ext cx="49530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275" b="1">
                <a:solidFill>
                  <a:srgbClr val="1866B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66B5"/>
                </a:solidFill>
                <a:latin typeface="Arial"/>
                <a:ea typeface="Arial"/>
                <a:cs typeface="Arial"/>
              </a:rPr>
              <a:t>THE GAP</a:t>
            </a:r>
          </a:p>
        </p:txBody>
      </p:sp>
      <p:sp>
        <p:nvSpPr>
          <p:cNvPr id="10" name="gap-head">
            <a:extLst>
              <a:ext uri="{FF2B5EF4-FFF2-40B4-BE49-F238E27FC236}">
                <a16:creationId xmlns:a16="http://schemas.microsoft.com/office/drawing/2014/main" id="{3636BA89-D8D2-4ED1-B2F9-45C6DCCC7109}"/>
              </a:ext>
            </a:extLst>
          </p:cNvPr>
          <p:cNvSpPr>
            <a:spLocks noGrp="1"/>
          </p:cNvSpPr>
          <p:nvPr/>
        </p:nvSpPr>
        <p:spPr>
          <a:xfrm>
            <a:off x="523875" y="1666875"/>
            <a:ext cx="69532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2325" b="1">
                <a:solidFill>
                  <a:srgbClr val="123D6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23D67"/>
                </a:solidFill>
                <a:latin typeface="Arial"/>
                <a:ea typeface="Arial"/>
                <a:cs typeface="Arial"/>
              </a:rPr>
              <a:t>Financial text differs from general text</a:t>
            </a:r>
          </a:p>
        </p:txBody>
      </p:sp>
      <p:sp>
        <p:nvSpPr>
          <p:cNvPr id="11" name="gap-body">
            <a:extLst>
              <a:ext uri="{FF2B5EF4-FFF2-40B4-BE49-F238E27FC236}">
                <a16:creationId xmlns:a16="http://schemas.microsoft.com/office/drawing/2014/main" id="{51F3E55E-AB61-4E71-A30F-9BEB36101ABD}"/>
              </a:ext>
            </a:extLst>
          </p:cNvPr>
          <p:cNvSpPr>
            <a:spLocks noGrp="1"/>
          </p:cNvSpPr>
          <p:nvPr/>
        </p:nvSpPr>
        <p:spPr>
          <a:xfrm>
            <a:off x="523875" y="2190750"/>
            <a:ext cx="6762750" cy="7715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2025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Special vocabulary and sentence context</a:t>
            </a:r>
          </a:p>
          <a:p>
            <a:pPr algn="l">
              <a:defRPr sz="2025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can change the meaning of a statement.</a:t>
            </a:r>
          </a:p>
        </p:txBody>
      </p:sp>
      <p:sp>
        <p:nvSpPr>
          <p:cNvPr id="12" name="example-heading">
            <a:extLst>
              <a:ext uri="{FF2B5EF4-FFF2-40B4-BE49-F238E27FC236}">
                <a16:creationId xmlns:a16="http://schemas.microsoft.com/office/drawing/2014/main" id="{A55D80D7-01BD-4F0D-9F74-FE835EE9ED7B}"/>
              </a:ext>
            </a:extLst>
          </p:cNvPr>
          <p:cNvSpPr>
            <a:spLocks noGrp="1"/>
          </p:cNvSpPr>
          <p:nvPr/>
        </p:nvSpPr>
        <p:spPr>
          <a:xfrm>
            <a:off x="523875" y="3314700"/>
            <a:ext cx="685800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2100" b="1">
                <a:solidFill>
                  <a:srgbClr val="123D6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3D67"/>
                </a:solidFill>
                <a:latin typeface="Arial"/>
                <a:ea typeface="Arial"/>
                <a:cs typeface="Arial"/>
              </a:rPr>
              <a:t>Example from the paper: “allowance”</a:t>
            </a:r>
          </a:p>
        </p:txBody>
      </p:sp>
      <p:graphicFrame>
        <p:nvGraphicFramePr>
          <p:cNvPr id="32" name="表格 31"/>
          <p:cNvGraphicFramePr/>
          <p:nvPr/>
        </p:nvGraphicFramePr>
        <p:xfrm>
          <a:off x="523875" y="3857625"/>
          <a:ext cx="6781800" cy="1504950"/>
        </p:xfrm>
        <a:graphic>
          <a:graphicData uri="http://schemas.openxmlformats.org/drawingml/2006/table">
            <a:tbl>
              <a:tblPr/>
              <a:tblGrid>
                <a:gridCol w="233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48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16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Context</a:t>
                      </a:r>
                    </a:p>
                  </a:txBody>
                  <a:tcPr>
                    <a:solidFill>
                      <a:srgbClr val="123D6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Typical meaning</a:t>
                      </a:r>
                    </a:p>
                  </a:txBody>
                  <a:tcPr>
                    <a:solidFill>
                      <a:srgbClr val="123D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16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B52"/>
                          </a:solidFill>
                          <a:latin typeface="Arial"/>
                          <a:ea typeface="Arial"/>
                          <a:cs typeface="Arial"/>
                        </a:rPr>
                        <a:t>Everyday English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 dirty="0">
                          <a:solidFill>
                            <a:srgbClr val="233B52"/>
                          </a:solidFill>
                          <a:latin typeface="Arial"/>
                          <a:ea typeface="Arial"/>
                          <a:cs typeface="Arial"/>
                        </a:rPr>
                        <a:t>Money given to a child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16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B52"/>
                          </a:solidFill>
                          <a:latin typeface="Arial"/>
                          <a:ea typeface="Arial"/>
                          <a:cs typeface="Arial"/>
                        </a:rPr>
                        <a:t>Financial text</a:t>
                      </a:r>
                    </a:p>
                  </a:txBody>
                  <a:tcPr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 dirty="0">
                          <a:solidFill>
                            <a:srgbClr val="233B52"/>
                          </a:solidFill>
                          <a:latin typeface="Arial"/>
                          <a:ea typeface="Arial"/>
                          <a:cs typeface="Arial"/>
                        </a:rPr>
                        <a:t>Amount planned for a future cost</a:t>
                      </a:r>
                    </a:p>
                  </a:txBody>
                  <a:tcPr>
                    <a:solidFill>
                      <a:srgbClr val="ED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question-background">
            <a:extLst>
              <a:ext uri="{FF2B5EF4-FFF2-40B4-BE49-F238E27FC236}">
                <a16:creationId xmlns:a16="http://schemas.microsoft.com/office/drawing/2014/main" id="{0882C185-AD79-44C7-9A85-FA7D8B3771D5}"/>
              </a:ext>
            </a:extLst>
          </p:cNvPr>
          <p:cNvSpPr>
            <a:spLocks noGrp="1"/>
          </p:cNvSpPr>
          <p:nvPr/>
        </p:nvSpPr>
        <p:spPr>
          <a:xfrm>
            <a:off x="7810500" y="1343025"/>
            <a:ext cx="3857625" cy="4019550"/>
          </a:xfrm>
          <a:prstGeom prst="rect">
            <a:avLst/>
          </a:prstGeom>
          <a:solidFill>
            <a:srgbClr val="EDF4FB"/>
          </a:solidFill>
          <a:ln w="0">
            <a:noFill/>
          </a:ln>
        </p:spPr>
      </p:sp>
      <p:sp>
        <p:nvSpPr>
          <p:cNvPr id="15" name="prior-methods">
            <a:extLst>
              <a:ext uri="{FF2B5EF4-FFF2-40B4-BE49-F238E27FC236}">
                <a16:creationId xmlns:a16="http://schemas.microsoft.com/office/drawing/2014/main" id="{7B18EADE-22CB-4511-8FA6-8911F6E6B064}"/>
              </a:ext>
            </a:extLst>
          </p:cNvPr>
          <p:cNvSpPr>
            <a:spLocks noGrp="1"/>
          </p:cNvSpPr>
          <p:nvPr/>
        </p:nvSpPr>
        <p:spPr>
          <a:xfrm>
            <a:off x="8020050" y="1581150"/>
            <a:ext cx="34290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875" b="1">
                <a:solidFill>
                  <a:srgbClr val="123D6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D67"/>
                </a:solidFill>
                <a:latin typeface="Arial"/>
                <a:ea typeface="Arial"/>
                <a:cs typeface="Arial"/>
              </a:rPr>
              <a:t>Prior approaches</a:t>
            </a:r>
          </a:p>
        </p:txBody>
      </p:sp>
      <p:sp>
        <p:nvSpPr>
          <p:cNvPr id="16" name="prior-body">
            <a:extLst>
              <a:ext uri="{FF2B5EF4-FFF2-40B4-BE49-F238E27FC236}">
                <a16:creationId xmlns:a16="http://schemas.microsoft.com/office/drawing/2014/main" id="{934CDC3D-2E69-4F54-A52B-6269B40BB2E8}"/>
              </a:ext>
            </a:extLst>
          </p:cNvPr>
          <p:cNvSpPr>
            <a:spLocks noGrp="1"/>
          </p:cNvSpPr>
          <p:nvPr/>
        </p:nvSpPr>
        <p:spPr>
          <a:xfrm>
            <a:off x="8020050" y="2009775"/>
            <a:ext cx="3429000" cy="7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725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1725" b="0" dirty="0">
                <a:solidFill>
                  <a:srgbClr val="233B52"/>
                </a:solidFill>
                <a:latin typeface="Arial"/>
                <a:ea typeface="Arial"/>
                <a:cs typeface="Arial"/>
              </a:rPr>
              <a:t>Dictionaries and bag-of-words</a:t>
            </a:r>
          </a:p>
          <a:p>
            <a:pPr algn="l">
              <a:defRPr sz="1725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1725" b="0" dirty="0">
                <a:solidFill>
                  <a:srgbClr val="233B52"/>
                </a:solidFill>
                <a:latin typeface="Arial"/>
                <a:ea typeface="Arial"/>
                <a:cs typeface="Arial"/>
              </a:rPr>
              <a:t>use limited sentence context.</a:t>
            </a:r>
          </a:p>
        </p:txBody>
      </p:sp>
      <p:sp>
        <p:nvSpPr>
          <p:cNvPr id="17" name="paper-contribution">
            <a:extLst>
              <a:ext uri="{FF2B5EF4-FFF2-40B4-BE49-F238E27FC236}">
                <a16:creationId xmlns:a16="http://schemas.microsoft.com/office/drawing/2014/main" id="{866975B0-4425-4151-A167-995FA5E0C4F0}"/>
              </a:ext>
            </a:extLst>
          </p:cNvPr>
          <p:cNvSpPr>
            <a:spLocks noGrp="1"/>
          </p:cNvSpPr>
          <p:nvPr/>
        </p:nvSpPr>
        <p:spPr>
          <a:xfrm>
            <a:off x="8020050" y="3133725"/>
            <a:ext cx="34290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875" b="1">
                <a:solidFill>
                  <a:srgbClr val="123D6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D67"/>
                </a:solidFill>
                <a:latin typeface="Arial"/>
                <a:ea typeface="Arial"/>
                <a:cs typeface="Arial"/>
              </a:rPr>
              <a:t>What this paper tests</a:t>
            </a:r>
          </a:p>
        </p:txBody>
      </p:sp>
      <p:sp>
        <p:nvSpPr>
          <p:cNvPr id="18" name="paper-contribution-body">
            <a:extLst>
              <a:ext uri="{FF2B5EF4-FFF2-40B4-BE49-F238E27FC236}">
                <a16:creationId xmlns:a16="http://schemas.microsoft.com/office/drawing/2014/main" id="{AF80DEF3-8437-4E55-B101-980256F9A9C8}"/>
              </a:ext>
            </a:extLst>
          </p:cNvPr>
          <p:cNvSpPr>
            <a:spLocks noGrp="1"/>
          </p:cNvSpPr>
          <p:nvPr/>
        </p:nvSpPr>
        <p:spPr>
          <a:xfrm>
            <a:off x="8020050" y="3562350"/>
            <a:ext cx="3429000" cy="1047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725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Finance-adapted BERT versus</a:t>
            </a:r>
          </a:p>
          <a:p>
            <a:pPr algn="l">
              <a:defRPr sz="1725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general BERT, classical ML,</a:t>
            </a:r>
          </a:p>
          <a:p>
            <a:pPr algn="l">
              <a:defRPr sz="1725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and earlier deep models.</a:t>
            </a:r>
          </a:p>
        </p:txBody>
      </p:sp>
      <p:sp>
        <p:nvSpPr>
          <p:cNvPr id="19" name="rq">
            <a:extLst>
              <a:ext uri="{FF2B5EF4-FFF2-40B4-BE49-F238E27FC236}">
                <a16:creationId xmlns:a16="http://schemas.microsoft.com/office/drawing/2014/main" id="{E74352B0-2EC4-4A09-B5AF-BEBE3F369A4C}"/>
              </a:ext>
            </a:extLst>
          </p:cNvPr>
          <p:cNvSpPr>
            <a:spLocks noGrp="1"/>
          </p:cNvSpPr>
          <p:nvPr/>
        </p:nvSpPr>
        <p:spPr>
          <a:xfrm>
            <a:off x="523875" y="5781675"/>
            <a:ext cx="1114425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2175" b="1">
                <a:solidFill>
                  <a:srgbClr val="1866B5"/>
                </a:solidFill>
                <a:latin typeface="Arial"/>
                <a:ea typeface="Arial"/>
                <a:cs typeface="Arial"/>
              </a:defRPr>
            </a:pPr>
            <a:r>
              <a:rPr sz="2175" b="1" dirty="0">
                <a:solidFill>
                  <a:srgbClr val="1866B5"/>
                </a:solidFill>
                <a:latin typeface="Arial"/>
                <a:ea typeface="Arial"/>
                <a:cs typeface="Arial"/>
              </a:rPr>
              <a:t>Can domain training improve accurate extraction of financial information?</a:t>
            </a:r>
          </a:p>
        </p:txBody>
      </p:sp>
    </p:spTree>
    <p:extLst>
      <p:ext uri="{BB962C8B-B14F-4D97-AF65-F5344CB8AC3E}">
        <p14:creationId xmlns:p14="http://schemas.microsoft.com/office/powerpoint/2010/main" val="1315244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op-accent">
            <a:extLst>
              <a:ext uri="{FF2B5EF4-FFF2-40B4-BE49-F238E27FC236}">
                <a16:creationId xmlns:a16="http://schemas.microsoft.com/office/drawing/2014/main" id="{0182B578-9328-4781-8569-265B74B8778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1866B5"/>
          </a:solidFill>
          <a:ln w="0">
            <a:noFill/>
          </a:ln>
        </p:spPr>
      </p:sp>
      <p:sp>
        <p:nvSpPr>
          <p:cNvPr id="2" name="heading-background">
            <a:extLst>
              <a:ext uri="{FF2B5EF4-FFF2-40B4-BE49-F238E27FC236}">
                <a16:creationId xmlns:a16="http://schemas.microsoft.com/office/drawing/2014/main" id="{C222EEEA-17A0-4A87-AFEF-7552031255F2}"/>
              </a:ext>
            </a:extLst>
          </p:cNvPr>
          <p:cNvSpPr>
            <a:spLocks noGrp="1"/>
          </p:cNvSpPr>
          <p:nvPr/>
        </p:nvSpPr>
        <p:spPr>
          <a:xfrm>
            <a:off x="0" y="66675"/>
            <a:ext cx="12192000" cy="990600"/>
          </a:xfrm>
          <a:prstGeom prst="rect">
            <a:avLst/>
          </a:prstGeom>
          <a:solidFill>
            <a:srgbClr val="EDF4FB"/>
          </a:solidFill>
          <a:ln w="0">
            <a:noFill/>
          </a:ln>
        </p:spPr>
      </p:sp>
      <p:sp>
        <p:nvSpPr>
          <p:cNvPr id="3" name="series">
            <a:extLst>
              <a:ext uri="{FF2B5EF4-FFF2-40B4-BE49-F238E27FC236}">
                <a16:creationId xmlns:a16="http://schemas.microsoft.com/office/drawing/2014/main" id="{D131C778-00FA-4A2A-9F30-25C476D36245}"/>
              </a:ext>
            </a:extLst>
          </p:cNvPr>
          <p:cNvSpPr>
            <a:spLocks noGrp="1"/>
          </p:cNvSpPr>
          <p:nvPr/>
        </p:nvSpPr>
        <p:spPr>
          <a:xfrm>
            <a:off x="523875" y="219075"/>
            <a:ext cx="68580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125" b="1">
                <a:solidFill>
                  <a:srgbClr val="61768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1768B"/>
                </a:solidFill>
                <a:latin typeface="Arial"/>
                <a:ea typeface="Arial"/>
                <a:cs typeface="Arial"/>
              </a:rPr>
              <a:t>FINBERT  /  PAPER READING</a:t>
            </a:r>
          </a:p>
        </p:txBody>
      </p:sp>
      <p:sp>
        <p:nvSpPr>
          <p:cNvPr id="4" name="section">
            <a:extLst>
              <a:ext uri="{FF2B5EF4-FFF2-40B4-BE49-F238E27FC236}">
                <a16:creationId xmlns:a16="http://schemas.microsoft.com/office/drawing/2014/main" id="{96480046-AC70-4FB9-88A4-A615BD67B8F9}"/>
              </a:ext>
            </a:extLst>
          </p:cNvPr>
          <p:cNvSpPr>
            <a:spLocks noGrp="1"/>
          </p:cNvSpPr>
          <p:nvPr/>
        </p:nvSpPr>
        <p:spPr>
          <a:xfrm>
            <a:off x="8334375" y="219075"/>
            <a:ext cx="3333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r">
              <a:defRPr sz="1125" b="1">
                <a:solidFill>
                  <a:srgbClr val="1866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66B5"/>
                </a:solidFill>
                <a:latin typeface="Arial"/>
                <a:ea typeface="Arial"/>
                <a:cs typeface="Arial"/>
              </a:rPr>
              <a:t>02 / MODEL &amp; DATA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2294AE67-F9A8-44BA-92EC-FCFB154957AA}"/>
              </a:ext>
            </a:extLst>
          </p:cNvPr>
          <p:cNvSpPr>
            <a:spLocks noGrp="1"/>
          </p:cNvSpPr>
          <p:nvPr/>
        </p:nvSpPr>
        <p:spPr>
          <a:xfrm>
            <a:off x="523875" y="514350"/>
            <a:ext cx="1114425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3000" b="1">
                <a:solidFill>
                  <a:srgbClr val="123D6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3D67"/>
                </a:solidFill>
                <a:latin typeface="Arial"/>
                <a:ea typeface="Arial"/>
                <a:cs typeface="Arial"/>
              </a:rPr>
              <a:t>Method and experimental setup</a:t>
            </a:r>
          </a:p>
        </p:txBody>
      </p:sp>
      <p:sp>
        <p:nvSpPr>
          <p:cNvPr id="6" name="footer-rule">
            <a:extLst>
              <a:ext uri="{FF2B5EF4-FFF2-40B4-BE49-F238E27FC236}">
                <a16:creationId xmlns:a16="http://schemas.microsoft.com/office/drawing/2014/main" id="{4E0396A2-A39C-416B-805D-3D34A65C4343}"/>
              </a:ext>
            </a:extLst>
          </p:cNvPr>
          <p:cNvSpPr>
            <a:spLocks noGrp="1"/>
          </p:cNvSpPr>
          <p:nvPr/>
        </p:nvSpPr>
        <p:spPr>
          <a:xfrm>
            <a:off x="523875" y="6410325"/>
            <a:ext cx="11144250" cy="9525"/>
          </a:xfrm>
          <a:prstGeom prst="rect">
            <a:avLst/>
          </a:prstGeom>
          <a:solidFill>
            <a:srgbClr val="D6E2EF"/>
          </a:solidFill>
          <a:ln w="0">
            <a:noFill/>
          </a:ln>
        </p:spPr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53888EAC-1A05-41CB-B14D-6C3304B9B44C}"/>
              </a:ext>
            </a:extLst>
          </p:cNvPr>
          <p:cNvSpPr>
            <a:spLocks noGrp="1"/>
          </p:cNvSpPr>
          <p:nvPr/>
        </p:nvSpPr>
        <p:spPr>
          <a:xfrm>
            <a:off x="10858500" y="6515100"/>
            <a:ext cx="8191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r">
              <a:defRPr sz="1200" b="0">
                <a:solidFill>
                  <a:srgbClr val="6176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68B"/>
                </a:solidFill>
                <a:latin typeface="Arial"/>
                <a:ea typeface="Arial"/>
                <a:cs typeface="Arial"/>
              </a:rPr>
              <a:t>04 / 09</a:t>
            </a:r>
          </a:p>
        </p:txBody>
      </p:sp>
      <p:sp>
        <p:nvSpPr>
          <p:cNvPr id="9" name="method-intro">
            <a:extLst>
              <a:ext uri="{FF2B5EF4-FFF2-40B4-BE49-F238E27FC236}">
                <a16:creationId xmlns:a16="http://schemas.microsoft.com/office/drawing/2014/main" id="{8605E50B-A8FE-452A-9E36-4910DC4D5F1D}"/>
              </a:ext>
            </a:extLst>
          </p:cNvPr>
          <p:cNvSpPr>
            <a:spLocks noGrp="1"/>
          </p:cNvSpPr>
          <p:nvPr/>
        </p:nvSpPr>
        <p:spPr>
          <a:xfrm>
            <a:off x="523875" y="1257300"/>
            <a:ext cx="1114425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800" b="0">
                <a:solidFill>
                  <a:srgbClr val="61768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1768B"/>
                </a:solidFill>
                <a:latin typeface="Arial"/>
                <a:ea typeface="Arial"/>
                <a:cs typeface="Arial"/>
              </a:rPr>
              <a:t>BERT BASE architecture • 12 layers • 768-dimensional representations</a:t>
            </a: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r="4129" b="7435"/>
          <a:stretch>
            <a:fillRect/>
          </a:stretch>
        </p:blipFill>
        <p:spPr>
          <a:xfrm>
            <a:off x="498702" y="1581344"/>
            <a:ext cx="7898945" cy="3390982"/>
          </a:xfrm>
          <a:prstGeom prst="rect">
            <a:avLst/>
          </a:prstGeom>
        </p:spPr>
      </p:pic>
      <p:sp>
        <p:nvSpPr>
          <p:cNvPr id="11" name="corpus-head">
            <a:extLst>
              <a:ext uri="{FF2B5EF4-FFF2-40B4-BE49-F238E27FC236}">
                <a16:creationId xmlns:a16="http://schemas.microsoft.com/office/drawing/2014/main" id="{B115FA7A-B2F4-4CFA-851A-A96FDDE1878A}"/>
              </a:ext>
            </a:extLst>
          </p:cNvPr>
          <p:cNvSpPr>
            <a:spLocks noGrp="1"/>
          </p:cNvSpPr>
          <p:nvPr/>
        </p:nvSpPr>
        <p:spPr>
          <a:xfrm>
            <a:off x="8820150" y="1714500"/>
            <a:ext cx="2847975" cy="628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2025" b="1">
                <a:solidFill>
                  <a:srgbClr val="1866B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66B5"/>
                </a:solidFill>
                <a:latin typeface="Arial"/>
                <a:ea typeface="Arial"/>
                <a:cs typeface="Arial"/>
              </a:rPr>
              <a:t>Pretraining corpus</a:t>
            </a:r>
          </a:p>
          <a:p>
            <a:pPr algn="l">
              <a:defRPr sz="2025" b="1">
                <a:solidFill>
                  <a:srgbClr val="1866B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66B5"/>
                </a:solidFill>
                <a:latin typeface="Arial"/>
                <a:ea typeface="Arial"/>
                <a:cs typeface="Arial"/>
              </a:rPr>
              <a:t>4.9B tokens</a:t>
            </a:r>
          </a:p>
        </p:txBody>
      </p:sp>
      <p:sp>
        <p:nvSpPr>
          <p:cNvPr id="12" name="corpus-composition">
            <a:extLst>
              <a:ext uri="{FF2B5EF4-FFF2-40B4-BE49-F238E27FC236}">
                <a16:creationId xmlns:a16="http://schemas.microsoft.com/office/drawing/2014/main" id="{87A50144-EA59-4BEF-91AD-72111A25D337}"/>
              </a:ext>
            </a:extLst>
          </p:cNvPr>
          <p:cNvSpPr>
            <a:spLocks noGrp="1"/>
          </p:cNvSpPr>
          <p:nvPr/>
        </p:nvSpPr>
        <p:spPr>
          <a:xfrm>
            <a:off x="8820150" y="2495550"/>
            <a:ext cx="2847975" cy="1057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725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2.5B  Corporate filings</a:t>
            </a:r>
          </a:p>
          <a:p>
            <a:pPr algn="l">
              <a:defRPr sz="1725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1.1B  Analyst reports</a:t>
            </a:r>
          </a:p>
          <a:p>
            <a:pPr algn="l">
              <a:defRPr sz="1725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1.3B  Earnings calls</a:t>
            </a:r>
          </a:p>
        </p:txBody>
      </p:sp>
      <p:sp>
        <p:nvSpPr>
          <p:cNvPr id="13" name="vocab-head">
            <a:extLst>
              <a:ext uri="{FF2B5EF4-FFF2-40B4-BE49-F238E27FC236}">
                <a16:creationId xmlns:a16="http://schemas.microsoft.com/office/drawing/2014/main" id="{28BD56CF-3230-4883-B834-5F4E04A3C20E}"/>
              </a:ext>
            </a:extLst>
          </p:cNvPr>
          <p:cNvSpPr>
            <a:spLocks noGrp="1"/>
          </p:cNvSpPr>
          <p:nvPr/>
        </p:nvSpPr>
        <p:spPr>
          <a:xfrm>
            <a:off x="8820150" y="3819525"/>
            <a:ext cx="28479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800" b="1">
                <a:solidFill>
                  <a:srgbClr val="123D6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3D67"/>
                </a:solidFill>
                <a:latin typeface="Arial"/>
                <a:ea typeface="Arial"/>
                <a:cs typeface="Arial"/>
              </a:rPr>
              <a:t>Financial vocabulary</a:t>
            </a:r>
          </a:p>
        </p:txBody>
      </p:sp>
      <p:sp>
        <p:nvSpPr>
          <p:cNvPr id="14" name="vocab-body">
            <a:extLst>
              <a:ext uri="{FF2B5EF4-FFF2-40B4-BE49-F238E27FC236}">
                <a16:creationId xmlns:a16="http://schemas.microsoft.com/office/drawing/2014/main" id="{0556DEEE-6AFD-4102-B74F-9AC439A4C30B}"/>
              </a:ext>
            </a:extLst>
          </p:cNvPr>
          <p:cNvSpPr>
            <a:spLocks noGrp="1"/>
          </p:cNvSpPr>
          <p:nvPr/>
        </p:nvSpPr>
        <p:spPr>
          <a:xfrm>
            <a:off x="8820150" y="4229100"/>
            <a:ext cx="2847975" cy="676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725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30,873 tokens</a:t>
            </a:r>
          </a:p>
          <a:p>
            <a:pPr algn="l">
              <a:defRPr sz="1725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~41% overlap with BERT</a:t>
            </a:r>
          </a:p>
        </p:txBody>
      </p:sp>
      <p:sp>
        <p:nvSpPr>
          <p:cNvPr id="15" name="method-divider">
            <a:extLst>
              <a:ext uri="{FF2B5EF4-FFF2-40B4-BE49-F238E27FC236}">
                <a16:creationId xmlns:a16="http://schemas.microsoft.com/office/drawing/2014/main" id="{D30D0B8E-CF92-482F-9367-C2D31B33129B}"/>
              </a:ext>
            </a:extLst>
          </p:cNvPr>
          <p:cNvSpPr>
            <a:spLocks noGrp="1"/>
          </p:cNvSpPr>
          <p:nvPr/>
        </p:nvSpPr>
        <p:spPr>
          <a:xfrm>
            <a:off x="523875" y="5057775"/>
            <a:ext cx="11144250" cy="9525"/>
          </a:xfrm>
          <a:prstGeom prst="rect">
            <a:avLst/>
          </a:prstGeom>
          <a:solidFill>
            <a:srgbClr val="D6E2EF"/>
          </a:solidFill>
          <a:ln w="0">
            <a:noFill/>
          </a:ln>
        </p:spPr>
      </p:sp>
      <p:sp>
        <p:nvSpPr>
          <p:cNvPr id="16" name="objectives-head">
            <a:extLst>
              <a:ext uri="{FF2B5EF4-FFF2-40B4-BE49-F238E27FC236}">
                <a16:creationId xmlns:a16="http://schemas.microsoft.com/office/drawing/2014/main" id="{AC4B0F69-E205-46C5-A58C-6747E36EB467}"/>
              </a:ext>
            </a:extLst>
          </p:cNvPr>
          <p:cNvSpPr>
            <a:spLocks noGrp="1"/>
          </p:cNvSpPr>
          <p:nvPr/>
        </p:nvSpPr>
        <p:spPr>
          <a:xfrm>
            <a:off x="523875" y="5229225"/>
            <a:ext cx="34671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800" b="1">
                <a:solidFill>
                  <a:srgbClr val="123D6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3D67"/>
                </a:solidFill>
                <a:latin typeface="Arial"/>
                <a:ea typeface="Arial"/>
                <a:cs typeface="Arial"/>
              </a:rPr>
              <a:t>Pretraining objectives</a:t>
            </a:r>
          </a:p>
        </p:txBody>
      </p:sp>
      <p:sp>
        <p:nvSpPr>
          <p:cNvPr id="17" name="objectives">
            <a:extLst>
              <a:ext uri="{FF2B5EF4-FFF2-40B4-BE49-F238E27FC236}">
                <a16:creationId xmlns:a16="http://schemas.microsoft.com/office/drawing/2014/main" id="{630F69A6-3DF3-49C8-80E5-07FDA560505E}"/>
              </a:ext>
            </a:extLst>
          </p:cNvPr>
          <p:cNvSpPr>
            <a:spLocks noGrp="1"/>
          </p:cNvSpPr>
          <p:nvPr/>
        </p:nvSpPr>
        <p:spPr>
          <a:xfrm>
            <a:off x="523875" y="5638800"/>
            <a:ext cx="346710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650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Masked words (15% of tokens)</a:t>
            </a:r>
          </a:p>
          <a:p>
            <a:pPr algn="l">
              <a:defRPr sz="1650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Next-sentence prediction</a:t>
            </a:r>
          </a:p>
        </p:txBody>
      </p:sp>
      <p:sp>
        <p:nvSpPr>
          <p:cNvPr id="18" name="classification-head">
            <a:extLst>
              <a:ext uri="{FF2B5EF4-FFF2-40B4-BE49-F238E27FC236}">
                <a16:creationId xmlns:a16="http://schemas.microsoft.com/office/drawing/2014/main" id="{94706E72-EE69-44C8-863B-246DBF3ADA80}"/>
              </a:ext>
            </a:extLst>
          </p:cNvPr>
          <p:cNvSpPr>
            <a:spLocks noGrp="1"/>
          </p:cNvSpPr>
          <p:nvPr/>
        </p:nvSpPr>
        <p:spPr>
          <a:xfrm>
            <a:off x="4448175" y="5229225"/>
            <a:ext cx="33337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800" b="1">
                <a:solidFill>
                  <a:srgbClr val="123D6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3D67"/>
                </a:solidFill>
                <a:latin typeface="Arial"/>
                <a:ea typeface="Arial"/>
                <a:cs typeface="Arial"/>
              </a:rPr>
              <a:t>Fine-tuning head</a:t>
            </a:r>
          </a:p>
        </p:txBody>
      </p:sp>
      <p:sp>
        <p:nvSpPr>
          <p:cNvPr id="19" name="classification-body">
            <a:extLst>
              <a:ext uri="{FF2B5EF4-FFF2-40B4-BE49-F238E27FC236}">
                <a16:creationId xmlns:a16="http://schemas.microsoft.com/office/drawing/2014/main" id="{1243A77D-1DE4-4826-BA21-EE4A400093B3}"/>
              </a:ext>
            </a:extLst>
          </p:cNvPr>
          <p:cNvSpPr>
            <a:spLocks noGrp="1"/>
          </p:cNvSpPr>
          <p:nvPr/>
        </p:nvSpPr>
        <p:spPr>
          <a:xfrm>
            <a:off x="4448175" y="5638800"/>
            <a:ext cx="333375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650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[CLS] representation → softmax</a:t>
            </a:r>
          </a:p>
          <a:p>
            <a:pPr algn="l">
              <a:defRPr sz="1650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Positive / Neutral / Negative</a:t>
            </a:r>
          </a:p>
        </p:txBody>
      </p:sp>
      <p:sp>
        <p:nvSpPr>
          <p:cNvPr id="20" name="split-head">
            <a:extLst>
              <a:ext uri="{FF2B5EF4-FFF2-40B4-BE49-F238E27FC236}">
                <a16:creationId xmlns:a16="http://schemas.microsoft.com/office/drawing/2014/main" id="{FA8ABCB4-6F8A-4757-B10C-C94AD15A8C4F}"/>
              </a:ext>
            </a:extLst>
          </p:cNvPr>
          <p:cNvSpPr>
            <a:spLocks noGrp="1"/>
          </p:cNvSpPr>
          <p:nvPr/>
        </p:nvSpPr>
        <p:spPr>
          <a:xfrm>
            <a:off x="8372475" y="5229225"/>
            <a:ext cx="32956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650" b="1">
                <a:solidFill>
                  <a:srgbClr val="123D6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3D67"/>
                </a:solidFill>
                <a:latin typeface="Arial"/>
                <a:ea typeface="Arial"/>
                <a:cs typeface="Arial"/>
              </a:rPr>
              <a:t>Evaluation split: 10,000 sentences</a:t>
            </a:r>
          </a:p>
        </p:txBody>
      </p:sp>
      <p:sp>
        <p:nvSpPr>
          <p:cNvPr id="21" name="split-body">
            <a:extLst>
              <a:ext uri="{FF2B5EF4-FFF2-40B4-BE49-F238E27FC236}">
                <a16:creationId xmlns:a16="http://schemas.microsoft.com/office/drawing/2014/main" id="{CA17FDEB-3C5F-4020-9393-FECE8B9FAB6F}"/>
              </a:ext>
            </a:extLst>
          </p:cNvPr>
          <p:cNvSpPr>
            <a:spLocks noGrp="1"/>
          </p:cNvSpPr>
          <p:nvPr/>
        </p:nvSpPr>
        <p:spPr>
          <a:xfrm>
            <a:off x="8372475" y="5638800"/>
            <a:ext cx="329565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500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Train 8,100  |  Validation 900</a:t>
            </a:r>
          </a:p>
          <a:p>
            <a:pPr algn="l">
              <a:defRPr sz="1500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Test 1,000  |  Same split for ML models</a:t>
            </a:r>
          </a:p>
        </p:txBody>
      </p:sp>
    </p:spTree>
    <p:extLst>
      <p:ext uri="{BB962C8B-B14F-4D97-AF65-F5344CB8AC3E}">
        <p14:creationId xmlns:p14="http://schemas.microsoft.com/office/powerpoint/2010/main" val="1664695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op-accent">
            <a:extLst>
              <a:ext uri="{FF2B5EF4-FFF2-40B4-BE49-F238E27FC236}">
                <a16:creationId xmlns:a16="http://schemas.microsoft.com/office/drawing/2014/main" id="{D48E9A04-E17F-4662-AF1C-143E07C05D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1866B5"/>
          </a:solidFill>
          <a:ln w="0">
            <a:noFill/>
          </a:ln>
        </p:spPr>
      </p:sp>
      <p:sp>
        <p:nvSpPr>
          <p:cNvPr id="2" name="heading-background">
            <a:extLst>
              <a:ext uri="{FF2B5EF4-FFF2-40B4-BE49-F238E27FC236}">
                <a16:creationId xmlns:a16="http://schemas.microsoft.com/office/drawing/2014/main" id="{31B528C8-9337-47B6-A5C2-024B5E99AB15}"/>
              </a:ext>
            </a:extLst>
          </p:cNvPr>
          <p:cNvSpPr>
            <a:spLocks noGrp="1"/>
          </p:cNvSpPr>
          <p:nvPr/>
        </p:nvSpPr>
        <p:spPr>
          <a:xfrm>
            <a:off x="0" y="66675"/>
            <a:ext cx="12192000" cy="990600"/>
          </a:xfrm>
          <a:prstGeom prst="rect">
            <a:avLst/>
          </a:prstGeom>
          <a:solidFill>
            <a:srgbClr val="EDF4FB"/>
          </a:solidFill>
          <a:ln w="0">
            <a:noFill/>
          </a:ln>
        </p:spPr>
      </p:sp>
      <p:sp>
        <p:nvSpPr>
          <p:cNvPr id="3" name="series">
            <a:extLst>
              <a:ext uri="{FF2B5EF4-FFF2-40B4-BE49-F238E27FC236}">
                <a16:creationId xmlns:a16="http://schemas.microsoft.com/office/drawing/2014/main" id="{7F426751-0FE8-49F8-B588-7EAF3ED7B17D}"/>
              </a:ext>
            </a:extLst>
          </p:cNvPr>
          <p:cNvSpPr>
            <a:spLocks noGrp="1"/>
          </p:cNvSpPr>
          <p:nvPr/>
        </p:nvSpPr>
        <p:spPr>
          <a:xfrm>
            <a:off x="523875" y="219075"/>
            <a:ext cx="68580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125" b="1">
                <a:solidFill>
                  <a:srgbClr val="61768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1768B"/>
                </a:solidFill>
                <a:latin typeface="Arial"/>
                <a:ea typeface="Arial"/>
                <a:cs typeface="Arial"/>
              </a:rPr>
              <a:t>FINBERT  /  PAPER READING</a:t>
            </a:r>
          </a:p>
        </p:txBody>
      </p:sp>
      <p:sp>
        <p:nvSpPr>
          <p:cNvPr id="4" name="section">
            <a:extLst>
              <a:ext uri="{FF2B5EF4-FFF2-40B4-BE49-F238E27FC236}">
                <a16:creationId xmlns:a16="http://schemas.microsoft.com/office/drawing/2014/main" id="{88219597-650E-46E8-AF81-2666D9441F00}"/>
              </a:ext>
            </a:extLst>
          </p:cNvPr>
          <p:cNvSpPr>
            <a:spLocks noGrp="1"/>
          </p:cNvSpPr>
          <p:nvPr/>
        </p:nvSpPr>
        <p:spPr>
          <a:xfrm>
            <a:off x="8334375" y="219075"/>
            <a:ext cx="3333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r">
              <a:defRPr sz="1125" b="1">
                <a:solidFill>
                  <a:srgbClr val="1866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66B5"/>
                </a:solidFill>
                <a:latin typeface="Arial"/>
                <a:ea typeface="Arial"/>
                <a:cs typeface="Arial"/>
              </a:rPr>
              <a:t>03 / MAIN BENCHMARK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1433E70-79D9-43F1-88CA-E56ABB03088E}"/>
              </a:ext>
            </a:extLst>
          </p:cNvPr>
          <p:cNvSpPr>
            <a:spLocks noGrp="1"/>
          </p:cNvSpPr>
          <p:nvPr/>
        </p:nvSpPr>
        <p:spPr>
          <a:xfrm>
            <a:off x="523875" y="514350"/>
            <a:ext cx="1114425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3000" b="1">
                <a:solidFill>
                  <a:srgbClr val="123D6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3D67"/>
                </a:solidFill>
                <a:latin typeface="Arial"/>
                <a:ea typeface="Arial"/>
                <a:cs typeface="Arial"/>
              </a:rPr>
              <a:t>Results: sentiment classification</a:t>
            </a:r>
          </a:p>
        </p:txBody>
      </p:sp>
      <p:sp>
        <p:nvSpPr>
          <p:cNvPr id="6" name="footer-rule">
            <a:extLst>
              <a:ext uri="{FF2B5EF4-FFF2-40B4-BE49-F238E27FC236}">
                <a16:creationId xmlns:a16="http://schemas.microsoft.com/office/drawing/2014/main" id="{3A898E37-F164-4B2F-8623-F53211DE973C}"/>
              </a:ext>
            </a:extLst>
          </p:cNvPr>
          <p:cNvSpPr>
            <a:spLocks noGrp="1"/>
          </p:cNvSpPr>
          <p:nvPr/>
        </p:nvSpPr>
        <p:spPr>
          <a:xfrm>
            <a:off x="523875" y="6410325"/>
            <a:ext cx="11144250" cy="9525"/>
          </a:xfrm>
          <a:prstGeom prst="rect">
            <a:avLst/>
          </a:prstGeom>
          <a:solidFill>
            <a:srgbClr val="D6E2EF"/>
          </a:solidFill>
          <a:ln w="0">
            <a:noFill/>
          </a:ln>
        </p:spPr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60CEF570-9253-468E-B2CE-BD6F06DC6620}"/>
              </a:ext>
            </a:extLst>
          </p:cNvPr>
          <p:cNvSpPr>
            <a:spLocks noGrp="1"/>
          </p:cNvSpPr>
          <p:nvPr/>
        </p:nvSpPr>
        <p:spPr>
          <a:xfrm>
            <a:off x="10858500" y="6515100"/>
            <a:ext cx="8191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r">
              <a:defRPr sz="1200" b="0">
                <a:solidFill>
                  <a:srgbClr val="6176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68B"/>
                </a:solidFill>
                <a:latin typeface="Arial"/>
                <a:ea typeface="Arial"/>
                <a:cs typeface="Arial"/>
              </a:rPr>
              <a:t>05 / 09</a:t>
            </a:r>
          </a:p>
        </p:txBody>
      </p:sp>
      <p:sp>
        <p:nvSpPr>
          <p:cNvPr id="9" name="result-setup">
            <a:extLst>
              <a:ext uri="{FF2B5EF4-FFF2-40B4-BE49-F238E27FC236}">
                <a16:creationId xmlns:a16="http://schemas.microsoft.com/office/drawing/2014/main" id="{A391C904-8E2F-479A-A9B0-B24DAF22019B}"/>
              </a:ext>
            </a:extLst>
          </p:cNvPr>
          <p:cNvSpPr>
            <a:spLocks noGrp="1"/>
          </p:cNvSpPr>
          <p:nvPr/>
        </p:nvSpPr>
        <p:spPr>
          <a:xfrm>
            <a:off x="523875" y="1257300"/>
            <a:ext cx="111442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800" b="0">
                <a:solidFill>
                  <a:srgbClr val="61768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1768B"/>
                </a:solidFill>
                <a:latin typeface="Arial"/>
                <a:ea typeface="Arial"/>
                <a:cs typeface="Arial"/>
              </a:rPr>
              <a:t>Common test set: 1,000 sentences  |  Accuracy, F1 and class-specific recall</a:t>
            </a: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38730" y="1733550"/>
            <a:ext cx="6495090" cy="3476625"/>
          </a:xfrm>
          <a:prstGeom prst="rect">
            <a:avLst/>
          </a:prstGeom>
        </p:spPr>
      </p:pic>
      <p:sp>
        <p:nvSpPr>
          <p:cNvPr id="11" name="baseline-heading">
            <a:extLst>
              <a:ext uri="{FF2B5EF4-FFF2-40B4-BE49-F238E27FC236}">
                <a16:creationId xmlns:a16="http://schemas.microsoft.com/office/drawing/2014/main" id="{8B05C047-BC4C-41E5-9441-A33D72198F5C}"/>
              </a:ext>
            </a:extLst>
          </p:cNvPr>
          <p:cNvSpPr>
            <a:spLocks noGrp="1"/>
          </p:cNvSpPr>
          <p:nvPr/>
        </p:nvSpPr>
        <p:spPr>
          <a:xfrm>
            <a:off x="8829675" y="1743075"/>
            <a:ext cx="283845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2100" b="1">
                <a:solidFill>
                  <a:srgbClr val="123D6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3D67"/>
                </a:solidFill>
                <a:latin typeface="Arial"/>
                <a:ea typeface="Arial"/>
                <a:cs typeface="Arial"/>
              </a:rPr>
              <a:t>Reading the</a:t>
            </a:r>
          </a:p>
          <a:p>
            <a:pPr algn="l">
              <a:defRPr sz="2100" b="1">
                <a:solidFill>
                  <a:srgbClr val="123D6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3D67"/>
                </a:solidFill>
                <a:latin typeface="Arial"/>
                <a:ea typeface="Arial"/>
                <a:cs typeface="Arial"/>
              </a:rPr>
              <a:t>comparisons</a:t>
            </a:r>
          </a:p>
        </p:txBody>
      </p:sp>
      <p:sp>
        <p:nvSpPr>
          <p:cNvPr id="12" name="bert-baseline">
            <a:extLst>
              <a:ext uri="{FF2B5EF4-FFF2-40B4-BE49-F238E27FC236}">
                <a16:creationId xmlns:a16="http://schemas.microsoft.com/office/drawing/2014/main" id="{196B8951-F4BE-4316-9644-06E5C51C2426}"/>
              </a:ext>
            </a:extLst>
          </p:cNvPr>
          <p:cNvSpPr>
            <a:spLocks noGrp="1"/>
          </p:cNvSpPr>
          <p:nvPr/>
        </p:nvSpPr>
        <p:spPr>
          <a:xfrm>
            <a:off x="8829675" y="2571750"/>
            <a:ext cx="28384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875" b="1">
                <a:solidFill>
                  <a:srgbClr val="1866B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66B5"/>
                </a:solidFill>
                <a:latin typeface="Arial"/>
                <a:ea typeface="Arial"/>
                <a:cs typeface="Arial"/>
              </a:rPr>
              <a:t>BERT  →  +3.2 pp</a:t>
            </a:r>
          </a:p>
        </p:txBody>
      </p:sp>
      <p:sp>
        <p:nvSpPr>
          <p:cNvPr id="13" name="bert-baseline-desc">
            <a:extLst>
              <a:ext uri="{FF2B5EF4-FFF2-40B4-BE49-F238E27FC236}">
                <a16:creationId xmlns:a16="http://schemas.microsoft.com/office/drawing/2014/main" id="{F56D023E-448C-4221-B700-496B00063522}"/>
              </a:ext>
            </a:extLst>
          </p:cNvPr>
          <p:cNvSpPr>
            <a:spLocks noGrp="1"/>
          </p:cNvSpPr>
          <p:nvPr/>
        </p:nvSpPr>
        <p:spPr>
          <a:xfrm>
            <a:off x="8829675" y="2952750"/>
            <a:ext cx="28384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575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Domain vs. general pretraining</a:t>
            </a:r>
          </a:p>
        </p:txBody>
      </p:sp>
      <p:sp>
        <p:nvSpPr>
          <p:cNvPr id="14" name="lstm-baseline">
            <a:extLst>
              <a:ext uri="{FF2B5EF4-FFF2-40B4-BE49-F238E27FC236}">
                <a16:creationId xmlns:a16="http://schemas.microsoft.com/office/drawing/2014/main" id="{FE459474-1F32-4741-BB8E-A9232F52CC42}"/>
              </a:ext>
            </a:extLst>
          </p:cNvPr>
          <p:cNvSpPr>
            <a:spLocks noGrp="1"/>
          </p:cNvSpPr>
          <p:nvPr/>
        </p:nvSpPr>
        <p:spPr>
          <a:xfrm>
            <a:off x="8829675" y="3543300"/>
            <a:ext cx="28384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875" b="1">
                <a:solidFill>
                  <a:srgbClr val="1866B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66B5"/>
                </a:solidFill>
                <a:latin typeface="Arial"/>
                <a:ea typeface="Arial"/>
                <a:cs typeface="Arial"/>
              </a:rPr>
              <a:t>LSTM  →  +11.9 pp</a:t>
            </a:r>
          </a:p>
        </p:txBody>
      </p:sp>
      <p:sp>
        <p:nvSpPr>
          <p:cNvPr id="15" name="lstm-baseline-desc">
            <a:extLst>
              <a:ext uri="{FF2B5EF4-FFF2-40B4-BE49-F238E27FC236}">
                <a16:creationId xmlns:a16="http://schemas.microsoft.com/office/drawing/2014/main" id="{B6160182-8BD8-4A86-A91A-096679ED2F8D}"/>
              </a:ext>
            </a:extLst>
          </p:cNvPr>
          <p:cNvSpPr>
            <a:spLocks noGrp="1"/>
          </p:cNvSpPr>
          <p:nvPr/>
        </p:nvSpPr>
        <p:spPr>
          <a:xfrm>
            <a:off x="8829675" y="3924300"/>
            <a:ext cx="28384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500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Pretraining vs. earlier deep NLP</a:t>
            </a:r>
          </a:p>
        </p:txBody>
      </p:sp>
      <p:sp>
        <p:nvSpPr>
          <p:cNvPr id="16" name="dictionary-baseline">
            <a:extLst>
              <a:ext uri="{FF2B5EF4-FFF2-40B4-BE49-F238E27FC236}">
                <a16:creationId xmlns:a16="http://schemas.microsoft.com/office/drawing/2014/main" id="{9356DB78-817F-4862-B488-35E23446E90D}"/>
              </a:ext>
            </a:extLst>
          </p:cNvPr>
          <p:cNvSpPr>
            <a:spLocks noGrp="1"/>
          </p:cNvSpPr>
          <p:nvPr/>
        </p:nvSpPr>
        <p:spPr>
          <a:xfrm>
            <a:off x="8829675" y="4514850"/>
            <a:ext cx="28384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800" b="1">
                <a:solidFill>
                  <a:srgbClr val="1866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66B5"/>
                </a:solidFill>
                <a:latin typeface="Arial"/>
                <a:ea typeface="Arial"/>
                <a:cs typeface="Arial"/>
              </a:rPr>
              <a:t>Dictionary  →  +26.1 pp</a:t>
            </a:r>
          </a:p>
        </p:txBody>
      </p:sp>
      <p:sp>
        <p:nvSpPr>
          <p:cNvPr id="17" name="dictionary-baseline-desc">
            <a:extLst>
              <a:ext uri="{FF2B5EF4-FFF2-40B4-BE49-F238E27FC236}">
                <a16:creationId xmlns:a16="http://schemas.microsoft.com/office/drawing/2014/main" id="{1D35FAF4-6AD9-4750-8177-8DAAB5198557}"/>
              </a:ext>
            </a:extLst>
          </p:cNvPr>
          <p:cNvSpPr>
            <a:spLocks noGrp="1"/>
          </p:cNvSpPr>
          <p:nvPr/>
        </p:nvSpPr>
        <p:spPr>
          <a:xfrm>
            <a:off x="8829675" y="4895850"/>
            <a:ext cx="28384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500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Contextual learning vs. word lists</a:t>
            </a:r>
          </a:p>
        </p:txBody>
      </p:sp>
      <p:sp>
        <p:nvSpPr>
          <p:cNvPr id="18" name="results-divider">
            <a:extLst>
              <a:ext uri="{FF2B5EF4-FFF2-40B4-BE49-F238E27FC236}">
                <a16:creationId xmlns:a16="http://schemas.microsoft.com/office/drawing/2014/main" id="{AB4F2F51-D118-4066-90A1-FFB674DBF537}"/>
              </a:ext>
            </a:extLst>
          </p:cNvPr>
          <p:cNvSpPr>
            <a:spLocks noGrp="1"/>
          </p:cNvSpPr>
          <p:nvPr/>
        </p:nvSpPr>
        <p:spPr>
          <a:xfrm>
            <a:off x="523875" y="5391150"/>
            <a:ext cx="11144250" cy="9525"/>
          </a:xfrm>
          <a:prstGeom prst="rect">
            <a:avLst/>
          </a:prstGeom>
          <a:solidFill>
            <a:srgbClr val="D6E2EF"/>
          </a:solidFill>
          <a:ln w="0">
            <a:noFill/>
          </a:ln>
        </p:spPr>
      </p:sp>
      <p:sp>
        <p:nvSpPr>
          <p:cNvPr id="19" name="accuracy-value">
            <a:extLst>
              <a:ext uri="{FF2B5EF4-FFF2-40B4-BE49-F238E27FC236}">
                <a16:creationId xmlns:a16="http://schemas.microsoft.com/office/drawing/2014/main" id="{E9C2B0F9-FD27-4D25-9E25-C355BCFCD031}"/>
              </a:ext>
            </a:extLst>
          </p:cNvPr>
          <p:cNvSpPr>
            <a:spLocks noGrp="1"/>
          </p:cNvSpPr>
          <p:nvPr/>
        </p:nvSpPr>
        <p:spPr>
          <a:xfrm>
            <a:off x="571500" y="5562600"/>
            <a:ext cx="2857500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3225" b="1">
                <a:solidFill>
                  <a:srgbClr val="1866B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66B5"/>
                </a:solidFill>
                <a:latin typeface="Arial"/>
                <a:ea typeface="Arial"/>
                <a:cs typeface="Arial"/>
              </a:rPr>
              <a:t>88.2%</a:t>
            </a:r>
          </a:p>
        </p:txBody>
      </p:sp>
      <p:sp>
        <p:nvSpPr>
          <p:cNvPr id="20" name="accuracy-label">
            <a:extLst>
              <a:ext uri="{FF2B5EF4-FFF2-40B4-BE49-F238E27FC236}">
                <a16:creationId xmlns:a16="http://schemas.microsoft.com/office/drawing/2014/main" id="{D13EC47C-0A6F-4A60-B888-8CBDE5FFA775}"/>
              </a:ext>
            </a:extLst>
          </p:cNvPr>
          <p:cNvSpPr>
            <a:spLocks noGrp="1"/>
          </p:cNvSpPr>
          <p:nvPr/>
        </p:nvSpPr>
        <p:spPr>
          <a:xfrm>
            <a:off x="571500" y="6067425"/>
            <a:ext cx="3333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575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Overall accuracy</a:t>
            </a:r>
          </a:p>
        </p:txBody>
      </p:sp>
      <p:sp>
        <p:nvSpPr>
          <p:cNvPr id="21" name="f1-value">
            <a:extLst>
              <a:ext uri="{FF2B5EF4-FFF2-40B4-BE49-F238E27FC236}">
                <a16:creationId xmlns:a16="http://schemas.microsoft.com/office/drawing/2014/main" id="{386B640C-0EEC-401E-B75D-98DAC169BCE3}"/>
              </a:ext>
            </a:extLst>
          </p:cNvPr>
          <p:cNvSpPr>
            <a:spLocks noGrp="1"/>
          </p:cNvSpPr>
          <p:nvPr/>
        </p:nvSpPr>
        <p:spPr>
          <a:xfrm>
            <a:off x="4448175" y="5562600"/>
            <a:ext cx="2857500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3225" b="1">
                <a:solidFill>
                  <a:srgbClr val="1866B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66B5"/>
                </a:solidFill>
                <a:latin typeface="Arial"/>
                <a:ea typeface="Arial"/>
                <a:cs typeface="Arial"/>
              </a:rPr>
              <a:t>87.8%</a:t>
            </a:r>
          </a:p>
        </p:txBody>
      </p:sp>
      <p:sp>
        <p:nvSpPr>
          <p:cNvPr id="22" name="f1-label">
            <a:extLst>
              <a:ext uri="{FF2B5EF4-FFF2-40B4-BE49-F238E27FC236}">
                <a16:creationId xmlns:a16="http://schemas.microsoft.com/office/drawing/2014/main" id="{B2A2EA42-F1E2-46AD-B875-33824C16CCB6}"/>
              </a:ext>
            </a:extLst>
          </p:cNvPr>
          <p:cNvSpPr>
            <a:spLocks noGrp="1"/>
          </p:cNvSpPr>
          <p:nvPr/>
        </p:nvSpPr>
        <p:spPr>
          <a:xfrm>
            <a:off x="4448175" y="6067425"/>
            <a:ext cx="3333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575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F1 score</a:t>
            </a:r>
          </a:p>
        </p:txBody>
      </p:sp>
      <p:sp>
        <p:nvSpPr>
          <p:cNvPr id="23" name="recall-value">
            <a:extLst>
              <a:ext uri="{FF2B5EF4-FFF2-40B4-BE49-F238E27FC236}">
                <a16:creationId xmlns:a16="http://schemas.microsoft.com/office/drawing/2014/main" id="{14336571-2B84-4F3D-BE72-22B89A692C14}"/>
              </a:ext>
            </a:extLst>
          </p:cNvPr>
          <p:cNvSpPr>
            <a:spLocks noGrp="1"/>
          </p:cNvSpPr>
          <p:nvPr/>
        </p:nvSpPr>
        <p:spPr>
          <a:xfrm>
            <a:off x="8372475" y="5562600"/>
            <a:ext cx="2857500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3225" b="1">
                <a:solidFill>
                  <a:srgbClr val="1866B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66B5"/>
                </a:solidFill>
                <a:latin typeface="Arial"/>
                <a:ea typeface="Arial"/>
                <a:cs typeface="Arial"/>
              </a:rPr>
              <a:t>89.7%</a:t>
            </a:r>
          </a:p>
        </p:txBody>
      </p:sp>
      <p:sp>
        <p:nvSpPr>
          <p:cNvPr id="24" name="recall-label">
            <a:extLst>
              <a:ext uri="{FF2B5EF4-FFF2-40B4-BE49-F238E27FC236}">
                <a16:creationId xmlns:a16="http://schemas.microsoft.com/office/drawing/2014/main" id="{CB584EBB-A7DE-4FFC-897C-15880D10CCA4}"/>
              </a:ext>
            </a:extLst>
          </p:cNvPr>
          <p:cNvSpPr>
            <a:spLocks noGrp="1"/>
          </p:cNvSpPr>
          <p:nvPr/>
        </p:nvSpPr>
        <p:spPr>
          <a:xfrm>
            <a:off x="8372475" y="6067425"/>
            <a:ext cx="328612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575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Recall for negative sentences</a:t>
            </a:r>
          </a:p>
        </p:txBody>
      </p:sp>
    </p:spTree>
    <p:extLst>
      <p:ext uri="{BB962C8B-B14F-4D97-AF65-F5344CB8AC3E}">
        <p14:creationId xmlns:p14="http://schemas.microsoft.com/office/powerpoint/2010/main" val="166702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op-accent">
            <a:extLst>
              <a:ext uri="{FF2B5EF4-FFF2-40B4-BE49-F238E27FC236}">
                <a16:creationId xmlns:a16="http://schemas.microsoft.com/office/drawing/2014/main" id="{59A65FEC-A8B5-4F50-8E22-10CABA4EF8A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1866B5"/>
          </a:solidFill>
          <a:ln w="0">
            <a:noFill/>
          </a:ln>
        </p:spPr>
      </p:sp>
      <p:sp>
        <p:nvSpPr>
          <p:cNvPr id="2" name="heading-background">
            <a:extLst>
              <a:ext uri="{FF2B5EF4-FFF2-40B4-BE49-F238E27FC236}">
                <a16:creationId xmlns:a16="http://schemas.microsoft.com/office/drawing/2014/main" id="{D59C1E55-563B-474A-8DE8-4D12C87FA40D}"/>
              </a:ext>
            </a:extLst>
          </p:cNvPr>
          <p:cNvSpPr>
            <a:spLocks noGrp="1"/>
          </p:cNvSpPr>
          <p:nvPr/>
        </p:nvSpPr>
        <p:spPr>
          <a:xfrm>
            <a:off x="0" y="66675"/>
            <a:ext cx="12192000" cy="990600"/>
          </a:xfrm>
          <a:prstGeom prst="rect">
            <a:avLst/>
          </a:prstGeom>
          <a:solidFill>
            <a:srgbClr val="EDF4FB"/>
          </a:solidFill>
          <a:ln w="0">
            <a:noFill/>
          </a:ln>
        </p:spPr>
      </p:sp>
      <p:sp>
        <p:nvSpPr>
          <p:cNvPr id="3" name="series">
            <a:extLst>
              <a:ext uri="{FF2B5EF4-FFF2-40B4-BE49-F238E27FC236}">
                <a16:creationId xmlns:a16="http://schemas.microsoft.com/office/drawing/2014/main" id="{F879EF6C-1618-4D8E-8F66-F147BB626AE5}"/>
              </a:ext>
            </a:extLst>
          </p:cNvPr>
          <p:cNvSpPr>
            <a:spLocks noGrp="1"/>
          </p:cNvSpPr>
          <p:nvPr/>
        </p:nvSpPr>
        <p:spPr>
          <a:xfrm>
            <a:off x="523875" y="219075"/>
            <a:ext cx="68580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125" b="1">
                <a:solidFill>
                  <a:srgbClr val="61768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1768B"/>
                </a:solidFill>
                <a:latin typeface="Arial"/>
                <a:ea typeface="Arial"/>
                <a:cs typeface="Arial"/>
              </a:rPr>
              <a:t>FINBERT  /  PAPER READING</a:t>
            </a:r>
          </a:p>
        </p:txBody>
      </p:sp>
      <p:sp>
        <p:nvSpPr>
          <p:cNvPr id="4" name="section">
            <a:extLst>
              <a:ext uri="{FF2B5EF4-FFF2-40B4-BE49-F238E27FC236}">
                <a16:creationId xmlns:a16="http://schemas.microsoft.com/office/drawing/2014/main" id="{C1B85ADC-B616-44F2-8164-177CCC7AF66C}"/>
              </a:ext>
            </a:extLst>
          </p:cNvPr>
          <p:cNvSpPr>
            <a:spLocks noGrp="1"/>
          </p:cNvSpPr>
          <p:nvPr/>
        </p:nvSpPr>
        <p:spPr>
          <a:xfrm>
            <a:off x="8334375" y="219075"/>
            <a:ext cx="3333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r">
              <a:defRPr sz="1125" b="1">
                <a:solidFill>
                  <a:srgbClr val="1866B5"/>
                </a:solidFill>
                <a:latin typeface="Arial"/>
                <a:ea typeface="Arial"/>
                <a:cs typeface="Arial"/>
              </a:defRPr>
            </a:pPr>
            <a:r>
              <a:rPr sz="1125" b="1" dirty="0">
                <a:solidFill>
                  <a:srgbClr val="1866B5"/>
                </a:solidFill>
                <a:latin typeface="Arial"/>
                <a:ea typeface="Arial"/>
                <a:cs typeface="Arial"/>
              </a:rPr>
              <a:t>03 / MECHANISMS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4740D8D7-D802-4258-A43B-CDEC798F7905}"/>
              </a:ext>
            </a:extLst>
          </p:cNvPr>
          <p:cNvSpPr>
            <a:spLocks noGrp="1"/>
          </p:cNvSpPr>
          <p:nvPr/>
        </p:nvSpPr>
        <p:spPr>
          <a:xfrm>
            <a:off x="523875" y="514350"/>
            <a:ext cx="1114425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3000" b="1">
                <a:solidFill>
                  <a:srgbClr val="123D67"/>
                </a:solidFill>
                <a:latin typeface="Arial"/>
                <a:ea typeface="Arial"/>
                <a:cs typeface="Arial"/>
              </a:defRPr>
            </a:pPr>
            <a:r>
              <a:rPr sz="3000" b="1" dirty="0">
                <a:solidFill>
                  <a:srgbClr val="123D67"/>
                </a:solidFill>
                <a:latin typeface="Arial"/>
                <a:ea typeface="Arial"/>
                <a:cs typeface="Arial"/>
              </a:rPr>
              <a:t>Additional tests: why does </a:t>
            </a:r>
            <a:r>
              <a:rPr sz="3000" b="1" dirty="0" err="1">
                <a:solidFill>
                  <a:srgbClr val="123D67"/>
                </a:solidFill>
                <a:latin typeface="Arial"/>
                <a:ea typeface="Arial"/>
                <a:cs typeface="Arial"/>
              </a:rPr>
              <a:t>FinBERT</a:t>
            </a:r>
            <a:r>
              <a:rPr sz="3000" b="1" dirty="0">
                <a:solidFill>
                  <a:srgbClr val="123D67"/>
                </a:solidFill>
                <a:latin typeface="Arial"/>
                <a:ea typeface="Arial"/>
                <a:cs typeface="Arial"/>
              </a:rPr>
              <a:t> work?</a:t>
            </a:r>
          </a:p>
        </p:txBody>
      </p:sp>
      <p:sp>
        <p:nvSpPr>
          <p:cNvPr id="6" name="footer-rule">
            <a:extLst>
              <a:ext uri="{FF2B5EF4-FFF2-40B4-BE49-F238E27FC236}">
                <a16:creationId xmlns:a16="http://schemas.microsoft.com/office/drawing/2014/main" id="{E015CDF0-8ECB-4600-A38A-7C97194A8223}"/>
              </a:ext>
            </a:extLst>
          </p:cNvPr>
          <p:cNvSpPr>
            <a:spLocks noGrp="1"/>
          </p:cNvSpPr>
          <p:nvPr/>
        </p:nvSpPr>
        <p:spPr>
          <a:xfrm>
            <a:off x="523875" y="6410325"/>
            <a:ext cx="11144250" cy="9525"/>
          </a:xfrm>
          <a:prstGeom prst="rect">
            <a:avLst/>
          </a:prstGeom>
          <a:solidFill>
            <a:srgbClr val="D6E2EF"/>
          </a:solidFill>
          <a:ln w="0">
            <a:noFill/>
          </a:ln>
        </p:spPr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47C55BD5-3FDE-4E77-B8FC-3A5DFA12D590}"/>
              </a:ext>
            </a:extLst>
          </p:cNvPr>
          <p:cNvSpPr>
            <a:spLocks noGrp="1"/>
          </p:cNvSpPr>
          <p:nvPr/>
        </p:nvSpPr>
        <p:spPr>
          <a:xfrm>
            <a:off x="10858500" y="6515100"/>
            <a:ext cx="8191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r">
              <a:defRPr sz="1200" b="0">
                <a:solidFill>
                  <a:srgbClr val="6176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68B"/>
                </a:solidFill>
                <a:latin typeface="Arial"/>
                <a:ea typeface="Arial"/>
                <a:cs typeface="Arial"/>
              </a:rPr>
              <a:t>06 / 09</a:t>
            </a:r>
          </a:p>
        </p:txBody>
      </p:sp>
      <p:sp>
        <p:nvSpPr>
          <p:cNvPr id="9" name="robust-intro">
            <a:extLst>
              <a:ext uri="{FF2B5EF4-FFF2-40B4-BE49-F238E27FC236}">
                <a16:creationId xmlns:a16="http://schemas.microsoft.com/office/drawing/2014/main" id="{B2074C32-FDF2-4C8C-BB77-3F0D222BACC4}"/>
              </a:ext>
            </a:extLst>
          </p:cNvPr>
          <p:cNvSpPr>
            <a:spLocks noGrp="1"/>
          </p:cNvSpPr>
          <p:nvPr/>
        </p:nvSpPr>
        <p:spPr>
          <a:xfrm>
            <a:off x="523875" y="1247775"/>
            <a:ext cx="1114425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875" b="0">
                <a:solidFill>
                  <a:srgbClr val="61768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68B"/>
                </a:solidFill>
                <a:latin typeface="Arial"/>
                <a:ea typeface="Arial"/>
                <a:cs typeface="Arial"/>
              </a:rPr>
              <a:t>Three checks: fewer labels, word order, and financial vocabulary</a:t>
            </a: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79778" y="1685925"/>
            <a:ext cx="7241520" cy="3648075"/>
          </a:xfrm>
          <a:prstGeom prst="rect">
            <a:avLst/>
          </a:prstGeom>
        </p:spPr>
      </p:pic>
      <p:sp>
        <p:nvSpPr>
          <p:cNvPr id="11" name="small-head">
            <a:extLst>
              <a:ext uri="{FF2B5EF4-FFF2-40B4-BE49-F238E27FC236}">
                <a16:creationId xmlns:a16="http://schemas.microsoft.com/office/drawing/2014/main" id="{EF738862-0CB6-416E-8550-4811F6515B34}"/>
              </a:ext>
            </a:extLst>
          </p:cNvPr>
          <p:cNvSpPr>
            <a:spLocks noGrp="1"/>
          </p:cNvSpPr>
          <p:nvPr/>
        </p:nvSpPr>
        <p:spPr>
          <a:xfrm>
            <a:off x="8515350" y="1809750"/>
            <a:ext cx="315277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875" b="1">
                <a:solidFill>
                  <a:srgbClr val="123D6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D67"/>
                </a:solidFill>
                <a:latin typeface="Arial"/>
                <a:ea typeface="Arial"/>
                <a:cs typeface="Arial"/>
              </a:rPr>
              <a:t>Only 10% of labeled data</a:t>
            </a:r>
          </a:p>
        </p:txBody>
      </p:sp>
      <p:sp>
        <p:nvSpPr>
          <p:cNvPr id="12" name="small-finbert">
            <a:extLst>
              <a:ext uri="{FF2B5EF4-FFF2-40B4-BE49-F238E27FC236}">
                <a16:creationId xmlns:a16="http://schemas.microsoft.com/office/drawing/2014/main" id="{75B6546B-5135-484F-99EB-64867AB9D086}"/>
              </a:ext>
            </a:extLst>
          </p:cNvPr>
          <p:cNvSpPr>
            <a:spLocks noGrp="1"/>
          </p:cNvSpPr>
          <p:nvPr/>
        </p:nvSpPr>
        <p:spPr>
          <a:xfrm>
            <a:off x="8515350" y="2352675"/>
            <a:ext cx="3048000" cy="647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3900" b="1">
                <a:solidFill>
                  <a:srgbClr val="1866B5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866B5"/>
                </a:solidFill>
                <a:latin typeface="Arial"/>
                <a:ea typeface="Arial"/>
                <a:cs typeface="Arial"/>
              </a:rPr>
              <a:t>81.3%</a:t>
            </a:r>
          </a:p>
        </p:txBody>
      </p:sp>
      <p:sp>
        <p:nvSpPr>
          <p:cNvPr id="13" name="small-versus">
            <a:extLst>
              <a:ext uri="{FF2B5EF4-FFF2-40B4-BE49-F238E27FC236}">
                <a16:creationId xmlns:a16="http://schemas.microsoft.com/office/drawing/2014/main" id="{B11E31D6-DE1E-4C65-B1C7-A3E8588BD2E5}"/>
              </a:ext>
            </a:extLst>
          </p:cNvPr>
          <p:cNvSpPr>
            <a:spLocks noGrp="1"/>
          </p:cNvSpPr>
          <p:nvPr/>
        </p:nvSpPr>
        <p:spPr>
          <a:xfrm>
            <a:off x="8515350" y="3067050"/>
            <a:ext cx="315277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725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FinBERT vs. 62.0% for BERT</a:t>
            </a:r>
          </a:p>
        </p:txBody>
      </p:sp>
      <p:sp>
        <p:nvSpPr>
          <p:cNvPr id="14" name="small-gain">
            <a:extLst>
              <a:ext uri="{FF2B5EF4-FFF2-40B4-BE49-F238E27FC236}">
                <a16:creationId xmlns:a16="http://schemas.microsoft.com/office/drawing/2014/main" id="{7D7ABA0C-C39A-46F4-B77E-8EFC8AC1396D}"/>
              </a:ext>
            </a:extLst>
          </p:cNvPr>
          <p:cNvSpPr>
            <a:spLocks noGrp="1"/>
          </p:cNvSpPr>
          <p:nvPr/>
        </p:nvSpPr>
        <p:spPr>
          <a:xfrm>
            <a:off x="8515350" y="3571875"/>
            <a:ext cx="315277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2100" b="1">
                <a:solidFill>
                  <a:srgbClr val="1866B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66B5"/>
                </a:solidFill>
                <a:latin typeface="Arial"/>
                <a:ea typeface="Arial"/>
                <a:cs typeface="Arial"/>
              </a:rPr>
              <a:t>+19.3 pp advantage</a:t>
            </a:r>
          </a:p>
        </p:txBody>
      </p:sp>
      <p:sp>
        <p:nvSpPr>
          <p:cNvPr id="15" name="small-design">
            <a:extLst>
              <a:ext uri="{FF2B5EF4-FFF2-40B4-BE49-F238E27FC236}">
                <a16:creationId xmlns:a16="http://schemas.microsoft.com/office/drawing/2014/main" id="{E20D1FF9-3556-40AB-9785-0C6FE16BA0BD}"/>
              </a:ext>
            </a:extLst>
          </p:cNvPr>
          <p:cNvSpPr>
            <a:spLocks noGrp="1"/>
          </p:cNvSpPr>
          <p:nvPr/>
        </p:nvSpPr>
        <p:spPr>
          <a:xfrm>
            <a:off x="8515350" y="4191000"/>
            <a:ext cx="3152775" cy="742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650" b="0">
                <a:solidFill>
                  <a:srgbClr val="61768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1768B"/>
                </a:solidFill>
                <a:latin typeface="Arial"/>
                <a:ea typeface="Arial"/>
                <a:cs typeface="Arial"/>
              </a:rPr>
              <a:t>810 training + 90 validation</a:t>
            </a:r>
          </a:p>
          <a:p>
            <a:pPr algn="l">
              <a:defRPr sz="1650" b="0">
                <a:solidFill>
                  <a:srgbClr val="61768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1768B"/>
                </a:solidFill>
                <a:latin typeface="Arial"/>
                <a:ea typeface="Arial"/>
                <a:cs typeface="Arial"/>
              </a:rPr>
              <a:t>Test fixed at 1,000 sentences</a:t>
            </a:r>
          </a:p>
        </p:txBody>
      </p:sp>
      <p:sp>
        <p:nvSpPr>
          <p:cNvPr id="16" name="robust-divider">
            <a:extLst>
              <a:ext uri="{FF2B5EF4-FFF2-40B4-BE49-F238E27FC236}">
                <a16:creationId xmlns:a16="http://schemas.microsoft.com/office/drawing/2014/main" id="{7706B133-4138-423B-8D94-F3481127924B}"/>
              </a:ext>
            </a:extLst>
          </p:cNvPr>
          <p:cNvSpPr>
            <a:spLocks noGrp="1"/>
          </p:cNvSpPr>
          <p:nvPr/>
        </p:nvSpPr>
        <p:spPr>
          <a:xfrm>
            <a:off x="523875" y="5410200"/>
            <a:ext cx="11144250" cy="9525"/>
          </a:xfrm>
          <a:prstGeom prst="rect">
            <a:avLst/>
          </a:prstGeom>
          <a:solidFill>
            <a:srgbClr val="D6E2EF"/>
          </a:solidFill>
          <a:ln w="0">
            <a:noFill/>
          </a:ln>
        </p:spPr>
      </p:sp>
      <p:sp>
        <p:nvSpPr>
          <p:cNvPr id="17" name="context-head">
            <a:extLst>
              <a:ext uri="{FF2B5EF4-FFF2-40B4-BE49-F238E27FC236}">
                <a16:creationId xmlns:a16="http://schemas.microsoft.com/office/drawing/2014/main" id="{D4462584-F34F-4115-A1E7-8CFFF1B73DEA}"/>
              </a:ext>
            </a:extLst>
          </p:cNvPr>
          <p:cNvSpPr>
            <a:spLocks noGrp="1"/>
          </p:cNvSpPr>
          <p:nvPr/>
        </p:nvSpPr>
        <p:spPr>
          <a:xfrm>
            <a:off x="523875" y="5562600"/>
            <a:ext cx="542925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800" b="1">
                <a:solidFill>
                  <a:srgbClr val="123D6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3D67"/>
                </a:solidFill>
                <a:latin typeface="Arial"/>
                <a:ea typeface="Arial"/>
                <a:cs typeface="Arial"/>
              </a:rPr>
              <a:t>Context check: shuffled words</a:t>
            </a:r>
          </a:p>
        </p:txBody>
      </p:sp>
      <p:sp>
        <p:nvSpPr>
          <p:cNvPr id="18" name="context-result">
            <a:extLst>
              <a:ext uri="{FF2B5EF4-FFF2-40B4-BE49-F238E27FC236}">
                <a16:creationId xmlns:a16="http://schemas.microsoft.com/office/drawing/2014/main" id="{F45E7988-777D-47BE-B89D-5BB3688A00F0}"/>
              </a:ext>
            </a:extLst>
          </p:cNvPr>
          <p:cNvSpPr>
            <a:spLocks noGrp="1"/>
          </p:cNvSpPr>
          <p:nvPr/>
        </p:nvSpPr>
        <p:spPr>
          <a:xfrm>
            <a:off x="523875" y="5953125"/>
            <a:ext cx="542925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800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FinBERT: 88.2% → 76.9%  (−11.3 pp)</a:t>
            </a:r>
          </a:p>
        </p:txBody>
      </p:sp>
      <p:sp>
        <p:nvSpPr>
          <p:cNvPr id="19" name="vocab-test-head">
            <a:extLst>
              <a:ext uri="{FF2B5EF4-FFF2-40B4-BE49-F238E27FC236}">
                <a16:creationId xmlns:a16="http://schemas.microsoft.com/office/drawing/2014/main" id="{8FE39040-A933-4170-930E-705143670438}"/>
              </a:ext>
            </a:extLst>
          </p:cNvPr>
          <p:cNvSpPr>
            <a:spLocks noGrp="1"/>
          </p:cNvSpPr>
          <p:nvPr/>
        </p:nvSpPr>
        <p:spPr>
          <a:xfrm>
            <a:off x="6524625" y="5562600"/>
            <a:ext cx="514350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800" b="1">
                <a:solidFill>
                  <a:srgbClr val="123D67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123D67"/>
                </a:solidFill>
                <a:latin typeface="Arial"/>
                <a:ea typeface="Arial"/>
                <a:cs typeface="Arial"/>
              </a:rPr>
              <a:t>Finance vocabulary: larger advantage</a:t>
            </a:r>
          </a:p>
        </p:txBody>
      </p:sp>
      <p:sp>
        <p:nvSpPr>
          <p:cNvPr id="20" name="vocab-test-result">
            <a:extLst>
              <a:ext uri="{FF2B5EF4-FFF2-40B4-BE49-F238E27FC236}">
                <a16:creationId xmlns:a16="http://schemas.microsoft.com/office/drawing/2014/main" id="{3F7A052A-513A-4148-BBA9-6512150EEE69}"/>
              </a:ext>
            </a:extLst>
          </p:cNvPr>
          <p:cNvSpPr>
            <a:spLocks noGrp="1"/>
          </p:cNvSpPr>
          <p:nvPr/>
        </p:nvSpPr>
        <p:spPr>
          <a:xfrm>
            <a:off x="6524625" y="5953125"/>
            <a:ext cx="514350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650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Finance-rich: +4.0 pp  |  Finance-poor: +2.4 pp</a:t>
            </a:r>
          </a:p>
        </p:txBody>
      </p:sp>
    </p:spTree>
    <p:extLst>
      <p:ext uri="{BB962C8B-B14F-4D97-AF65-F5344CB8AC3E}">
        <p14:creationId xmlns:p14="http://schemas.microsoft.com/office/powerpoint/2010/main" val="2137920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op-accent">
            <a:extLst>
              <a:ext uri="{FF2B5EF4-FFF2-40B4-BE49-F238E27FC236}">
                <a16:creationId xmlns:a16="http://schemas.microsoft.com/office/drawing/2014/main" id="{DC7C1BB3-7853-478E-BB36-8D33A214871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1866B5"/>
          </a:solidFill>
          <a:ln w="0">
            <a:noFill/>
          </a:ln>
        </p:spPr>
      </p:sp>
      <p:sp>
        <p:nvSpPr>
          <p:cNvPr id="2" name="heading-background">
            <a:extLst>
              <a:ext uri="{FF2B5EF4-FFF2-40B4-BE49-F238E27FC236}">
                <a16:creationId xmlns:a16="http://schemas.microsoft.com/office/drawing/2014/main" id="{947F60DD-A625-4D8E-96FE-EEE34AAFEDD9}"/>
              </a:ext>
            </a:extLst>
          </p:cNvPr>
          <p:cNvSpPr>
            <a:spLocks noGrp="1"/>
          </p:cNvSpPr>
          <p:nvPr/>
        </p:nvSpPr>
        <p:spPr>
          <a:xfrm>
            <a:off x="0" y="66675"/>
            <a:ext cx="12192000" cy="990600"/>
          </a:xfrm>
          <a:prstGeom prst="rect">
            <a:avLst/>
          </a:prstGeom>
          <a:solidFill>
            <a:srgbClr val="EDF4FB"/>
          </a:solidFill>
          <a:ln w="0">
            <a:noFill/>
          </a:ln>
        </p:spPr>
      </p:sp>
      <p:sp>
        <p:nvSpPr>
          <p:cNvPr id="3" name="series">
            <a:extLst>
              <a:ext uri="{FF2B5EF4-FFF2-40B4-BE49-F238E27FC236}">
                <a16:creationId xmlns:a16="http://schemas.microsoft.com/office/drawing/2014/main" id="{EFE4ADD7-FB70-4FC5-BC9F-F718B9784836}"/>
              </a:ext>
            </a:extLst>
          </p:cNvPr>
          <p:cNvSpPr>
            <a:spLocks noGrp="1"/>
          </p:cNvSpPr>
          <p:nvPr/>
        </p:nvSpPr>
        <p:spPr>
          <a:xfrm>
            <a:off x="523875" y="219075"/>
            <a:ext cx="68580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125" b="1">
                <a:solidFill>
                  <a:srgbClr val="61768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1768B"/>
                </a:solidFill>
                <a:latin typeface="Arial"/>
                <a:ea typeface="Arial"/>
                <a:cs typeface="Arial"/>
              </a:rPr>
              <a:t>FINBERT  /  PAPER READING</a:t>
            </a:r>
          </a:p>
        </p:txBody>
      </p:sp>
      <p:sp>
        <p:nvSpPr>
          <p:cNvPr id="4" name="section">
            <a:extLst>
              <a:ext uri="{FF2B5EF4-FFF2-40B4-BE49-F238E27FC236}">
                <a16:creationId xmlns:a16="http://schemas.microsoft.com/office/drawing/2014/main" id="{1C58D0BB-2239-44CD-BB03-CE184D2BE316}"/>
              </a:ext>
            </a:extLst>
          </p:cNvPr>
          <p:cNvSpPr>
            <a:spLocks noGrp="1"/>
          </p:cNvSpPr>
          <p:nvPr/>
        </p:nvSpPr>
        <p:spPr>
          <a:xfrm>
            <a:off x="8334375" y="219075"/>
            <a:ext cx="3333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r">
              <a:defRPr sz="1125" b="1">
                <a:solidFill>
                  <a:srgbClr val="1866B5"/>
                </a:solidFill>
                <a:latin typeface="Arial"/>
                <a:ea typeface="Arial"/>
                <a:cs typeface="Arial"/>
              </a:defRPr>
            </a:pPr>
            <a:r>
              <a:rPr sz="1125" b="1" dirty="0">
                <a:solidFill>
                  <a:srgbClr val="1866B5"/>
                </a:solidFill>
                <a:latin typeface="Arial"/>
                <a:ea typeface="Arial"/>
                <a:cs typeface="Arial"/>
              </a:rPr>
              <a:t>03 / APPLICATIONS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FF7F4C60-D678-4A39-A20B-5FC91BEF8DCE}"/>
              </a:ext>
            </a:extLst>
          </p:cNvPr>
          <p:cNvSpPr>
            <a:spLocks noGrp="1"/>
          </p:cNvSpPr>
          <p:nvPr/>
        </p:nvSpPr>
        <p:spPr>
          <a:xfrm>
            <a:off x="523875" y="514350"/>
            <a:ext cx="1114425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3000" b="1">
                <a:solidFill>
                  <a:srgbClr val="123D6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3D67"/>
                </a:solidFill>
                <a:latin typeface="Arial"/>
                <a:ea typeface="Arial"/>
                <a:cs typeface="Arial"/>
              </a:rPr>
              <a:t>ESG classification and market evidence</a:t>
            </a:r>
          </a:p>
        </p:txBody>
      </p:sp>
      <p:sp>
        <p:nvSpPr>
          <p:cNvPr id="6" name="footer-rule">
            <a:extLst>
              <a:ext uri="{FF2B5EF4-FFF2-40B4-BE49-F238E27FC236}">
                <a16:creationId xmlns:a16="http://schemas.microsoft.com/office/drawing/2014/main" id="{C21CE3CC-8115-4060-A05F-031537CF14EC}"/>
              </a:ext>
            </a:extLst>
          </p:cNvPr>
          <p:cNvSpPr>
            <a:spLocks noGrp="1"/>
          </p:cNvSpPr>
          <p:nvPr/>
        </p:nvSpPr>
        <p:spPr>
          <a:xfrm>
            <a:off x="523875" y="6410325"/>
            <a:ext cx="11144250" cy="9525"/>
          </a:xfrm>
          <a:prstGeom prst="rect">
            <a:avLst/>
          </a:prstGeom>
          <a:solidFill>
            <a:srgbClr val="D6E2EF"/>
          </a:solidFill>
          <a:ln w="0">
            <a:noFill/>
          </a:ln>
        </p:spPr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42104A24-0AD6-4614-811B-2706AB5963A2}"/>
              </a:ext>
            </a:extLst>
          </p:cNvPr>
          <p:cNvSpPr>
            <a:spLocks noGrp="1"/>
          </p:cNvSpPr>
          <p:nvPr/>
        </p:nvSpPr>
        <p:spPr>
          <a:xfrm>
            <a:off x="10858500" y="6515100"/>
            <a:ext cx="8191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r">
              <a:defRPr sz="1200" b="0">
                <a:solidFill>
                  <a:srgbClr val="6176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68B"/>
                </a:solidFill>
                <a:latin typeface="Arial"/>
                <a:ea typeface="Arial"/>
                <a:cs typeface="Arial"/>
              </a:rPr>
              <a:t>07 / 09</a:t>
            </a:r>
          </a:p>
        </p:txBody>
      </p:sp>
      <p:sp>
        <p:nvSpPr>
          <p:cNvPr id="9" name="esg-title">
            <a:extLst>
              <a:ext uri="{FF2B5EF4-FFF2-40B4-BE49-F238E27FC236}">
                <a16:creationId xmlns:a16="http://schemas.microsoft.com/office/drawing/2014/main" id="{84C36B9C-1B41-4F0A-8C46-E0D70FEACECD}"/>
              </a:ext>
            </a:extLst>
          </p:cNvPr>
          <p:cNvSpPr>
            <a:spLocks noGrp="1"/>
          </p:cNvSpPr>
          <p:nvPr/>
        </p:nvSpPr>
        <p:spPr>
          <a:xfrm>
            <a:off x="523875" y="1333500"/>
            <a:ext cx="523875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2175" b="1">
                <a:solidFill>
                  <a:srgbClr val="123D6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3D67"/>
                </a:solidFill>
                <a:latin typeface="Arial"/>
                <a:ea typeface="Arial"/>
                <a:cs typeface="Arial"/>
              </a:rPr>
              <a:t>ESG classification</a:t>
            </a:r>
          </a:p>
        </p:txBody>
      </p:sp>
      <p:sp>
        <p:nvSpPr>
          <p:cNvPr id="10" name="esg-sample">
            <a:extLst>
              <a:ext uri="{FF2B5EF4-FFF2-40B4-BE49-F238E27FC236}">
                <a16:creationId xmlns:a16="http://schemas.microsoft.com/office/drawing/2014/main" id="{7CC40E6C-5DDB-486F-9DDA-B5CE9795F33F}"/>
              </a:ext>
            </a:extLst>
          </p:cNvPr>
          <p:cNvSpPr>
            <a:spLocks noGrp="1"/>
          </p:cNvSpPr>
          <p:nvPr/>
        </p:nvSpPr>
        <p:spPr>
          <a:xfrm>
            <a:off x="523875" y="1762125"/>
            <a:ext cx="527685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650" b="0">
                <a:solidFill>
                  <a:srgbClr val="61768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1768B"/>
                </a:solidFill>
                <a:latin typeface="Arial"/>
                <a:ea typeface="Arial"/>
                <a:cs typeface="Arial"/>
              </a:rPr>
              <a:t>2,000 labeled sentences; 200 in the test set</a:t>
            </a:r>
          </a:p>
        </p:txBody>
      </p:sp>
      <p:graphicFrame>
        <p:nvGraphicFramePr>
          <p:cNvPr id="28" name="Chart"/>
          <p:cNvGraphicFramePr/>
          <p:nvPr/>
        </p:nvGraphicFramePr>
        <p:xfrm>
          <a:off x="438150" y="2371725"/>
          <a:ext cx="5200650" cy="2571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esg-task">
            <a:extLst>
              <a:ext uri="{FF2B5EF4-FFF2-40B4-BE49-F238E27FC236}">
                <a16:creationId xmlns:a16="http://schemas.microsoft.com/office/drawing/2014/main" id="{FEE5BB4A-31CA-4794-911F-ADA156A6DE39}"/>
              </a:ext>
            </a:extLst>
          </p:cNvPr>
          <p:cNvSpPr>
            <a:spLocks noGrp="1"/>
          </p:cNvSpPr>
          <p:nvPr/>
        </p:nvSpPr>
        <p:spPr>
          <a:xfrm>
            <a:off x="523875" y="5238750"/>
            <a:ext cx="5286375" cy="628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725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Four labels: Environmental, Social,</a:t>
            </a:r>
          </a:p>
          <a:p>
            <a:pPr algn="l">
              <a:defRPr sz="1725" b="0">
                <a:solidFill>
                  <a:srgbClr val="233B5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B52"/>
                </a:solidFill>
                <a:latin typeface="Arial"/>
                <a:ea typeface="Arial"/>
                <a:cs typeface="Arial"/>
              </a:rPr>
              <a:t>Governance, and Non-ESG</a:t>
            </a:r>
          </a:p>
        </p:txBody>
      </p:sp>
      <p:sp>
        <p:nvSpPr>
          <p:cNvPr id="13" name="market-title">
            <a:extLst>
              <a:ext uri="{FF2B5EF4-FFF2-40B4-BE49-F238E27FC236}">
                <a16:creationId xmlns:a16="http://schemas.microsoft.com/office/drawing/2014/main" id="{DA01EBED-7345-49E1-9430-6F81BAB73F2A}"/>
              </a:ext>
            </a:extLst>
          </p:cNvPr>
          <p:cNvSpPr>
            <a:spLocks noGrp="1"/>
          </p:cNvSpPr>
          <p:nvPr/>
        </p:nvSpPr>
        <p:spPr>
          <a:xfrm>
            <a:off x="6191250" y="1333500"/>
            <a:ext cx="547687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2175" b="1">
                <a:solidFill>
                  <a:srgbClr val="123D6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3D67"/>
                </a:solidFill>
                <a:latin typeface="Arial"/>
                <a:ea typeface="Arial"/>
                <a:cs typeface="Arial"/>
              </a:rPr>
              <a:t>Earnings-call market test</a:t>
            </a:r>
          </a:p>
        </p:txBody>
      </p:sp>
      <p:sp>
        <p:nvSpPr>
          <p:cNvPr id="14" name="market-sample">
            <a:extLst>
              <a:ext uri="{FF2B5EF4-FFF2-40B4-BE49-F238E27FC236}">
                <a16:creationId xmlns:a16="http://schemas.microsoft.com/office/drawing/2014/main" id="{A2737A23-0FB1-406E-BF70-040C0EA316B8}"/>
              </a:ext>
            </a:extLst>
          </p:cNvPr>
          <p:cNvSpPr>
            <a:spLocks noGrp="1"/>
          </p:cNvSpPr>
          <p:nvPr/>
        </p:nvSpPr>
        <p:spPr>
          <a:xfrm>
            <a:off x="6191250" y="1762125"/>
            <a:ext cx="54768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650" b="0">
                <a:solidFill>
                  <a:srgbClr val="61768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1768B"/>
                </a:solidFill>
                <a:latin typeface="Arial"/>
                <a:ea typeface="Arial"/>
                <a:cs typeface="Arial"/>
              </a:rPr>
              <a:t>28,873 calls  |  Three-day abnormal returns</a:t>
            </a:r>
          </a:p>
        </p:txBody>
      </p:sp>
      <p:graphicFrame>
        <p:nvGraphicFramePr>
          <p:cNvPr id="32" name="表格 31"/>
          <p:cNvGraphicFramePr/>
          <p:nvPr/>
        </p:nvGraphicFramePr>
        <p:xfrm>
          <a:off x="6191250" y="2352675"/>
          <a:ext cx="5476875" cy="2066924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6731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Tone model</a:t>
                      </a:r>
                    </a:p>
                  </a:txBody>
                  <a:tcPr>
                    <a:solidFill>
                      <a:srgbClr val="123D6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Coefficient</a:t>
                      </a:r>
                    </a:p>
                  </a:txBody>
                  <a:tcPr>
                    <a:solidFill>
                      <a:srgbClr val="123D6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Adjusted R²</a:t>
                      </a:r>
                    </a:p>
                  </a:txBody>
                  <a:tcPr>
                    <a:solidFill>
                      <a:srgbClr val="123D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673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B52"/>
                          </a:solidFill>
                          <a:latin typeface="Arial"/>
                          <a:ea typeface="Arial"/>
                          <a:cs typeface="Arial"/>
                        </a:rPr>
                        <a:t>FinBERT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B52"/>
                          </a:solidFill>
                          <a:latin typeface="Arial"/>
                          <a:ea typeface="Arial"/>
                          <a:cs typeface="Arial"/>
                        </a:rPr>
                        <a:t>0.907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B52"/>
                          </a:solidFill>
                          <a:latin typeface="Arial"/>
                          <a:ea typeface="Arial"/>
                          <a:cs typeface="Arial"/>
                        </a:rPr>
                        <a:t>0.080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673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B52"/>
                          </a:solidFill>
                          <a:latin typeface="Arial"/>
                          <a:ea typeface="Arial"/>
                          <a:cs typeface="Arial"/>
                        </a:rPr>
                        <a:t>BERT</a:t>
                      </a:r>
                    </a:p>
                  </a:txBody>
                  <a:tcPr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B52"/>
                          </a:solidFill>
                          <a:latin typeface="Arial"/>
                          <a:ea typeface="Arial"/>
                          <a:cs typeface="Arial"/>
                        </a:rPr>
                        <a:t>0.873</a:t>
                      </a:r>
                    </a:p>
                  </a:txBody>
                  <a:tcPr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B52"/>
                          </a:solidFill>
                          <a:latin typeface="Arial"/>
                          <a:ea typeface="Arial"/>
                          <a:cs typeface="Arial"/>
                        </a:rPr>
                        <a:t>0.079</a:t>
                      </a:r>
                    </a:p>
                  </a:txBody>
                  <a:tcPr>
                    <a:solidFill>
                      <a:srgbClr val="ED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673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B52"/>
                          </a:solidFill>
                          <a:latin typeface="Arial"/>
                          <a:ea typeface="Arial"/>
                          <a:cs typeface="Arial"/>
                        </a:rPr>
                        <a:t>LM dictionary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B52"/>
                          </a:solidFill>
                          <a:latin typeface="Arial"/>
                          <a:ea typeface="Arial"/>
                          <a:cs typeface="Arial"/>
                        </a:rPr>
                        <a:t>0.640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B52"/>
                          </a:solidFill>
                          <a:latin typeface="Arial"/>
                          <a:ea typeface="Arial"/>
                          <a:cs typeface="Arial"/>
                        </a:rPr>
                        <a:t>0.069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market-meaning">
            <a:extLst>
              <a:ext uri="{FF2B5EF4-FFF2-40B4-BE49-F238E27FC236}">
                <a16:creationId xmlns:a16="http://schemas.microsoft.com/office/drawing/2014/main" id="{816909AF-791E-4C07-9350-00ED38C5732C}"/>
              </a:ext>
            </a:extLst>
          </p:cNvPr>
          <p:cNvSpPr>
            <a:spLocks noGrp="1"/>
          </p:cNvSpPr>
          <p:nvPr/>
        </p:nvSpPr>
        <p:spPr>
          <a:xfrm>
            <a:off x="6191250" y="4638675"/>
            <a:ext cx="5476875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800" b="1">
                <a:solidFill>
                  <a:srgbClr val="123D6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3D67"/>
                </a:solidFill>
                <a:latin typeface="Arial"/>
                <a:ea typeface="Arial"/>
                <a:cs typeface="Arial"/>
              </a:rPr>
              <a:t>Higher explanatory power for call tone</a:t>
            </a:r>
          </a:p>
          <a:p>
            <a:pPr algn="l">
              <a:defRPr sz="1800" b="1">
                <a:solidFill>
                  <a:srgbClr val="123D6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3D67"/>
                </a:solidFill>
                <a:latin typeface="Arial"/>
                <a:ea typeface="Arial"/>
                <a:cs typeface="Arial"/>
              </a:rPr>
              <a:t>with firm controls and time effects</a:t>
            </a:r>
          </a:p>
        </p:txBody>
      </p:sp>
      <p:sp>
        <p:nvSpPr>
          <p:cNvPr id="17" name="market-warning">
            <a:extLst>
              <a:ext uri="{FF2B5EF4-FFF2-40B4-BE49-F238E27FC236}">
                <a16:creationId xmlns:a16="http://schemas.microsoft.com/office/drawing/2014/main" id="{B85A4EE9-D93A-4D8A-BD3A-44C53BE7AFD2}"/>
              </a:ext>
            </a:extLst>
          </p:cNvPr>
          <p:cNvSpPr>
            <a:spLocks noGrp="1"/>
          </p:cNvSpPr>
          <p:nvPr/>
        </p:nvSpPr>
        <p:spPr>
          <a:xfrm>
            <a:off x="6191250" y="5648325"/>
            <a:ext cx="5476875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650" b="0">
                <a:solidFill>
                  <a:srgbClr val="61768B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61768B"/>
                </a:solidFill>
                <a:latin typeface="Arial"/>
                <a:ea typeface="Arial"/>
                <a:cs typeface="Arial"/>
              </a:rPr>
              <a:t>Association evidence; not a trading </a:t>
            </a:r>
            <a:r>
              <a:rPr sz="1650" b="0" dirty="0" err="1">
                <a:solidFill>
                  <a:srgbClr val="61768B"/>
                </a:solidFill>
                <a:latin typeface="Arial"/>
                <a:ea typeface="Arial"/>
                <a:cs typeface="Arial"/>
              </a:rPr>
              <a:t>backtest</a:t>
            </a:r>
            <a:endParaRPr sz="1650" b="0" dirty="0">
              <a:solidFill>
                <a:srgbClr val="61768B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450465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op-accent">
            <a:extLst>
              <a:ext uri="{FF2B5EF4-FFF2-40B4-BE49-F238E27FC236}">
                <a16:creationId xmlns:a16="http://schemas.microsoft.com/office/drawing/2014/main" id="{3B6F0DF3-DE2C-41CB-A1F0-E10F066FB1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1866B5"/>
          </a:solidFill>
          <a:ln w="0">
            <a:noFill/>
          </a:ln>
        </p:spPr>
      </p:sp>
      <p:sp>
        <p:nvSpPr>
          <p:cNvPr id="2" name="heading-background">
            <a:extLst>
              <a:ext uri="{FF2B5EF4-FFF2-40B4-BE49-F238E27FC236}">
                <a16:creationId xmlns:a16="http://schemas.microsoft.com/office/drawing/2014/main" id="{1F68F834-E11D-4D81-AE5D-2D3DE2077678}"/>
              </a:ext>
            </a:extLst>
          </p:cNvPr>
          <p:cNvSpPr>
            <a:spLocks noGrp="1"/>
          </p:cNvSpPr>
          <p:nvPr/>
        </p:nvSpPr>
        <p:spPr>
          <a:xfrm>
            <a:off x="0" y="66675"/>
            <a:ext cx="12192000" cy="990600"/>
          </a:xfrm>
          <a:prstGeom prst="rect">
            <a:avLst/>
          </a:prstGeom>
          <a:solidFill>
            <a:srgbClr val="EDF4FB"/>
          </a:solidFill>
          <a:ln w="0">
            <a:noFill/>
          </a:ln>
        </p:spPr>
      </p:sp>
      <p:sp>
        <p:nvSpPr>
          <p:cNvPr id="3" name="series">
            <a:extLst>
              <a:ext uri="{FF2B5EF4-FFF2-40B4-BE49-F238E27FC236}">
                <a16:creationId xmlns:a16="http://schemas.microsoft.com/office/drawing/2014/main" id="{E1677194-3E87-4092-9FF1-7F0FA02D915D}"/>
              </a:ext>
            </a:extLst>
          </p:cNvPr>
          <p:cNvSpPr>
            <a:spLocks noGrp="1"/>
          </p:cNvSpPr>
          <p:nvPr/>
        </p:nvSpPr>
        <p:spPr>
          <a:xfrm>
            <a:off x="523875" y="219075"/>
            <a:ext cx="68580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125" b="1">
                <a:solidFill>
                  <a:srgbClr val="61768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1768B"/>
                </a:solidFill>
                <a:latin typeface="Arial"/>
                <a:ea typeface="Arial"/>
                <a:cs typeface="Arial"/>
              </a:rPr>
              <a:t>FINBERT  /  PAPER READING</a:t>
            </a:r>
          </a:p>
        </p:txBody>
      </p:sp>
      <p:sp>
        <p:nvSpPr>
          <p:cNvPr id="4" name="section">
            <a:extLst>
              <a:ext uri="{FF2B5EF4-FFF2-40B4-BE49-F238E27FC236}">
                <a16:creationId xmlns:a16="http://schemas.microsoft.com/office/drawing/2014/main" id="{A5C62AAC-2894-4BBE-A8C2-4AFDED6F2784}"/>
              </a:ext>
            </a:extLst>
          </p:cNvPr>
          <p:cNvSpPr>
            <a:spLocks noGrp="1"/>
          </p:cNvSpPr>
          <p:nvPr/>
        </p:nvSpPr>
        <p:spPr>
          <a:xfrm>
            <a:off x="8334375" y="219075"/>
            <a:ext cx="33337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r">
              <a:defRPr sz="1125" b="1">
                <a:solidFill>
                  <a:srgbClr val="1866B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66B5"/>
                </a:solidFill>
                <a:latin typeface="Arial"/>
                <a:ea typeface="Arial"/>
                <a:cs typeface="Arial"/>
              </a:rPr>
              <a:t>04 / MY READING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224C41EA-2CA1-4A46-BCBA-2DDE6AF7E7EF}"/>
              </a:ext>
            </a:extLst>
          </p:cNvPr>
          <p:cNvSpPr>
            <a:spLocks noGrp="1"/>
          </p:cNvSpPr>
          <p:nvPr/>
        </p:nvSpPr>
        <p:spPr>
          <a:xfrm>
            <a:off x="523875" y="514350"/>
            <a:ext cx="1114425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3000" b="1">
                <a:solidFill>
                  <a:srgbClr val="123D6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3D67"/>
                </a:solidFill>
                <a:latin typeface="Arial"/>
                <a:ea typeface="Arial"/>
                <a:cs typeface="Arial"/>
              </a:rPr>
              <a:t>Conclusion and critical assessment</a:t>
            </a:r>
          </a:p>
        </p:txBody>
      </p:sp>
      <p:sp>
        <p:nvSpPr>
          <p:cNvPr id="6" name="footer-rule">
            <a:extLst>
              <a:ext uri="{FF2B5EF4-FFF2-40B4-BE49-F238E27FC236}">
                <a16:creationId xmlns:a16="http://schemas.microsoft.com/office/drawing/2014/main" id="{A1F3B0CB-83CE-4C10-9017-459647188739}"/>
              </a:ext>
            </a:extLst>
          </p:cNvPr>
          <p:cNvSpPr>
            <a:spLocks noGrp="1"/>
          </p:cNvSpPr>
          <p:nvPr/>
        </p:nvSpPr>
        <p:spPr>
          <a:xfrm>
            <a:off x="523875" y="6410325"/>
            <a:ext cx="11144250" cy="9525"/>
          </a:xfrm>
          <a:prstGeom prst="rect">
            <a:avLst/>
          </a:prstGeom>
          <a:solidFill>
            <a:srgbClr val="D6E2EF"/>
          </a:solidFill>
          <a:ln w="0">
            <a:noFill/>
          </a:ln>
        </p:spPr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B314963A-922A-4A2D-AC4F-A13A44D17C20}"/>
              </a:ext>
            </a:extLst>
          </p:cNvPr>
          <p:cNvSpPr>
            <a:spLocks noGrp="1"/>
          </p:cNvSpPr>
          <p:nvPr/>
        </p:nvSpPr>
        <p:spPr>
          <a:xfrm>
            <a:off x="10858500" y="6515100"/>
            <a:ext cx="8191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r">
              <a:defRPr sz="1200" b="0">
                <a:solidFill>
                  <a:srgbClr val="6176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68B"/>
                </a:solidFill>
                <a:latin typeface="Arial"/>
                <a:ea typeface="Arial"/>
                <a:cs typeface="Arial"/>
              </a:rPr>
              <a:t>08 / 09</a:t>
            </a:r>
          </a:p>
        </p:txBody>
      </p:sp>
      <p:sp>
        <p:nvSpPr>
          <p:cNvPr id="9" name="conclusion-thesis">
            <a:extLst>
              <a:ext uri="{FF2B5EF4-FFF2-40B4-BE49-F238E27FC236}">
                <a16:creationId xmlns:a16="http://schemas.microsoft.com/office/drawing/2014/main" id="{9D57151D-137D-4CCF-AD91-4437A3E9517D}"/>
              </a:ext>
            </a:extLst>
          </p:cNvPr>
          <p:cNvSpPr>
            <a:spLocks noGrp="1"/>
          </p:cNvSpPr>
          <p:nvPr/>
        </p:nvSpPr>
        <p:spPr>
          <a:xfrm>
            <a:off x="523875" y="1247775"/>
            <a:ext cx="111442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2400" b="1">
                <a:solidFill>
                  <a:srgbClr val="1866B5"/>
                </a:solidFill>
                <a:latin typeface="Arial"/>
                <a:ea typeface="Arial"/>
                <a:cs typeface="Arial"/>
              </a:defRPr>
            </a:pPr>
            <a:r>
              <a:rPr sz="2400" b="1" dirty="0">
                <a:solidFill>
                  <a:srgbClr val="1866B5"/>
                </a:solidFill>
                <a:latin typeface="Arial"/>
                <a:ea typeface="Arial"/>
                <a:cs typeface="Arial"/>
              </a:rPr>
              <a:t>Domain knowledge + context improve financial text analysis</a:t>
            </a:r>
          </a:p>
        </p:txBody>
      </p:sp>
      <p:sp>
        <p:nvSpPr>
          <p:cNvPr id="10" name="evidence-conclusion">
            <a:extLst>
              <a:ext uri="{FF2B5EF4-FFF2-40B4-BE49-F238E27FC236}">
                <a16:creationId xmlns:a16="http://schemas.microsoft.com/office/drawing/2014/main" id="{FD543EC6-1363-4471-B180-73AC60353156}"/>
              </a:ext>
            </a:extLst>
          </p:cNvPr>
          <p:cNvSpPr>
            <a:spLocks noGrp="1"/>
          </p:cNvSpPr>
          <p:nvPr/>
        </p:nvSpPr>
        <p:spPr>
          <a:xfrm>
            <a:off x="523875" y="1809750"/>
            <a:ext cx="111442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725" b="0">
                <a:solidFill>
                  <a:srgbClr val="61768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1768B"/>
                </a:solidFill>
                <a:latin typeface="Arial"/>
                <a:ea typeface="Arial"/>
                <a:cs typeface="Arial"/>
              </a:rPr>
              <a:t>Evidence: stronger sentiment labels, fewer labeled examples, and financial applications</a:t>
            </a:r>
          </a:p>
        </p:txBody>
      </p:sp>
      <p:graphicFrame>
        <p:nvGraphicFramePr>
          <p:cNvPr id="23" name="表格 22"/>
          <p:cNvGraphicFramePr/>
          <p:nvPr>
            <p:extLst>
              <p:ext uri="{D42A27DB-BD31-4B8C-83A1-F6EECF244321}">
                <p14:modId xmlns:p14="http://schemas.microsoft.com/office/powerpoint/2010/main" val="3380837358"/>
              </p:ext>
            </p:extLst>
          </p:nvPr>
        </p:nvGraphicFramePr>
        <p:xfrm>
          <a:off x="523875" y="2390775"/>
          <a:ext cx="11144250" cy="3152776"/>
        </p:xfrm>
        <a:graphic>
          <a:graphicData uri="http://schemas.openxmlformats.org/drawingml/2006/table">
            <a:tbl>
              <a:tblPr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8194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Reading point</a:t>
                      </a:r>
                    </a:p>
                  </a:txBody>
                  <a:tcPr>
                    <a:solidFill>
                      <a:srgbClr val="123D6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the paper provides</a:t>
                      </a:r>
                    </a:p>
                  </a:txBody>
                  <a:tcPr>
                    <a:solidFill>
                      <a:srgbClr val="123D6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My assessment / next test</a:t>
                      </a:r>
                    </a:p>
                  </a:txBody>
                  <a:tcPr>
                    <a:solidFill>
                      <a:srgbClr val="123D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819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B52"/>
                          </a:solidFill>
                          <a:latin typeface="Arial"/>
                          <a:ea typeface="Arial"/>
                          <a:cs typeface="Arial"/>
                        </a:rPr>
                        <a:t>Domain comparison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B52"/>
                          </a:solidFill>
                          <a:latin typeface="Arial"/>
                          <a:ea typeface="Arial"/>
                          <a:cs typeface="Arial"/>
                        </a:rPr>
                        <a:t>FinBERT beats general BERT;</a:t>
                      </a:r>
                    </a:p>
                    <a:p>
                      <a:r>
                        <a:rPr sz="1500" b="0">
                          <a:solidFill>
                            <a:srgbClr val="233B52"/>
                          </a:solidFill>
                          <a:latin typeface="Arial"/>
                          <a:ea typeface="Arial"/>
                          <a:cs typeface="Arial"/>
                        </a:rPr>
                        <a:t>finance vocabulary supports the gain.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233B52"/>
                          </a:solidFill>
                          <a:latin typeface="Arial"/>
                          <a:ea typeface="Arial"/>
                          <a:cs typeface="Arial"/>
                        </a:rPr>
                        <a:t>Domain, corpus size and vocabulary</a:t>
                      </a:r>
                      <a:endParaRPr lang="en-US" sz="1500" b="0" dirty="0">
                        <a:solidFill>
                          <a:srgbClr val="233B52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r>
                        <a:rPr lang="en-US" sz="1500" b="0" dirty="0">
                          <a:solidFill>
                            <a:srgbClr val="233B52"/>
                          </a:solidFill>
                          <a:latin typeface="Arial"/>
                          <a:ea typeface="Arial"/>
                          <a:cs typeface="Arial"/>
                        </a:rPr>
                        <a:t>change together. Better isolate each factor.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819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B52"/>
                          </a:solidFill>
                          <a:latin typeface="Arial"/>
                          <a:ea typeface="Arial"/>
                          <a:cs typeface="Arial"/>
                        </a:rPr>
                        <a:t>Evaluation overlap</a:t>
                      </a:r>
                    </a:p>
                  </a:txBody>
                  <a:tcPr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B52"/>
                          </a:solidFill>
                          <a:latin typeface="Arial"/>
                          <a:ea typeface="Arial"/>
                          <a:cs typeface="Arial"/>
                        </a:rPr>
                        <a:t>Some labeled text is in pretraining.</a:t>
                      </a:r>
                    </a:p>
                    <a:p>
                      <a:r>
                        <a:rPr sz="1500" b="0">
                          <a:solidFill>
                            <a:srgbClr val="233B52"/>
                          </a:solidFill>
                          <a:latin typeface="Arial"/>
                          <a:ea typeface="Arial"/>
                          <a:cs typeface="Arial"/>
                        </a:rPr>
                        <a:t>Authors report a non-overlapping</a:t>
                      </a:r>
                    </a:p>
                    <a:p>
                      <a:r>
                        <a:rPr sz="1500" b="0">
                          <a:solidFill>
                            <a:srgbClr val="233B52"/>
                          </a:solidFill>
                          <a:latin typeface="Arial"/>
                          <a:ea typeface="Arial"/>
                          <a:cs typeface="Arial"/>
                        </a:rPr>
                        <a:t>PhraseBank robustness check.</a:t>
                      </a:r>
                    </a:p>
                  </a:txBody>
                  <a:tcPr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233B52"/>
                          </a:solidFill>
                          <a:latin typeface="Arial"/>
                          <a:ea typeface="Arial"/>
                          <a:cs typeface="Arial"/>
                        </a:rPr>
                        <a:t>Useful robustness evidence.</a:t>
                      </a:r>
                    </a:p>
                    <a:p>
                      <a:r>
                        <a:rPr sz="1500" b="0" dirty="0">
                          <a:solidFill>
                            <a:srgbClr val="233B52"/>
                          </a:solidFill>
                          <a:latin typeface="Arial"/>
                          <a:ea typeface="Arial"/>
                          <a:cs typeface="Arial"/>
                        </a:rPr>
                        <a:t>Also test new firms, later periods</a:t>
                      </a:r>
                      <a:endParaRPr lang="en-US" sz="1500" b="0" dirty="0">
                        <a:solidFill>
                          <a:srgbClr val="233B52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r>
                        <a:rPr lang="en-US" sz="1500" b="0" dirty="0">
                          <a:solidFill>
                            <a:srgbClr val="233B52"/>
                          </a:solidFill>
                          <a:latin typeface="Arial"/>
                          <a:ea typeface="Arial"/>
                          <a:cs typeface="Arial"/>
                        </a:rPr>
                        <a:t>and Chinese financial text.</a:t>
                      </a:r>
                    </a:p>
                  </a:txBody>
                  <a:tcPr>
                    <a:solidFill>
                      <a:srgbClr val="ED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819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B52"/>
                          </a:solidFill>
                          <a:latin typeface="Arial"/>
                          <a:ea typeface="Arial"/>
                          <a:cs typeface="Arial"/>
                        </a:rPr>
                        <a:t>Economic interpretation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B52"/>
                          </a:solidFill>
                          <a:latin typeface="Arial"/>
                          <a:ea typeface="Arial"/>
                          <a:cs typeface="Arial"/>
                        </a:rPr>
                        <a:t>Call tone is more closely associated</a:t>
                      </a:r>
                    </a:p>
                    <a:p>
                      <a:r>
                        <a:rPr sz="1500" b="0">
                          <a:solidFill>
                            <a:srgbClr val="233B52"/>
                          </a:solidFill>
                          <a:latin typeface="Arial"/>
                          <a:ea typeface="Arial"/>
                          <a:cs typeface="Arial"/>
                        </a:rPr>
                        <a:t>with market reactions.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233B52"/>
                          </a:solidFill>
                          <a:latin typeface="Arial"/>
                          <a:ea typeface="Arial"/>
                          <a:cs typeface="Arial"/>
                        </a:rPr>
                        <a:t>This supports information extraction.</a:t>
                      </a:r>
                    </a:p>
                    <a:p>
                      <a:r>
                        <a:rPr sz="1500" b="0" dirty="0">
                          <a:solidFill>
                            <a:srgbClr val="233B52"/>
                          </a:solidFill>
                          <a:latin typeface="Arial"/>
                          <a:ea typeface="Arial"/>
                          <a:cs typeface="Arial"/>
                        </a:rPr>
                        <a:t>It does not establish causality</a:t>
                      </a:r>
                      <a:endParaRPr lang="en-US" sz="1500" b="0" dirty="0">
                        <a:solidFill>
                          <a:srgbClr val="233B52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r>
                        <a:rPr lang="en-US" sz="1500" b="0" dirty="0">
                          <a:solidFill>
                            <a:srgbClr val="233B52"/>
                          </a:solidFill>
                          <a:latin typeface="Arial"/>
                          <a:ea typeface="Arial"/>
                          <a:cs typeface="Arial"/>
                        </a:rPr>
                        <a:t>or future trading profits.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engineering-cost">
            <a:extLst>
              <a:ext uri="{FF2B5EF4-FFF2-40B4-BE49-F238E27FC236}">
                <a16:creationId xmlns:a16="http://schemas.microsoft.com/office/drawing/2014/main" id="{497A5971-4ABE-45B1-8CC9-0E6B4FEB4DB1}"/>
              </a:ext>
            </a:extLst>
          </p:cNvPr>
          <p:cNvSpPr>
            <a:spLocks noGrp="1"/>
          </p:cNvSpPr>
          <p:nvPr/>
        </p:nvSpPr>
        <p:spPr>
          <a:xfrm>
            <a:off x="523875" y="5876925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725" b="1">
                <a:solidFill>
                  <a:srgbClr val="123D6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D67"/>
                </a:solidFill>
                <a:latin typeface="Arial"/>
                <a:ea typeface="Arial"/>
                <a:cs typeface="Arial"/>
              </a:rPr>
              <a:t>Engineering trade-off: ~2 days of pretraining on 4 Tesla P100 GPUs; reusable model released</a:t>
            </a:r>
          </a:p>
        </p:txBody>
      </p:sp>
    </p:spTree>
    <p:extLst>
      <p:ext uri="{BB962C8B-B14F-4D97-AF65-F5344CB8AC3E}">
        <p14:creationId xmlns:p14="http://schemas.microsoft.com/office/powerpoint/2010/main" val="4026051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op-accent">
            <a:extLst>
              <a:ext uri="{FF2B5EF4-FFF2-40B4-BE49-F238E27FC236}">
                <a16:creationId xmlns:a16="http://schemas.microsoft.com/office/drawing/2014/main" id="{7B121443-4A32-445C-B663-839F8F592FD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1866B5"/>
          </a:solidFill>
          <a:ln w="0">
            <a:noFill/>
          </a:ln>
        </p:spPr>
      </p:sp>
      <p:sp>
        <p:nvSpPr>
          <p:cNvPr id="2" name="heading-background">
            <a:extLst>
              <a:ext uri="{FF2B5EF4-FFF2-40B4-BE49-F238E27FC236}">
                <a16:creationId xmlns:a16="http://schemas.microsoft.com/office/drawing/2014/main" id="{A5D13ACF-EEDD-401C-942A-44354456F14A}"/>
              </a:ext>
            </a:extLst>
          </p:cNvPr>
          <p:cNvSpPr>
            <a:spLocks noGrp="1"/>
          </p:cNvSpPr>
          <p:nvPr/>
        </p:nvSpPr>
        <p:spPr>
          <a:xfrm>
            <a:off x="0" y="66675"/>
            <a:ext cx="12192000" cy="990600"/>
          </a:xfrm>
          <a:prstGeom prst="rect">
            <a:avLst/>
          </a:prstGeom>
          <a:solidFill>
            <a:srgbClr val="EDF4FB"/>
          </a:solidFill>
          <a:ln w="0">
            <a:noFill/>
          </a:ln>
        </p:spPr>
      </p:sp>
      <p:sp>
        <p:nvSpPr>
          <p:cNvPr id="3" name="series">
            <a:extLst>
              <a:ext uri="{FF2B5EF4-FFF2-40B4-BE49-F238E27FC236}">
                <a16:creationId xmlns:a16="http://schemas.microsoft.com/office/drawing/2014/main" id="{06E83056-28F9-4010-B48F-43E99E6E4550}"/>
              </a:ext>
            </a:extLst>
          </p:cNvPr>
          <p:cNvSpPr>
            <a:spLocks noGrp="1"/>
          </p:cNvSpPr>
          <p:nvPr/>
        </p:nvSpPr>
        <p:spPr>
          <a:xfrm>
            <a:off x="523875" y="219075"/>
            <a:ext cx="68580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1125" b="1">
                <a:solidFill>
                  <a:srgbClr val="61768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1768B"/>
                </a:solidFill>
                <a:latin typeface="Arial"/>
                <a:ea typeface="Arial"/>
                <a:cs typeface="Arial"/>
              </a:rPr>
              <a:t>FINBERT  /  PAPER READING</a:t>
            </a:r>
          </a:p>
        </p:txBody>
      </p:sp>
      <p:sp>
        <p:nvSpPr>
          <p:cNvPr id="5" name="footer-rule">
            <a:extLst>
              <a:ext uri="{FF2B5EF4-FFF2-40B4-BE49-F238E27FC236}">
                <a16:creationId xmlns:a16="http://schemas.microsoft.com/office/drawing/2014/main" id="{154C5129-8ED8-49C6-8CBF-03BDC6BAE19D}"/>
              </a:ext>
            </a:extLst>
          </p:cNvPr>
          <p:cNvSpPr>
            <a:spLocks noGrp="1"/>
          </p:cNvSpPr>
          <p:nvPr/>
        </p:nvSpPr>
        <p:spPr>
          <a:xfrm>
            <a:off x="523875" y="6410325"/>
            <a:ext cx="11144250" cy="9525"/>
          </a:xfrm>
          <a:prstGeom prst="rect">
            <a:avLst/>
          </a:prstGeom>
          <a:solidFill>
            <a:srgbClr val="D6E2EF"/>
          </a:solidFill>
          <a:ln w="0">
            <a:noFill/>
          </a:ln>
        </p:spPr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E78EBE71-60F8-4CA1-82D7-78C764836CCB}"/>
              </a:ext>
            </a:extLst>
          </p:cNvPr>
          <p:cNvSpPr>
            <a:spLocks noGrp="1"/>
          </p:cNvSpPr>
          <p:nvPr/>
        </p:nvSpPr>
        <p:spPr>
          <a:xfrm>
            <a:off x="10858500" y="6515100"/>
            <a:ext cx="8191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r">
              <a:defRPr sz="1200" b="0">
                <a:solidFill>
                  <a:srgbClr val="6176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68B"/>
                </a:solidFill>
                <a:latin typeface="Arial"/>
                <a:ea typeface="Arial"/>
                <a:cs typeface="Arial"/>
              </a:rPr>
              <a:t>09 / 09</a:t>
            </a:r>
          </a:p>
        </p:txBody>
      </p:sp>
      <p:sp>
        <p:nvSpPr>
          <p:cNvPr id="7" name="thanks">
            <a:extLst>
              <a:ext uri="{FF2B5EF4-FFF2-40B4-BE49-F238E27FC236}">
                <a16:creationId xmlns:a16="http://schemas.microsoft.com/office/drawing/2014/main" id="{DF0A72FB-EF33-4683-95A5-3BF02C89FA46}"/>
              </a:ext>
            </a:extLst>
          </p:cNvPr>
          <p:cNvSpPr>
            <a:spLocks noGrp="1"/>
          </p:cNvSpPr>
          <p:nvPr/>
        </p:nvSpPr>
        <p:spPr>
          <a:xfrm>
            <a:off x="730898" y="3171825"/>
            <a:ext cx="10730204" cy="1019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ctr">
              <a:defRPr sz="5925" b="1">
                <a:solidFill>
                  <a:srgbClr val="123D67"/>
                </a:solidFill>
                <a:latin typeface="Arial"/>
                <a:ea typeface="Arial"/>
                <a:cs typeface="Arial"/>
              </a:defRPr>
            </a:pPr>
            <a:r>
              <a:rPr lang="en-US" sz="5925" b="1" dirty="0">
                <a:solidFill>
                  <a:srgbClr val="123D67"/>
                </a:solidFill>
                <a:latin typeface="Arial"/>
                <a:ea typeface="Arial"/>
                <a:cs typeface="Arial"/>
              </a:rPr>
              <a:t>Thank you for your attention.</a:t>
            </a:r>
          </a:p>
        </p:txBody>
      </p:sp>
      <p:sp>
        <p:nvSpPr>
          <p:cNvPr id="18" name="course">
            <a:extLst>
              <a:ext uri="{FF2B5EF4-FFF2-40B4-BE49-F238E27FC236}">
                <a16:creationId xmlns:a16="http://schemas.microsoft.com/office/drawing/2014/main" id="{93C1ADED-B7FF-BF24-DB34-79FD10814BA5}"/>
              </a:ext>
            </a:extLst>
          </p:cNvPr>
          <p:cNvSpPr>
            <a:spLocks noGrp="1"/>
          </p:cNvSpPr>
          <p:nvPr/>
        </p:nvSpPr>
        <p:spPr>
          <a:xfrm>
            <a:off x="523875" y="581025"/>
            <a:ext cx="1114425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 algn="l">
              <a:defRPr sz="2025" b="0">
                <a:solidFill>
                  <a:srgbClr val="123D67"/>
                </a:solidFill>
                <a:latin typeface="Arial"/>
                <a:ea typeface="Arial"/>
                <a:cs typeface="Arial"/>
              </a:defRPr>
            </a:pPr>
            <a:r>
              <a:rPr sz="2025" b="0" dirty="0">
                <a:solidFill>
                  <a:srgbClr val="123D67"/>
                </a:solidFill>
                <a:latin typeface="Arial"/>
                <a:ea typeface="Arial"/>
                <a:cs typeface="Arial"/>
              </a:rPr>
              <a:t>Financial Technology and Artificial Intelligence</a:t>
            </a:r>
          </a:p>
        </p:txBody>
      </p:sp>
    </p:spTree>
    <p:extLst>
      <p:ext uri="{BB962C8B-B14F-4D97-AF65-F5344CB8AC3E}">
        <p14:creationId xmlns:p14="http://schemas.microsoft.com/office/powerpoint/2010/main" val="161434471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789</Words>
  <Application>Microsoft Office PowerPoint</Application>
  <DocSecurity>0</DocSecurity>
  <PresentationFormat>宽屏</PresentationFormat>
  <Paragraphs>186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2" baseType="lpstr">
      <vt:lpstr>Arial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超凡 程</cp:lastModifiedBy>
  <cp:revision>5</cp:revision>
  <dcterms:created xsi:type="dcterms:W3CDTF">2026-09-30T08:52:58Z</dcterms:created>
  <dcterms:modified xsi:type="dcterms:W3CDTF">2026-10-30T02:19:53Z</dcterms:modified>
</cp:coreProperties>
</file>