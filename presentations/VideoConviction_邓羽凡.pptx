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strRef>
              <c:f>Sheet1!$B$1</c:f>
              <c:strCache>
                <c:ptCount val="1"/>
                <c:pt idx="0">
                  <c:v>Full video</c:v>
                </c:pt>
              </c:strCache>
            </c:strRef>
          </c:tx>
          <c:spPr>
            <a:solidFill>
              <a:srgbClr val="32B7D6"/>
            </a:solidFill>
            <a:ln>
              <a:solidFill>
                <a:srgbClr val="32B7D6"/>
              </a:solidFill>
            </a:ln>
          </c:spPr>
          <c:invertIfNegative val="0"/>
          <c:dLbls>
            <c:numFmt formatCode="0.00" sourceLinked="0"/>
            <c:spPr>
              <a:noFill/>
              <a:ln>
                <a:noFill/>
              </a:ln>
              <a:effectLst/>
            </c:spPr>
            <c:txPr>
              <a:bodyPr/>
              <a:lstStyle/>
              <a:p>
                <a:pPr>
                  <a:defRPr lang="en-US" sz="1200">
                    <a:solidFill>
                      <a:srgbClr val="112B36"/>
                    </a:solidFill>
                    <a:latin typeface="Arial"/>
                    <a:ea typeface="Microsoft YaHei"/>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c:v>
                </c:pt>
                <c:pt idx="1">
                  <c:v>TA</c:v>
                </c:pt>
                <c:pt idx="2">
                  <c:v>TAC</c:v>
                </c:pt>
              </c:strCache>
            </c:strRef>
          </c:cat>
          <c:val>
            <c:numRef>
              <c:f>Sheet1!$B$2:$B$4</c:f>
              <c:numCache>
                <c:formatCode>General</c:formatCode>
                <c:ptCount val="3"/>
                <c:pt idx="0">
                  <c:v>64.95</c:v>
                </c:pt>
                <c:pt idx="1">
                  <c:v>44.53</c:v>
                </c:pt>
                <c:pt idx="2">
                  <c:v>19.600000000000001</c:v>
                </c:pt>
              </c:numCache>
            </c:numRef>
          </c:val>
          <c:extLst>
            <c:ext xmlns:c16="http://schemas.microsoft.com/office/drawing/2014/chart" uri="{C3380CC4-5D6E-409C-BE32-E72D297353CC}">
              <c16:uniqueId val="{00000000-59D1-4D19-920C-C09B12B41D8A}"/>
            </c:ext>
          </c:extLst>
        </c:ser>
        <c:ser>
          <c:idx val="1"/>
          <c:order val="1"/>
          <c:tx>
            <c:strRef>
              <c:f>Sheet1!$C$1</c:f>
              <c:strCache>
                <c:ptCount val="1"/>
                <c:pt idx="0">
                  <c:v>Expert segments</c:v>
                </c:pt>
              </c:strCache>
            </c:strRef>
          </c:tx>
          <c:spPr>
            <a:solidFill>
              <a:srgbClr val="087F83"/>
            </a:solidFill>
            <a:ln>
              <a:solidFill>
                <a:srgbClr val="087F83"/>
              </a:solidFill>
            </a:ln>
          </c:spPr>
          <c:invertIfNegative val="0"/>
          <c:dLbls>
            <c:numFmt formatCode="0.00" sourceLinked="0"/>
            <c:spPr>
              <a:noFill/>
              <a:ln>
                <a:noFill/>
              </a:ln>
              <a:effectLst/>
            </c:spPr>
            <c:txPr>
              <a:bodyPr/>
              <a:lstStyle/>
              <a:p>
                <a:pPr>
                  <a:defRPr lang="en-US" sz="1200">
                    <a:solidFill>
                      <a:srgbClr val="112B36"/>
                    </a:solidFill>
                    <a:latin typeface="Arial"/>
                    <a:ea typeface="Microsoft YaHei"/>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c:v>
                </c:pt>
                <c:pt idx="1">
                  <c:v>TA</c:v>
                </c:pt>
                <c:pt idx="2">
                  <c:v>TAC</c:v>
                </c:pt>
              </c:strCache>
            </c:strRef>
          </c:cat>
          <c:val>
            <c:numRef>
              <c:f>Sheet1!$C$2:$C$4</c:f>
              <c:numCache>
                <c:formatCode>General</c:formatCode>
                <c:ptCount val="3"/>
                <c:pt idx="0">
                  <c:v>83.47</c:v>
                </c:pt>
                <c:pt idx="1">
                  <c:v>51.15</c:v>
                </c:pt>
                <c:pt idx="2">
                  <c:v>27.86</c:v>
                </c:pt>
              </c:numCache>
            </c:numRef>
          </c:val>
          <c:extLst>
            <c:ext xmlns:c16="http://schemas.microsoft.com/office/drawing/2014/chart" uri="{C3380CC4-5D6E-409C-BE32-E72D297353CC}">
              <c16:uniqueId val="{00000001-59D1-4D19-920C-C09B12B41D8A}"/>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none"/>
        <c:minorTickMark val="none"/>
        <c:tickLblPos val="nextTo"/>
        <c:spPr>
          <a:ln w="9525" cap="flat" cmpd="sng" algn="ctr">
            <a:solidFill>
              <a:srgbClr val="404040"/>
            </a:solidFill>
            <a:round/>
          </a:ln>
        </c:spPr>
        <c:txPr>
          <a:bodyPr/>
          <a:lstStyle/>
          <a:p>
            <a:pPr>
              <a:defRPr lang="en-US" sz="900">
                <a:solidFill>
                  <a:srgbClr val="404040"/>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spPr>
            <a:ln w="6350" cap="flat" cmpd="sng" algn="ctr">
              <a:solidFill>
                <a:srgbClr val="D9DED8"/>
              </a:solidFill>
              <a:round/>
            </a:ln>
          </c:spPr>
        </c:majorGridlines>
        <c:numFmt formatCode="General" sourceLinked="1"/>
        <c:majorTickMark val="none"/>
        <c:minorTickMark val="none"/>
        <c:tickLblPos val="nextTo"/>
        <c:spPr>
          <a:ln w="9525" cap="flat" cmpd="sng" algn="ctr">
            <a:solidFill>
              <a:srgbClr val="404040"/>
            </a:solidFill>
            <a:round/>
          </a:ln>
        </c:spPr>
        <c:txPr>
          <a:bodyPr/>
          <a:lstStyle/>
          <a:p>
            <a:pPr>
              <a:defRPr lang="en-US" sz="900">
                <a:solidFill>
                  <a:srgbClr val="404040"/>
                </a:solidFill>
              </a:defRPr>
            </a:pPr>
            <a:endParaRPr lang="en-US"/>
          </a:p>
        </c:txPr>
        <c:crossAx val="2068027336"/>
        <c:crosses val="autoZero"/>
        <c:crossBetween val="between"/>
      </c:valAx>
      <c:spPr>
        <a:noFill/>
        <a:ln>
          <a:noFill/>
        </a:ln>
      </c:spPr>
    </c:plotArea>
    <c:legend>
      <c:legendPos val="b"/>
      <c:overlay val="0"/>
      <c:txPr>
        <a:bodyPr/>
        <a:lstStyle/>
        <a:p>
          <a:pPr>
            <a:defRPr lang="en-US" sz="900">
              <a:solidFill>
                <a:srgbClr val="404040"/>
              </a:solidFill>
            </a:defRPr>
          </a:pPr>
          <a:endParaRPr lang="en-US"/>
        </a:p>
      </c:txPr>
    </c:legend>
    <c:plotVisOnly val="1"/>
    <c:dispBlanksAs val="gap"/>
    <c:showDLblsOverMax val="1"/>
  </c:chart>
  <c:spPr>
    <a:noFill/>
    <a:ln>
      <a:noFill/>
    </a:ln>
  </c:spPr>
  <c:txPr>
    <a:bodyPr/>
    <a:lstStyle/>
    <a:p>
      <a:pPr>
        <a:defRPr lang="en-US" sz="900">
          <a:solidFill>
            <a:srgbClr val="404040"/>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strRef>
              <c:f>Sheet1!$B$1</c:f>
              <c:strCache>
                <c:ptCount val="1"/>
                <c:pt idx="0">
                  <c:v>Annualized return (%)</c:v>
                </c:pt>
              </c:strCache>
            </c:strRef>
          </c:tx>
          <c:spPr>
            <a:solidFill>
              <a:srgbClr val="087F83"/>
            </a:solidFill>
            <a:ln>
              <a:solidFill>
                <a:srgbClr val="087F83"/>
              </a:solidFill>
            </a:ln>
          </c:spPr>
          <c:invertIfNegative val="0"/>
          <c:dLbls>
            <c:numFmt formatCode="0.00" sourceLinked="0"/>
            <c:spPr>
              <a:noFill/>
              <a:ln>
                <a:noFill/>
              </a:ln>
              <a:effectLst/>
            </c:spPr>
            <c:txPr>
              <a:bodyPr/>
              <a:lstStyle/>
              <a:p>
                <a:pPr>
                  <a:defRPr lang="en-US" sz="1200">
                    <a:solidFill>
                      <a:srgbClr val="112B36"/>
                    </a:solidFill>
                    <a:latin typeface="Arial"/>
                    <a:ea typeface="Microsoft YaHei"/>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Follow buys</c:v>
                </c:pt>
                <c:pt idx="1">
                  <c:v>Conviction-weighted</c:v>
                </c:pt>
                <c:pt idx="2">
                  <c:v>SPY</c:v>
                </c:pt>
                <c:pt idx="3">
                  <c:v>QQQ</c:v>
                </c:pt>
                <c:pt idx="4">
                  <c:v>Reverse creators</c:v>
                </c:pt>
              </c:strCache>
            </c:strRef>
          </c:cat>
          <c:val>
            <c:numRef>
              <c:f>Sheet1!$B$2:$B$6</c:f>
              <c:numCache>
                <c:formatCode>General</c:formatCode>
                <c:ptCount val="5"/>
                <c:pt idx="0">
                  <c:v>9.74</c:v>
                </c:pt>
                <c:pt idx="1">
                  <c:v>4.47</c:v>
                </c:pt>
                <c:pt idx="2">
                  <c:v>11.28</c:v>
                </c:pt>
                <c:pt idx="3">
                  <c:v>17.55</c:v>
                </c:pt>
                <c:pt idx="4">
                  <c:v>17.899999999999999</c:v>
                </c:pt>
              </c:numCache>
            </c:numRef>
          </c:val>
          <c:extLst>
            <c:ext xmlns:c16="http://schemas.microsoft.com/office/drawing/2014/chart" uri="{C3380CC4-5D6E-409C-BE32-E72D297353CC}">
              <c16:uniqueId val="{00000000-8C61-4A91-A8A2-8B38A4CBE3B1}"/>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none"/>
        <c:minorTickMark val="none"/>
        <c:tickLblPos val="nextTo"/>
        <c:spPr>
          <a:ln w="9525" cap="flat" cmpd="sng" algn="ctr">
            <a:solidFill>
              <a:srgbClr val="404040"/>
            </a:solidFill>
            <a:round/>
          </a:ln>
        </c:spPr>
        <c:txPr>
          <a:bodyPr/>
          <a:lstStyle/>
          <a:p>
            <a:pPr>
              <a:defRPr lang="en-US" sz="900">
                <a:solidFill>
                  <a:srgbClr val="404040"/>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spPr>
            <a:ln w="6350" cap="flat" cmpd="sng" algn="ctr">
              <a:solidFill>
                <a:srgbClr val="D9DED8"/>
              </a:solidFill>
              <a:round/>
            </a:ln>
          </c:spPr>
        </c:majorGridlines>
        <c:numFmt formatCode="General" sourceLinked="1"/>
        <c:majorTickMark val="none"/>
        <c:minorTickMark val="none"/>
        <c:tickLblPos val="nextTo"/>
        <c:spPr>
          <a:ln w="9525" cap="flat" cmpd="sng" algn="ctr">
            <a:solidFill>
              <a:srgbClr val="404040"/>
            </a:solidFill>
            <a:round/>
          </a:ln>
        </c:spPr>
        <c:txPr>
          <a:bodyPr/>
          <a:lstStyle/>
          <a:p>
            <a:pPr>
              <a:defRPr lang="en-US" sz="900">
                <a:solidFill>
                  <a:srgbClr val="404040"/>
                </a:solidFill>
              </a:defRPr>
            </a:pPr>
            <a:endParaRPr lang="en-US"/>
          </a:p>
        </c:txPr>
        <c:crossAx val="2068027336"/>
        <c:crosses val="autoZero"/>
        <c:crossBetween val="between"/>
      </c:valAx>
      <c:spPr>
        <a:noFill/>
        <a:ln>
          <a:noFill/>
        </a:ln>
      </c:spPr>
    </c:plotArea>
    <c:plotVisOnly val="1"/>
    <c:dispBlanksAs val="gap"/>
    <c:showDLblsOverMax val="1"/>
  </c:chart>
  <c:spPr>
    <a:noFill/>
    <a:ln>
      <a:noFill/>
    </a:ln>
  </c:spPr>
  <c:txPr>
    <a:bodyPr/>
    <a:lstStyle/>
    <a:p>
      <a:pPr>
        <a:defRPr lang="en-US" sz="900">
          <a:solidFill>
            <a:srgbClr val="404040"/>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628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I'm Yufan Deng. Today I'll present VideoConviction, a KDD 2025 paper about stock recommendations and how strongly speakers express them in financial videos. It asks: Can AI understand these recommendations? And does stronger conviction make a recommendation a better investment?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dataset contains 288 financial videos totaling 43 hours, from 22 YouTube channels. Five experts spent 457 hours annotating them, identifying 687 recommendation segments and producing 6,063 annotations. Alongside text, the dataset preserves video links and timestamps, so each recommendation can be checked against the original video. This makes the annotations easier to verify and revisit.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three tasks increase in difficulty. T identifies stock tickers. TA adds actions such as buy, sell, or hold. TAC adds conviction: how firmly the speaker expresses the recommendation. For example, AAPL, Buy, 3 means a buy recommendation for Apple, with conviction level three. Experts consider tone, facial expressions, overall delivery, and consistency between the title and segment. This measures the speaker's conviction, not model confidence or the probability of being correct.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Can AI understand the recommendations? With multimodal GPT-4o, replacing full videos with expert-selected segments raises ticker F1 from 64.95 to 83.47, and full TAC F1 from 19.60 to 27.86. Focusing on relevant content helps, but scores remain low when actions and conviction are included. Models often mistake general market commentary for explicit trading recommendations. These segments were identified by experts; whether automatic localization delivers the same gains requires separate validation.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Stronger conviction also does not mean higher returns. In historical backtests using human labels, following buy recommendations returns 9.74% annually, below SPY's 11.28%. Weighting by conviction yields only 4.47%. Trading against the creators returns 17.90%, but its Sharpe ratio is just 0.41. Excluding low-priced stocks turns its annualized return negative, to minus 20.97%. The tallest bar therefore does not establish a robust trading strategy. These results highlight the importance of checking risk and robustness alongside headline returns.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From a fintech perspective, this paper turns financial videos into comparable, traceable recommendation records and evaluates their quality through historical backtests. Evaluating financial content requires looking at returns, risk, and sensitivity to the sample. It connects video understanding with a concrete question about investment value. My takeaway is simple: understanding what creators recommend is only the first step. Sounding certain does not make a recommendation worth investing in.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8F8"/>
        </a:solidFill>
        <a:effectLst/>
      </p:bgPr>
    </p:bg>
    <p:spTree>
      <p:nvGrpSpPr>
        <p:cNvPr id="1" name=""/>
        <p:cNvGrpSpPr/>
        <p:nvPr/>
      </p:nvGrpSpPr>
      <p:grpSpPr>
        <a:xfrm>
          <a:off x="0" y="0"/>
          <a:ext cx="0" cy="0"/>
          <a:chOff x="0" y="0"/>
          <a:chExt cx="0" cy="0"/>
        </a:xfrm>
      </p:grpSpPr>
      <p:sp>
        <p:nvSpPr>
          <p:cNvPr id="2" name="Text 0"/>
          <p:cNvSpPr/>
          <p:nvPr/>
        </p:nvSpPr>
        <p:spPr>
          <a:xfrm>
            <a:off x="594360" y="310896"/>
            <a:ext cx="6766560" cy="228600"/>
          </a:xfrm>
          <a:prstGeom prst="rect">
            <a:avLst/>
          </a:prstGeom>
          <a:noFill/>
          <a:ln/>
        </p:spPr>
        <p:txBody>
          <a:bodyPr wrap="square" lIns="0" tIns="0" rIns="0" bIns="0" rtlCol="0" anchor="ctr">
            <a:normAutofit/>
          </a:bodyPr>
          <a:lstStyle/>
          <a:p>
            <a:pPr marL="0" indent="0">
              <a:buNone/>
            </a:pPr>
            <a:r>
              <a:rPr lang="en-US" sz="1000" b="1" kern="0" spc="240" dirty="0">
                <a:solidFill>
                  <a:srgbClr val="087F83"/>
                </a:solidFill>
                <a:latin typeface="Microsoft YaHei" pitchFamily="34" charset="0"/>
                <a:ea typeface="Microsoft YaHei" pitchFamily="34" charset="-122"/>
                <a:cs typeface="Microsoft YaHei" pitchFamily="34" charset="-120"/>
              </a:rPr>
              <a:t>KDD 2025 · VIDEOCONVICTION</a:t>
            </a:r>
            <a:endParaRPr lang="en-US" sz="1000" dirty="0"/>
          </a:p>
        </p:txBody>
      </p:sp>
      <p:sp>
        <p:nvSpPr>
          <p:cNvPr id="3" name="Text 1"/>
          <p:cNvSpPr/>
          <p:nvPr/>
        </p:nvSpPr>
        <p:spPr>
          <a:xfrm>
            <a:off x="10972800" y="283464"/>
            <a:ext cx="640080" cy="274320"/>
          </a:xfrm>
          <a:prstGeom prst="rect">
            <a:avLst/>
          </a:prstGeom>
          <a:noFill/>
          <a:ln/>
        </p:spPr>
        <p:txBody>
          <a:bodyPr wrap="square" lIns="0" tIns="0" rIns="0" bIns="0" rtlCol="0" anchor="ctr">
            <a:normAutofit/>
          </a:bodyPr>
          <a:lstStyle/>
          <a:p>
            <a:pPr marL="0" indent="0" algn="r">
              <a:buNone/>
            </a:pPr>
            <a:r>
              <a:rPr lang="en-US" sz="1100" b="1" dirty="0">
                <a:solidFill>
                  <a:srgbClr val="60757B"/>
                </a:solidFill>
                <a:latin typeface="Microsoft YaHei" pitchFamily="34" charset="0"/>
                <a:ea typeface="Microsoft YaHei" pitchFamily="34" charset="-122"/>
                <a:cs typeface="Microsoft YaHei" pitchFamily="34" charset="-120"/>
              </a:rPr>
              <a:t>01</a:t>
            </a:r>
            <a:endParaRPr lang="en-US" sz="1100" dirty="0"/>
          </a:p>
        </p:txBody>
      </p:sp>
      <p:sp>
        <p:nvSpPr>
          <p:cNvPr id="4" name="Shape 2"/>
          <p:cNvSpPr/>
          <p:nvPr/>
        </p:nvSpPr>
        <p:spPr>
          <a:xfrm>
            <a:off x="594360" y="6382512"/>
            <a:ext cx="11000232" cy="0"/>
          </a:xfrm>
          <a:prstGeom prst="line">
            <a:avLst/>
          </a:prstGeom>
          <a:noFill/>
          <a:ln w="10160">
            <a:solidFill>
              <a:srgbClr val="D7E4E6"/>
            </a:solidFill>
            <a:prstDash val="solid"/>
            <a:headEnd type="none"/>
            <a:tailEnd type="none"/>
          </a:ln>
        </p:spPr>
      </p:sp>
      <p:sp>
        <p:nvSpPr>
          <p:cNvPr id="5" name="Text 3"/>
          <p:cNvSpPr/>
          <p:nvPr/>
        </p:nvSpPr>
        <p:spPr>
          <a:xfrm>
            <a:off x="594360" y="6473952"/>
            <a:ext cx="9966960" cy="182880"/>
          </a:xfrm>
          <a:prstGeom prst="rect">
            <a:avLst/>
          </a:prstGeom>
          <a:noFill/>
          <a:ln>
            <a:noFill/>
          </a:ln>
        </p:spPr>
        <p:txBody>
          <a:bodyPr wrap="none" lIns="0" tIns="34290" rIns="0" bIns="0" anchor="t" anchorCtr="0">
            <a:noAutofit/>
          </a:bodyPr>
          <a:lstStyle/>
          <a:p>
            <a:pPr algn="l"/>
            <a:r>
              <a:rPr lang="en-US" sz="750" dirty="0">
                <a:solidFill>
                  <a:srgbClr val="60757B"/>
                </a:solidFill>
                <a:latin typeface="Arial"/>
                <a:ea typeface="Arial"/>
                <a:cs typeface="Arial"/>
              </a:rPr>
              <a:t>Source: Galarnyk et al., KDD 2025; public author version, arXiv:2507.08104v1.</a:t>
            </a:r>
          </a:p>
        </p:txBody>
      </p:sp>
      <p:sp>
        <p:nvSpPr>
          <p:cNvPr id="6" name="Shape 4"/>
          <p:cNvSpPr/>
          <p:nvPr/>
        </p:nvSpPr>
        <p:spPr>
          <a:xfrm>
            <a:off x="713232" y="1298448"/>
            <a:ext cx="73152" cy="1947672"/>
          </a:xfrm>
          <a:prstGeom prst="rect">
            <a:avLst/>
          </a:prstGeom>
          <a:solidFill>
            <a:srgbClr val="087F83"/>
          </a:solidFill>
          <a:ln w="12700">
            <a:solidFill>
              <a:srgbClr val="333333">
                <a:alpha val="0"/>
              </a:srgbClr>
            </a:solidFill>
            <a:prstDash val="solid"/>
          </a:ln>
        </p:spPr>
      </p:sp>
      <p:sp>
        <p:nvSpPr>
          <p:cNvPr id="7" name="Text 5"/>
          <p:cNvSpPr/>
          <p:nvPr/>
        </p:nvSpPr>
        <p:spPr>
          <a:xfrm>
            <a:off x="1005840" y="1234440"/>
            <a:ext cx="10241280" cy="731520"/>
          </a:xfrm>
          <a:prstGeom prst="rect">
            <a:avLst/>
          </a:prstGeom>
          <a:noFill/>
          <a:ln/>
        </p:spPr>
        <p:txBody>
          <a:bodyPr wrap="square" lIns="0" tIns="0" rIns="0" bIns="0" rtlCol="0" anchor="ctr">
            <a:normAutofit/>
          </a:bodyPr>
          <a:lstStyle/>
          <a:p>
            <a:pPr marL="0" indent="0">
              <a:buNone/>
            </a:pPr>
            <a:r>
              <a:rPr lang="en-US" sz="4200" b="1" dirty="0">
                <a:solidFill>
                  <a:srgbClr val="112B36"/>
                </a:solidFill>
                <a:latin typeface="Microsoft YaHei" pitchFamily="34" charset="0"/>
                <a:ea typeface="Microsoft YaHei" pitchFamily="34" charset="-122"/>
                <a:cs typeface="Microsoft YaHei" pitchFamily="34" charset="-120"/>
              </a:rPr>
              <a:t>VideoConviction:</a:t>
            </a:r>
            <a:endParaRPr lang="en-US" sz="4200" dirty="0"/>
          </a:p>
        </p:txBody>
      </p:sp>
      <p:sp>
        <p:nvSpPr>
          <p:cNvPr id="8" name="Text 6"/>
          <p:cNvSpPr/>
          <p:nvPr/>
        </p:nvSpPr>
        <p:spPr>
          <a:xfrm>
            <a:off x="1024128" y="2231136"/>
            <a:ext cx="10241280" cy="1005840"/>
          </a:xfrm>
          <a:prstGeom prst="rect">
            <a:avLst/>
          </a:prstGeom>
          <a:noFill/>
          <a:ln/>
        </p:spPr>
        <p:txBody>
          <a:bodyPr wrap="square" lIns="0" tIns="0" rIns="0" bIns="0" rtlCol="0" anchor="t">
            <a:normAutofit/>
          </a:bodyPr>
          <a:lstStyle/>
          <a:p>
            <a:pPr marL="0" indent="0">
              <a:buNone/>
            </a:pPr>
            <a:r>
              <a:rPr lang="en-US" sz="2500" dirty="0">
                <a:solidFill>
                  <a:srgbClr val="163D55"/>
                </a:solidFill>
                <a:latin typeface="Microsoft YaHei" pitchFamily="34" charset="0"/>
                <a:ea typeface="Microsoft YaHei" pitchFamily="34" charset="-122"/>
                <a:cs typeface="Microsoft YaHei" pitchFamily="34" charset="-120"/>
              </a:rPr>
              <a:t>A Multimodal Benchmark for Human Conviction</a:t>
            </a:r>
            <a:endParaRPr lang="en-US" sz="2500" dirty="0"/>
          </a:p>
          <a:p>
            <a:pPr marL="0" indent="0">
              <a:buNone/>
            </a:pPr>
            <a:r>
              <a:rPr lang="en-US" sz="2500" dirty="0">
                <a:solidFill>
                  <a:srgbClr val="163D55"/>
                </a:solidFill>
                <a:latin typeface="Microsoft YaHei" pitchFamily="34" charset="0"/>
                <a:ea typeface="Microsoft YaHei" pitchFamily="34" charset="-122"/>
                <a:cs typeface="Microsoft YaHei" pitchFamily="34" charset="-120"/>
              </a:rPr>
              <a:t>and Stock Market Recommendations</a:t>
            </a:r>
            <a:endParaRPr lang="en-US" sz="2500" dirty="0"/>
          </a:p>
        </p:txBody>
      </p:sp>
      <p:sp>
        <p:nvSpPr>
          <p:cNvPr id="9" name="Text 7"/>
          <p:cNvSpPr/>
          <p:nvPr/>
        </p:nvSpPr>
        <p:spPr>
          <a:xfrm>
            <a:off x="1024128" y="3611880"/>
            <a:ext cx="10149840" cy="438912"/>
          </a:xfrm>
          <a:prstGeom prst="rect">
            <a:avLst/>
          </a:prstGeom>
          <a:noFill/>
          <a:ln>
            <a:noFill/>
          </a:ln>
        </p:spPr>
        <p:txBody>
          <a:bodyPr wrap="none" lIns="0" tIns="44196" rIns="0" bIns="0" anchor="t" anchorCtr="0">
            <a:noAutofit/>
          </a:bodyPr>
          <a:lstStyle/>
          <a:p>
            <a:pPr algn="l"/>
            <a:r>
              <a:rPr lang="en-US" sz="2300" b="1" dirty="0">
                <a:solidFill>
                  <a:srgbClr val="087F83"/>
                </a:solidFill>
                <a:latin typeface="Arial"/>
                <a:ea typeface="Arial"/>
                <a:cs typeface="Arial"/>
              </a:rPr>
              <a:t>Understanding stock recommendations and speaker conviction</a:t>
            </a:r>
          </a:p>
        </p:txBody>
      </p:sp>
      <p:sp>
        <p:nvSpPr>
          <p:cNvPr id="10" name="Text 8"/>
          <p:cNvSpPr/>
          <p:nvPr/>
        </p:nvSpPr>
        <p:spPr>
          <a:xfrm>
            <a:off x="1024128" y="4617720"/>
            <a:ext cx="9966960" cy="292608"/>
          </a:xfrm>
          <a:prstGeom prst="rect">
            <a:avLst/>
          </a:prstGeom>
          <a:noFill/>
          <a:ln>
            <a:noFill/>
          </a:ln>
        </p:spPr>
        <p:txBody>
          <a:bodyPr wrap="none" lIns="0" tIns="26924" rIns="0" bIns="0" anchor="t" anchorCtr="0">
            <a:noAutofit/>
          </a:bodyPr>
          <a:lstStyle/>
          <a:p>
            <a:pPr algn="l"/>
            <a:r>
              <a:rPr lang="en-US" sz="1400" dirty="0">
                <a:solidFill>
                  <a:srgbClr val="60757B"/>
                </a:solidFill>
                <a:latin typeface="Arial"/>
                <a:ea typeface="Arial"/>
                <a:cs typeface="Arial"/>
              </a:rPr>
              <a:t>Michael Galarnyk · Veer Kejriwal · Agam Shah et al.</a:t>
            </a:r>
          </a:p>
        </p:txBody>
      </p:sp>
      <p:sp>
        <p:nvSpPr>
          <p:cNvPr id="11" name="Text 9"/>
          <p:cNvSpPr/>
          <p:nvPr/>
        </p:nvSpPr>
        <p:spPr>
          <a:xfrm>
            <a:off x="1024128" y="5029200"/>
            <a:ext cx="9966960" cy="274320"/>
          </a:xfrm>
          <a:prstGeom prst="rect">
            <a:avLst/>
          </a:prstGeom>
          <a:noFill/>
          <a:ln/>
        </p:spPr>
        <p:txBody>
          <a:bodyPr wrap="square" lIns="0" tIns="0" rIns="0" bIns="0" rtlCol="0" anchor="ctr">
            <a:normAutofit/>
          </a:bodyPr>
          <a:lstStyle/>
          <a:p>
            <a:pPr marL="0" indent="0">
              <a:buNone/>
            </a:pPr>
            <a:r>
              <a:rPr lang="en-US" sz="1200" dirty="0">
                <a:solidFill>
                  <a:srgbClr val="60757B"/>
                </a:solidFill>
                <a:latin typeface="Microsoft YaHei" pitchFamily="34" charset="0"/>
                <a:ea typeface="Microsoft YaHei" pitchFamily="34" charset="-122"/>
                <a:cs typeface="Microsoft YaHei" pitchFamily="34" charset="-120"/>
              </a:rPr>
              <a:t>Georgia Institute of Technology · Stanford University</a:t>
            </a:r>
            <a:endParaRPr lang="en-US" sz="1200" dirty="0"/>
          </a:p>
        </p:txBody>
      </p:sp>
      <p:grpSp>
        <p:nvGrpSpPr>
          <p:cNvPr id="27" name="presenter-details"/>
          <p:cNvGrpSpPr/>
          <p:nvPr/>
        </p:nvGrpSpPr>
        <p:grpSpPr>
          <a:xfrm>
            <a:off x="1024128" y="5634364"/>
            <a:ext cx="3296095" cy="230832"/>
            <a:chOff x="4278630" y="5629275"/>
            <a:chExt cx="3296095" cy="230832"/>
          </a:xfrm>
        </p:grpSpPr>
        <p:sp>
          <p:nvSpPr>
            <p:cNvPr id="26" name="TextBox 26"/>
            <p:cNvSpPr txBox="1"/>
            <p:nvPr/>
          </p:nvSpPr>
          <p:spPr>
            <a:xfrm>
              <a:off x="4278630" y="5629275"/>
              <a:ext cx="3296095" cy="230832"/>
            </a:xfrm>
            <a:prstGeom prst="rect">
              <a:avLst/>
            </a:prstGeom>
            <a:noFill/>
            <a:ln>
              <a:noFill/>
            </a:ln>
          </p:spPr>
          <p:txBody>
            <a:bodyPr wrap="none" lIns="0" tIns="0" rIns="0" bIns="0" anchor="t" anchorCtr="0">
              <a:spAutoFit/>
            </a:bodyPr>
            <a:lstStyle/>
            <a:p>
              <a:r>
                <a:rPr lang="en-US" sz="1500" dirty="0">
                  <a:solidFill>
                    <a:srgbClr val="163D55"/>
                  </a:solidFill>
                  <a:latin typeface="Arial"/>
                  <a:ea typeface="Arial"/>
                  <a:cs typeface="Arial"/>
                </a:rPr>
                <a:t>Presenter: </a:t>
              </a:r>
              <a:r>
                <a:rPr lang="en-US" altLang="zh-CN" sz="1500" dirty="0">
                  <a:solidFill>
                    <a:srgbClr val="163D55"/>
                  </a:solidFill>
                  <a:latin typeface="Arial"/>
                  <a:ea typeface="Arial"/>
                  <a:cs typeface="Arial"/>
                </a:rPr>
                <a:t>26213050139</a:t>
              </a:r>
              <a:r>
                <a:rPr lang="en-US" sz="1500" dirty="0">
                  <a:solidFill>
                    <a:srgbClr val="163D55"/>
                  </a:solidFill>
                  <a:latin typeface="Arial"/>
                  <a:ea typeface="Arial"/>
                  <a:cs typeface="Arial"/>
                </a:rPr>
                <a:t> </a:t>
              </a:r>
              <a:r>
                <a:rPr lang="en-US" altLang="zh-CN" sz="1500" dirty="0" err="1">
                  <a:solidFill>
                    <a:srgbClr val="163D55"/>
                  </a:solidFill>
                  <a:latin typeface="Arial"/>
                  <a:ea typeface="Arial"/>
                  <a:cs typeface="Arial"/>
                </a:rPr>
                <a:t>Yufan</a:t>
              </a:r>
              <a:r>
                <a:rPr lang="en-US" altLang="zh-CN" sz="1500" dirty="0">
                  <a:solidFill>
                    <a:srgbClr val="163D55"/>
                  </a:solidFill>
                  <a:latin typeface="Arial"/>
                  <a:ea typeface="Arial"/>
                  <a:cs typeface="Arial"/>
                </a:rPr>
                <a:t> Deng </a:t>
              </a:r>
              <a:endParaRPr lang="en-US" sz="1500" dirty="0">
                <a:solidFill>
                  <a:srgbClr val="163D55"/>
                </a:solidFill>
                <a:latin typeface="Arial"/>
                <a:ea typeface="Arial"/>
                <a:cs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8"/>
        </a:solidFill>
        <a:effectLst/>
      </p:bgPr>
    </p:bg>
    <p:spTree>
      <p:nvGrpSpPr>
        <p:cNvPr id="1" name=""/>
        <p:cNvGrpSpPr/>
        <p:nvPr/>
      </p:nvGrpSpPr>
      <p:grpSpPr>
        <a:xfrm>
          <a:off x="0" y="0"/>
          <a:ext cx="0" cy="0"/>
          <a:chOff x="0" y="0"/>
          <a:chExt cx="0" cy="0"/>
        </a:xfrm>
      </p:grpSpPr>
      <p:sp>
        <p:nvSpPr>
          <p:cNvPr id="2" name="Text 0"/>
          <p:cNvSpPr/>
          <p:nvPr/>
        </p:nvSpPr>
        <p:spPr>
          <a:xfrm>
            <a:off x="594360" y="310896"/>
            <a:ext cx="6766560" cy="228600"/>
          </a:xfrm>
          <a:prstGeom prst="rect">
            <a:avLst/>
          </a:prstGeom>
          <a:noFill/>
          <a:ln>
            <a:noFill/>
          </a:ln>
        </p:spPr>
        <p:txBody>
          <a:bodyPr wrap="none" lIns="0" tIns="38100" rIns="0" bIns="0" anchor="t" anchorCtr="0">
            <a:noAutofit/>
          </a:bodyPr>
          <a:lstStyle/>
          <a:p>
            <a:pPr algn="l"/>
            <a:r>
              <a:rPr lang="en-US" sz="1000" b="1" spc="240" dirty="0">
                <a:solidFill>
                  <a:srgbClr val="087F83"/>
                </a:solidFill>
                <a:latin typeface="Arial"/>
                <a:ea typeface="Arial"/>
                <a:cs typeface="Arial"/>
              </a:rPr>
              <a:t>DATASET · FROM VIDEOS TO TRACEABLE SEGMENTS</a:t>
            </a:r>
          </a:p>
        </p:txBody>
      </p:sp>
      <p:sp>
        <p:nvSpPr>
          <p:cNvPr id="3" name="Text 1"/>
          <p:cNvSpPr/>
          <p:nvPr/>
        </p:nvSpPr>
        <p:spPr>
          <a:xfrm>
            <a:off x="10972800" y="283464"/>
            <a:ext cx="640080" cy="274320"/>
          </a:xfrm>
          <a:prstGeom prst="rect">
            <a:avLst/>
          </a:prstGeom>
          <a:noFill/>
          <a:ln/>
        </p:spPr>
        <p:txBody>
          <a:bodyPr wrap="square" lIns="0" tIns="0" rIns="0" bIns="0" rtlCol="0" anchor="ctr">
            <a:normAutofit/>
          </a:bodyPr>
          <a:lstStyle/>
          <a:p>
            <a:pPr marL="0" indent="0" algn="r">
              <a:buNone/>
            </a:pPr>
            <a:r>
              <a:rPr lang="en-US" sz="1100" b="1" dirty="0">
                <a:solidFill>
                  <a:srgbClr val="60757B"/>
                </a:solidFill>
                <a:latin typeface="Microsoft YaHei" pitchFamily="34" charset="0"/>
                <a:ea typeface="Microsoft YaHei" pitchFamily="34" charset="-122"/>
                <a:cs typeface="Microsoft YaHei" pitchFamily="34" charset="-120"/>
              </a:rPr>
              <a:t>02</a:t>
            </a:r>
            <a:endParaRPr lang="en-US" sz="1100" dirty="0"/>
          </a:p>
        </p:txBody>
      </p:sp>
      <p:sp>
        <p:nvSpPr>
          <p:cNvPr id="4" name="Shape 2"/>
          <p:cNvSpPr/>
          <p:nvPr/>
        </p:nvSpPr>
        <p:spPr>
          <a:xfrm>
            <a:off x="594360" y="6382512"/>
            <a:ext cx="11000232" cy="0"/>
          </a:xfrm>
          <a:prstGeom prst="line">
            <a:avLst/>
          </a:prstGeom>
          <a:noFill/>
          <a:ln w="10160">
            <a:solidFill>
              <a:srgbClr val="D7E4E6"/>
            </a:solidFill>
            <a:prstDash val="solid"/>
            <a:headEnd type="none"/>
            <a:tailEnd type="none"/>
          </a:ln>
        </p:spPr>
      </p:sp>
      <p:sp>
        <p:nvSpPr>
          <p:cNvPr id="5" name="Text 3"/>
          <p:cNvSpPr/>
          <p:nvPr/>
        </p:nvSpPr>
        <p:spPr>
          <a:xfrm>
            <a:off x="594360" y="6473952"/>
            <a:ext cx="9966960" cy="182880"/>
          </a:xfrm>
          <a:prstGeom prst="rect">
            <a:avLst/>
          </a:prstGeom>
          <a:noFill/>
          <a:ln>
            <a:noFill/>
          </a:ln>
        </p:spPr>
        <p:txBody>
          <a:bodyPr wrap="none" lIns="0" tIns="34290" rIns="0" bIns="0" anchor="t" anchorCtr="0">
            <a:noAutofit/>
          </a:bodyPr>
          <a:lstStyle/>
          <a:p>
            <a:pPr algn="l"/>
            <a:r>
              <a:rPr lang="en-US" sz="750" dirty="0">
                <a:solidFill>
                  <a:srgbClr val="60757B"/>
                </a:solidFill>
                <a:latin typeface="Arial"/>
                <a:ea typeface="Arial"/>
                <a:cs typeface="Arial"/>
              </a:rPr>
              <a:t>Source: p. 2, Table 2; pp. 3–4, Section 3, Figure 1. Table 2 reports 687 segments; an earlier passage reports 673.</a:t>
            </a:r>
          </a:p>
        </p:txBody>
      </p:sp>
      <p:sp>
        <p:nvSpPr>
          <p:cNvPr id="6" name="Text 4"/>
          <p:cNvSpPr/>
          <p:nvPr/>
        </p:nvSpPr>
        <p:spPr>
          <a:xfrm>
            <a:off x="594360" y="822960"/>
            <a:ext cx="7772400" cy="475488"/>
          </a:xfrm>
          <a:prstGeom prst="rect">
            <a:avLst/>
          </a:prstGeom>
          <a:noFill/>
          <a:ln>
            <a:noFill/>
          </a:ln>
        </p:spPr>
        <p:txBody>
          <a:bodyPr wrap="none" lIns="0" tIns="47244" rIns="0" bIns="0" anchor="t" anchorCtr="0">
            <a:noAutofit/>
          </a:bodyPr>
          <a:lstStyle/>
          <a:p>
            <a:pPr algn="l"/>
            <a:r>
              <a:rPr lang="en-US" sz="2500" b="1" dirty="0">
                <a:solidFill>
                  <a:srgbClr val="112B36"/>
                </a:solidFill>
                <a:latin typeface="Arial"/>
                <a:ea typeface="Arial"/>
                <a:cs typeface="Arial"/>
              </a:rPr>
              <a:t>Linking video understanding with fintech</a:t>
            </a:r>
          </a:p>
        </p:txBody>
      </p:sp>
      <p:sp>
        <p:nvSpPr>
          <p:cNvPr id="7" name="Shape 5"/>
          <p:cNvSpPr/>
          <p:nvPr/>
        </p:nvSpPr>
        <p:spPr>
          <a:xfrm>
            <a:off x="621792" y="1444752"/>
            <a:ext cx="1691640" cy="1353312"/>
          </a:xfrm>
          <a:prstGeom prst="roundRect">
            <a:avLst>
              <a:gd name="adj" fmla="val 5405"/>
            </a:avLst>
          </a:prstGeom>
          <a:solidFill>
            <a:srgbClr val="FFFFFF"/>
          </a:solidFill>
          <a:ln w="8890">
            <a:solidFill>
              <a:srgbClr val="D7E4E6"/>
            </a:solidFill>
            <a:prstDash val="solid"/>
          </a:ln>
        </p:spPr>
      </p:sp>
      <p:sp>
        <p:nvSpPr>
          <p:cNvPr id="8" name="Shape 6"/>
          <p:cNvSpPr/>
          <p:nvPr/>
        </p:nvSpPr>
        <p:spPr>
          <a:xfrm>
            <a:off x="621792" y="1444752"/>
            <a:ext cx="73152" cy="1353312"/>
          </a:xfrm>
          <a:prstGeom prst="rect">
            <a:avLst/>
          </a:prstGeom>
          <a:solidFill>
            <a:srgbClr val="087F83"/>
          </a:solidFill>
          <a:ln w="12700">
            <a:solidFill>
              <a:srgbClr val="087F83">
                <a:alpha val="0"/>
              </a:srgbClr>
            </a:solidFill>
            <a:prstDash val="solid"/>
          </a:ln>
        </p:spPr>
      </p:sp>
      <p:sp>
        <p:nvSpPr>
          <p:cNvPr id="9" name="Text 7"/>
          <p:cNvSpPr/>
          <p:nvPr/>
        </p:nvSpPr>
        <p:spPr>
          <a:xfrm>
            <a:off x="822960" y="1609344"/>
            <a:ext cx="1371600" cy="201168"/>
          </a:xfrm>
          <a:prstGeom prst="rect">
            <a:avLst/>
          </a:prstGeom>
          <a:noFill/>
          <a:ln>
            <a:noFill/>
          </a:ln>
        </p:spPr>
        <p:txBody>
          <a:bodyPr wrap="none" lIns="0" tIns="24384" rIns="0" bIns="0" anchor="t" anchorCtr="0">
            <a:noAutofit/>
          </a:bodyPr>
          <a:lstStyle/>
          <a:p>
            <a:pPr algn="l"/>
            <a:r>
              <a:rPr lang="en-US" sz="1000" b="1" dirty="0">
                <a:solidFill>
                  <a:srgbClr val="60757B"/>
                </a:solidFill>
                <a:latin typeface="Arial"/>
                <a:ea typeface="Arial"/>
                <a:cs typeface="Arial"/>
              </a:rPr>
              <a:t>Full videos</a:t>
            </a:r>
          </a:p>
        </p:txBody>
      </p:sp>
      <p:sp>
        <p:nvSpPr>
          <p:cNvPr id="10" name="Text 8"/>
          <p:cNvSpPr/>
          <p:nvPr/>
        </p:nvSpPr>
        <p:spPr>
          <a:xfrm>
            <a:off x="822960" y="1901952"/>
            <a:ext cx="1371600" cy="475488"/>
          </a:xfrm>
          <a:prstGeom prst="rect">
            <a:avLst/>
          </a:prstGeom>
          <a:noFill/>
          <a:ln/>
        </p:spPr>
        <p:txBody>
          <a:bodyPr wrap="square" lIns="0" tIns="0" rIns="0" bIns="0" rtlCol="0" anchor="ctr">
            <a:normAutofit/>
          </a:bodyPr>
          <a:lstStyle/>
          <a:p>
            <a:pPr marL="0" indent="0">
              <a:buNone/>
            </a:pPr>
            <a:r>
              <a:rPr lang="en-US" sz="2500" b="1" dirty="0">
                <a:solidFill>
                  <a:srgbClr val="087F83"/>
                </a:solidFill>
                <a:latin typeface="Microsoft YaHei" pitchFamily="34" charset="0"/>
                <a:ea typeface="Microsoft YaHei" pitchFamily="34" charset="-122"/>
                <a:cs typeface="Microsoft YaHei" pitchFamily="34" charset="-120"/>
              </a:rPr>
              <a:t>288</a:t>
            </a:r>
            <a:endParaRPr lang="en-US" sz="2500" dirty="0"/>
          </a:p>
        </p:txBody>
      </p:sp>
      <p:sp>
        <p:nvSpPr>
          <p:cNvPr id="11" name="Text 9"/>
          <p:cNvSpPr/>
          <p:nvPr/>
        </p:nvSpPr>
        <p:spPr>
          <a:xfrm>
            <a:off x="822960" y="2450592"/>
            <a:ext cx="1371600" cy="228600"/>
          </a:xfrm>
          <a:prstGeom prst="rect">
            <a:avLst/>
          </a:prstGeom>
          <a:noFill/>
          <a:ln>
            <a:noFill/>
          </a:ln>
        </p:spPr>
        <p:txBody>
          <a:bodyPr wrap="none" lIns="0" tIns="45720" rIns="0" bIns="0" anchor="t" anchorCtr="0">
            <a:noAutofit/>
          </a:bodyPr>
          <a:lstStyle/>
          <a:p>
            <a:pPr algn="l"/>
            <a:r>
              <a:rPr lang="en-US" sz="900" dirty="0">
                <a:solidFill>
                  <a:srgbClr val="60757B"/>
                </a:solidFill>
                <a:latin typeface="Arial"/>
                <a:ea typeface="Arial"/>
                <a:cs typeface="Arial"/>
              </a:rPr>
              <a:t>43 h · ~9 min on average</a:t>
            </a:r>
          </a:p>
        </p:txBody>
      </p:sp>
      <p:sp>
        <p:nvSpPr>
          <p:cNvPr id="12" name="Shape 10"/>
          <p:cNvSpPr/>
          <p:nvPr/>
        </p:nvSpPr>
        <p:spPr>
          <a:xfrm>
            <a:off x="2487168" y="1444752"/>
            <a:ext cx="1691640" cy="1353312"/>
          </a:xfrm>
          <a:prstGeom prst="roundRect">
            <a:avLst>
              <a:gd name="adj" fmla="val 5405"/>
            </a:avLst>
          </a:prstGeom>
          <a:solidFill>
            <a:srgbClr val="FFFFFF"/>
          </a:solidFill>
          <a:ln w="8890">
            <a:solidFill>
              <a:srgbClr val="D7E4E6"/>
            </a:solidFill>
            <a:prstDash val="solid"/>
          </a:ln>
        </p:spPr>
      </p:sp>
      <p:sp>
        <p:nvSpPr>
          <p:cNvPr id="13" name="Shape 11"/>
          <p:cNvSpPr/>
          <p:nvPr/>
        </p:nvSpPr>
        <p:spPr>
          <a:xfrm>
            <a:off x="2487168" y="1444752"/>
            <a:ext cx="73152" cy="1353312"/>
          </a:xfrm>
          <a:prstGeom prst="rect">
            <a:avLst/>
          </a:prstGeom>
          <a:solidFill>
            <a:srgbClr val="F26B5B"/>
          </a:solidFill>
          <a:ln w="12700">
            <a:solidFill>
              <a:srgbClr val="F26B5B">
                <a:alpha val="0"/>
              </a:srgbClr>
            </a:solidFill>
            <a:prstDash val="solid"/>
          </a:ln>
        </p:spPr>
      </p:sp>
      <p:sp>
        <p:nvSpPr>
          <p:cNvPr id="14" name="Text 12"/>
          <p:cNvSpPr/>
          <p:nvPr/>
        </p:nvSpPr>
        <p:spPr>
          <a:xfrm>
            <a:off x="2688336" y="1609344"/>
            <a:ext cx="1371600" cy="201168"/>
          </a:xfrm>
          <a:prstGeom prst="rect">
            <a:avLst/>
          </a:prstGeom>
          <a:noFill/>
          <a:ln>
            <a:noFill/>
          </a:ln>
        </p:spPr>
        <p:txBody>
          <a:bodyPr wrap="none" lIns="0" tIns="24384" rIns="0" bIns="0" anchor="t" anchorCtr="0">
            <a:noAutofit/>
          </a:bodyPr>
          <a:lstStyle/>
          <a:p>
            <a:pPr algn="l"/>
            <a:r>
              <a:rPr lang="en-US" sz="1000" b="1" dirty="0">
                <a:solidFill>
                  <a:srgbClr val="60757B"/>
                </a:solidFill>
                <a:latin typeface="Arial"/>
                <a:ea typeface="Arial"/>
                <a:cs typeface="Arial"/>
              </a:rPr>
              <a:t>Advice segments</a:t>
            </a:r>
          </a:p>
        </p:txBody>
      </p:sp>
      <p:sp>
        <p:nvSpPr>
          <p:cNvPr id="15" name="Text 13"/>
          <p:cNvSpPr/>
          <p:nvPr/>
        </p:nvSpPr>
        <p:spPr>
          <a:xfrm>
            <a:off x="2688336" y="1901952"/>
            <a:ext cx="1371600" cy="475488"/>
          </a:xfrm>
          <a:prstGeom prst="rect">
            <a:avLst/>
          </a:prstGeom>
          <a:noFill/>
          <a:ln/>
        </p:spPr>
        <p:txBody>
          <a:bodyPr wrap="square" lIns="0" tIns="0" rIns="0" bIns="0" rtlCol="0" anchor="ctr">
            <a:normAutofit/>
          </a:bodyPr>
          <a:lstStyle/>
          <a:p>
            <a:pPr marL="0" indent="0">
              <a:buNone/>
            </a:pPr>
            <a:r>
              <a:rPr lang="en-US" sz="2500" b="1" dirty="0">
                <a:solidFill>
                  <a:srgbClr val="F26B5B"/>
                </a:solidFill>
                <a:latin typeface="Microsoft YaHei" pitchFamily="34" charset="0"/>
                <a:ea typeface="Microsoft YaHei" pitchFamily="34" charset="-122"/>
                <a:cs typeface="Microsoft YaHei" pitchFamily="34" charset="-120"/>
              </a:rPr>
              <a:t>687</a:t>
            </a:r>
            <a:endParaRPr lang="en-US" sz="2500" dirty="0"/>
          </a:p>
        </p:txBody>
      </p:sp>
      <p:sp>
        <p:nvSpPr>
          <p:cNvPr id="16" name="Text 14"/>
          <p:cNvSpPr/>
          <p:nvPr/>
        </p:nvSpPr>
        <p:spPr>
          <a:xfrm>
            <a:off x="2688336" y="2450592"/>
            <a:ext cx="1371600" cy="228600"/>
          </a:xfrm>
          <a:prstGeom prst="rect">
            <a:avLst/>
          </a:prstGeom>
          <a:noFill/>
          <a:ln>
            <a:noFill/>
          </a:ln>
        </p:spPr>
        <p:txBody>
          <a:bodyPr wrap="none" lIns="0" tIns="45720" rIns="0" bIns="0" anchor="t" anchorCtr="0">
            <a:noAutofit/>
          </a:bodyPr>
          <a:lstStyle/>
          <a:p>
            <a:pPr algn="l"/>
            <a:r>
              <a:rPr lang="en-US" sz="900" dirty="0">
                <a:solidFill>
                  <a:srgbClr val="60757B"/>
                </a:solidFill>
                <a:latin typeface="Arial"/>
                <a:ea typeface="Arial"/>
                <a:cs typeface="Arial"/>
              </a:rPr>
              <a:t>Expert-localized intervals</a:t>
            </a:r>
          </a:p>
        </p:txBody>
      </p:sp>
      <p:sp>
        <p:nvSpPr>
          <p:cNvPr id="17" name="Shape 15"/>
          <p:cNvSpPr/>
          <p:nvPr/>
        </p:nvSpPr>
        <p:spPr>
          <a:xfrm>
            <a:off x="4352544" y="1444752"/>
            <a:ext cx="1691640" cy="1353312"/>
          </a:xfrm>
          <a:prstGeom prst="roundRect">
            <a:avLst>
              <a:gd name="adj" fmla="val 5405"/>
            </a:avLst>
          </a:prstGeom>
          <a:solidFill>
            <a:srgbClr val="FFFFFF"/>
          </a:solidFill>
          <a:ln w="8890">
            <a:solidFill>
              <a:srgbClr val="D7E4E6"/>
            </a:solidFill>
            <a:prstDash val="solid"/>
          </a:ln>
        </p:spPr>
      </p:sp>
      <p:sp>
        <p:nvSpPr>
          <p:cNvPr id="18" name="Shape 16"/>
          <p:cNvSpPr/>
          <p:nvPr/>
        </p:nvSpPr>
        <p:spPr>
          <a:xfrm>
            <a:off x="4352544" y="1444752"/>
            <a:ext cx="73152" cy="1353312"/>
          </a:xfrm>
          <a:prstGeom prst="rect">
            <a:avLst/>
          </a:prstGeom>
          <a:solidFill>
            <a:srgbClr val="F5A65B"/>
          </a:solidFill>
          <a:ln w="12700">
            <a:solidFill>
              <a:srgbClr val="F5A65B">
                <a:alpha val="0"/>
              </a:srgbClr>
            </a:solidFill>
            <a:prstDash val="solid"/>
          </a:ln>
        </p:spPr>
      </p:sp>
      <p:sp>
        <p:nvSpPr>
          <p:cNvPr id="19" name="Text 17"/>
          <p:cNvSpPr/>
          <p:nvPr/>
        </p:nvSpPr>
        <p:spPr>
          <a:xfrm>
            <a:off x="4553712" y="1609344"/>
            <a:ext cx="1371600" cy="201168"/>
          </a:xfrm>
          <a:prstGeom prst="rect">
            <a:avLst/>
          </a:prstGeom>
          <a:noFill/>
          <a:ln>
            <a:noFill/>
          </a:ln>
        </p:spPr>
        <p:txBody>
          <a:bodyPr wrap="none" lIns="0" tIns="24384" rIns="0" bIns="0" anchor="t" anchorCtr="0">
            <a:noAutofit/>
          </a:bodyPr>
          <a:lstStyle/>
          <a:p>
            <a:pPr algn="l"/>
            <a:r>
              <a:rPr lang="en-US" sz="1000" b="1" dirty="0">
                <a:solidFill>
                  <a:srgbClr val="60757B"/>
                </a:solidFill>
                <a:latin typeface="Arial"/>
                <a:ea typeface="Arial"/>
                <a:cs typeface="Arial"/>
              </a:rPr>
              <a:t>Annotations</a:t>
            </a:r>
          </a:p>
        </p:txBody>
      </p:sp>
      <p:sp>
        <p:nvSpPr>
          <p:cNvPr id="20" name="Text 18"/>
          <p:cNvSpPr/>
          <p:nvPr/>
        </p:nvSpPr>
        <p:spPr>
          <a:xfrm>
            <a:off x="4553712" y="1901952"/>
            <a:ext cx="1371600" cy="475488"/>
          </a:xfrm>
          <a:prstGeom prst="rect">
            <a:avLst/>
          </a:prstGeom>
          <a:noFill/>
          <a:ln/>
        </p:spPr>
        <p:txBody>
          <a:bodyPr wrap="square" lIns="0" tIns="0" rIns="0" bIns="0" rtlCol="0" anchor="ctr">
            <a:normAutofit/>
          </a:bodyPr>
          <a:lstStyle/>
          <a:p>
            <a:pPr marL="0" indent="0">
              <a:buNone/>
            </a:pPr>
            <a:r>
              <a:rPr lang="en-US" sz="2500" b="1" dirty="0">
                <a:solidFill>
                  <a:srgbClr val="F5A65B"/>
                </a:solidFill>
                <a:latin typeface="Microsoft YaHei" pitchFamily="34" charset="0"/>
                <a:ea typeface="Microsoft YaHei" pitchFamily="34" charset="-122"/>
                <a:cs typeface="Microsoft YaHei" pitchFamily="34" charset="-120"/>
              </a:rPr>
              <a:t>6,063</a:t>
            </a:r>
            <a:endParaRPr lang="en-US" sz="2500" dirty="0"/>
          </a:p>
        </p:txBody>
      </p:sp>
      <p:sp>
        <p:nvSpPr>
          <p:cNvPr id="21" name="Text 19"/>
          <p:cNvSpPr/>
          <p:nvPr/>
        </p:nvSpPr>
        <p:spPr>
          <a:xfrm>
            <a:off x="4553712" y="2450592"/>
            <a:ext cx="1371600" cy="228600"/>
          </a:xfrm>
          <a:prstGeom prst="rect">
            <a:avLst/>
          </a:prstGeom>
          <a:noFill/>
          <a:ln>
            <a:noFill/>
          </a:ln>
        </p:spPr>
        <p:txBody>
          <a:bodyPr wrap="none" lIns="0" tIns="45720" rIns="0" bIns="0" anchor="t" anchorCtr="0">
            <a:noAutofit/>
          </a:bodyPr>
          <a:lstStyle/>
          <a:p>
            <a:pPr algn="l"/>
            <a:r>
              <a:rPr lang="en-US" sz="900" dirty="0">
                <a:solidFill>
                  <a:srgbClr val="60757B"/>
                </a:solidFill>
                <a:latin typeface="Arial"/>
                <a:ea typeface="Arial"/>
                <a:cs typeface="Arial"/>
              </a:rPr>
              <a:t>5 experts · 457 h of work</a:t>
            </a:r>
          </a:p>
        </p:txBody>
      </p:sp>
      <p:sp>
        <p:nvSpPr>
          <p:cNvPr id="22" name="Shape 20"/>
          <p:cNvSpPr/>
          <p:nvPr/>
        </p:nvSpPr>
        <p:spPr>
          <a:xfrm>
            <a:off x="6217920" y="1444752"/>
            <a:ext cx="1691640" cy="1353312"/>
          </a:xfrm>
          <a:prstGeom prst="roundRect">
            <a:avLst>
              <a:gd name="adj" fmla="val 5405"/>
            </a:avLst>
          </a:prstGeom>
          <a:solidFill>
            <a:srgbClr val="FFFFFF"/>
          </a:solidFill>
          <a:ln w="8890">
            <a:solidFill>
              <a:srgbClr val="D7E4E6"/>
            </a:solidFill>
            <a:prstDash val="solid"/>
          </a:ln>
        </p:spPr>
      </p:sp>
      <p:sp>
        <p:nvSpPr>
          <p:cNvPr id="23" name="Shape 21"/>
          <p:cNvSpPr/>
          <p:nvPr/>
        </p:nvSpPr>
        <p:spPr>
          <a:xfrm>
            <a:off x="6217920" y="1444752"/>
            <a:ext cx="73152" cy="1353312"/>
          </a:xfrm>
          <a:prstGeom prst="rect">
            <a:avLst/>
          </a:prstGeom>
          <a:solidFill>
            <a:srgbClr val="163D55"/>
          </a:solidFill>
          <a:ln w="12700">
            <a:solidFill>
              <a:srgbClr val="163D55">
                <a:alpha val="0"/>
              </a:srgbClr>
            </a:solidFill>
            <a:prstDash val="solid"/>
          </a:ln>
        </p:spPr>
      </p:sp>
      <p:sp>
        <p:nvSpPr>
          <p:cNvPr id="24" name="Text 22"/>
          <p:cNvSpPr/>
          <p:nvPr/>
        </p:nvSpPr>
        <p:spPr>
          <a:xfrm>
            <a:off x="6419088" y="1609344"/>
            <a:ext cx="1371600" cy="201168"/>
          </a:xfrm>
          <a:prstGeom prst="rect">
            <a:avLst/>
          </a:prstGeom>
          <a:noFill/>
          <a:ln>
            <a:noFill/>
          </a:ln>
        </p:spPr>
        <p:txBody>
          <a:bodyPr wrap="none" lIns="0" tIns="24384" rIns="0" bIns="0" anchor="t" anchorCtr="0">
            <a:noAutofit/>
          </a:bodyPr>
          <a:lstStyle/>
          <a:p>
            <a:pPr algn="l"/>
            <a:r>
              <a:rPr lang="en-US" sz="1000" b="1" dirty="0">
                <a:solidFill>
                  <a:srgbClr val="60757B"/>
                </a:solidFill>
                <a:latin typeface="Arial"/>
                <a:ea typeface="Arial"/>
                <a:cs typeface="Arial"/>
              </a:rPr>
              <a:t>YouTube channels</a:t>
            </a:r>
          </a:p>
        </p:txBody>
      </p:sp>
      <p:sp>
        <p:nvSpPr>
          <p:cNvPr id="25" name="Text 23"/>
          <p:cNvSpPr/>
          <p:nvPr/>
        </p:nvSpPr>
        <p:spPr>
          <a:xfrm>
            <a:off x="6419088" y="1901952"/>
            <a:ext cx="1371600" cy="475488"/>
          </a:xfrm>
          <a:prstGeom prst="rect">
            <a:avLst/>
          </a:prstGeom>
          <a:noFill/>
          <a:ln/>
        </p:spPr>
        <p:txBody>
          <a:bodyPr wrap="square" lIns="0" tIns="0" rIns="0" bIns="0" rtlCol="0" anchor="ctr">
            <a:normAutofit/>
          </a:bodyPr>
          <a:lstStyle/>
          <a:p>
            <a:pPr marL="0" indent="0">
              <a:buNone/>
            </a:pPr>
            <a:r>
              <a:rPr lang="en-US" sz="2500" b="1" dirty="0">
                <a:solidFill>
                  <a:srgbClr val="163D55"/>
                </a:solidFill>
                <a:latin typeface="Microsoft YaHei" pitchFamily="34" charset="0"/>
                <a:ea typeface="Microsoft YaHei" pitchFamily="34" charset="-122"/>
                <a:cs typeface="Microsoft YaHei" pitchFamily="34" charset="-120"/>
              </a:rPr>
              <a:t>22</a:t>
            </a:r>
            <a:endParaRPr lang="en-US" sz="2500" dirty="0"/>
          </a:p>
        </p:txBody>
      </p:sp>
      <p:sp>
        <p:nvSpPr>
          <p:cNvPr id="26" name="Text 24"/>
          <p:cNvSpPr/>
          <p:nvPr/>
        </p:nvSpPr>
        <p:spPr>
          <a:xfrm>
            <a:off x="6419088" y="2450592"/>
            <a:ext cx="1371600" cy="228600"/>
          </a:xfrm>
          <a:prstGeom prst="rect">
            <a:avLst/>
          </a:prstGeom>
          <a:noFill/>
          <a:ln>
            <a:noFill/>
          </a:ln>
        </p:spPr>
        <p:txBody>
          <a:bodyPr wrap="none" lIns="0" tIns="45720" rIns="0" bIns="0" anchor="t" anchorCtr="0">
            <a:noAutofit/>
          </a:bodyPr>
          <a:lstStyle/>
          <a:p>
            <a:pPr algn="l"/>
            <a:r>
              <a:rPr lang="en-US" sz="900" dirty="0">
                <a:solidFill>
                  <a:srgbClr val="60757B"/>
                </a:solidFill>
                <a:latin typeface="Arial"/>
                <a:ea typeface="Arial"/>
                <a:cs typeface="Arial"/>
              </a:rPr>
              <a:t>Finance creators</a:t>
            </a:r>
          </a:p>
        </p:txBody>
      </p:sp>
      <p:pic>
        <p:nvPicPr>
          <p:cNvPr id="27" name="Image 0" descr="C:\Users\Lenovo\Documents\Codex\2026-10-18\new-chat-2\work\videoconviction\sources\figures\figure-1-dataset-pipeline.png"/>
          <p:cNvPicPr>
            <a:picLocks noChangeAspect="1"/>
          </p:cNvPicPr>
          <p:nvPr/>
        </p:nvPicPr>
        <p:blipFill>
          <a:blip r:embed="rId3"/>
          <a:stretch>
            <a:fillRect/>
          </a:stretch>
        </p:blipFill>
        <p:spPr>
          <a:xfrm>
            <a:off x="658368" y="3127248"/>
            <a:ext cx="9124459" cy="281635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8"/>
        </a:solidFill>
        <a:effectLst/>
      </p:bgPr>
    </p:bg>
    <p:spTree>
      <p:nvGrpSpPr>
        <p:cNvPr id="1" name=""/>
        <p:cNvGrpSpPr/>
        <p:nvPr/>
      </p:nvGrpSpPr>
      <p:grpSpPr>
        <a:xfrm>
          <a:off x="0" y="0"/>
          <a:ext cx="0" cy="0"/>
          <a:chOff x="0" y="0"/>
          <a:chExt cx="0" cy="0"/>
        </a:xfrm>
      </p:grpSpPr>
      <p:sp>
        <p:nvSpPr>
          <p:cNvPr id="2" name="Text 0"/>
          <p:cNvSpPr/>
          <p:nvPr/>
        </p:nvSpPr>
        <p:spPr>
          <a:xfrm>
            <a:off x="594360" y="310896"/>
            <a:ext cx="6766560" cy="228600"/>
          </a:xfrm>
          <a:prstGeom prst="rect">
            <a:avLst/>
          </a:prstGeom>
          <a:noFill/>
          <a:ln>
            <a:noFill/>
          </a:ln>
        </p:spPr>
        <p:txBody>
          <a:bodyPr wrap="none" lIns="0" tIns="38100" rIns="0" bIns="0" anchor="t" anchorCtr="0">
            <a:noAutofit/>
          </a:bodyPr>
          <a:lstStyle/>
          <a:p>
            <a:pPr algn="l"/>
            <a:r>
              <a:rPr lang="en-US" sz="1000" b="1" spc="240" dirty="0">
                <a:solidFill>
                  <a:srgbClr val="087F83"/>
                </a:solidFill>
                <a:latin typeface="Arial"/>
                <a:ea typeface="Arial"/>
                <a:cs typeface="Arial"/>
              </a:rPr>
              <a:t>TASKS · RECOMMENDATIONS AND CONVICTION</a:t>
            </a:r>
          </a:p>
        </p:txBody>
      </p:sp>
      <p:sp>
        <p:nvSpPr>
          <p:cNvPr id="3" name="Text 1"/>
          <p:cNvSpPr/>
          <p:nvPr/>
        </p:nvSpPr>
        <p:spPr>
          <a:xfrm>
            <a:off x="10972800" y="283464"/>
            <a:ext cx="640080" cy="274320"/>
          </a:xfrm>
          <a:prstGeom prst="rect">
            <a:avLst/>
          </a:prstGeom>
          <a:noFill/>
          <a:ln/>
        </p:spPr>
        <p:txBody>
          <a:bodyPr wrap="square" lIns="0" tIns="0" rIns="0" bIns="0" rtlCol="0" anchor="ctr">
            <a:normAutofit/>
          </a:bodyPr>
          <a:lstStyle/>
          <a:p>
            <a:pPr marL="0" indent="0" algn="r">
              <a:buNone/>
            </a:pPr>
            <a:r>
              <a:rPr lang="en-US" sz="1100" b="1" dirty="0">
                <a:solidFill>
                  <a:srgbClr val="60757B"/>
                </a:solidFill>
                <a:latin typeface="Microsoft YaHei" pitchFamily="34" charset="0"/>
                <a:ea typeface="Microsoft YaHei" pitchFamily="34" charset="-122"/>
                <a:cs typeface="Microsoft YaHei" pitchFamily="34" charset="-120"/>
              </a:rPr>
              <a:t>03</a:t>
            </a:r>
            <a:endParaRPr lang="en-US" sz="1100" dirty="0"/>
          </a:p>
        </p:txBody>
      </p:sp>
      <p:sp>
        <p:nvSpPr>
          <p:cNvPr id="4" name="Shape 2"/>
          <p:cNvSpPr/>
          <p:nvPr/>
        </p:nvSpPr>
        <p:spPr>
          <a:xfrm>
            <a:off x="594360" y="6382512"/>
            <a:ext cx="11000232" cy="0"/>
          </a:xfrm>
          <a:prstGeom prst="line">
            <a:avLst/>
          </a:prstGeom>
          <a:noFill/>
          <a:ln w="10160">
            <a:solidFill>
              <a:srgbClr val="D7E4E6"/>
            </a:solidFill>
            <a:prstDash val="solid"/>
            <a:headEnd type="none"/>
            <a:tailEnd type="none"/>
          </a:ln>
        </p:spPr>
      </p:sp>
      <p:sp>
        <p:nvSpPr>
          <p:cNvPr id="5" name="Text 3"/>
          <p:cNvSpPr/>
          <p:nvPr/>
        </p:nvSpPr>
        <p:spPr>
          <a:xfrm>
            <a:off x="594360" y="6473952"/>
            <a:ext cx="9966960" cy="182880"/>
          </a:xfrm>
          <a:prstGeom prst="rect">
            <a:avLst/>
          </a:prstGeom>
          <a:noFill/>
          <a:ln>
            <a:noFill/>
          </a:ln>
        </p:spPr>
        <p:txBody>
          <a:bodyPr wrap="none" lIns="0" tIns="34290" rIns="0" bIns="0" anchor="t" anchorCtr="0">
            <a:noAutofit/>
          </a:bodyPr>
          <a:lstStyle/>
          <a:p>
            <a:pPr algn="l"/>
            <a:r>
              <a:rPr lang="en-US" sz="750" dirty="0">
                <a:solidFill>
                  <a:srgbClr val="60757B"/>
                </a:solidFill>
                <a:latin typeface="Arial"/>
                <a:ea typeface="Arial"/>
                <a:cs typeface="Arial"/>
              </a:rPr>
              <a:t>Source: p. 4, Table 4; p. 6, Section 4.2; p. 11, Table 8. AAPL · Buy · 3 is an illustrative task example.</a:t>
            </a:r>
          </a:p>
        </p:txBody>
      </p:sp>
      <p:sp>
        <p:nvSpPr>
          <p:cNvPr id="6" name="Text 4"/>
          <p:cNvSpPr/>
          <p:nvPr/>
        </p:nvSpPr>
        <p:spPr>
          <a:xfrm>
            <a:off x="594360" y="822960"/>
            <a:ext cx="8778240" cy="475488"/>
          </a:xfrm>
          <a:prstGeom prst="rect">
            <a:avLst/>
          </a:prstGeom>
          <a:noFill/>
          <a:ln>
            <a:noFill/>
          </a:ln>
        </p:spPr>
        <p:txBody>
          <a:bodyPr wrap="none" lIns="0" tIns="47244" rIns="0" bIns="0" anchor="t" anchorCtr="0">
            <a:noAutofit/>
          </a:bodyPr>
          <a:lstStyle/>
          <a:p>
            <a:pPr algn="l"/>
            <a:r>
              <a:rPr lang="en-US" sz="2500" b="1" dirty="0">
                <a:solidFill>
                  <a:srgbClr val="112B36"/>
                </a:solidFill>
                <a:latin typeface="Arial"/>
                <a:ea typeface="Arial"/>
                <a:cs typeface="Arial"/>
              </a:rPr>
              <a:t>From stock tickers to actions to conviction</a:t>
            </a:r>
          </a:p>
        </p:txBody>
      </p:sp>
      <p:sp>
        <p:nvSpPr>
          <p:cNvPr id="7" name="Shape 5"/>
          <p:cNvSpPr/>
          <p:nvPr/>
        </p:nvSpPr>
        <p:spPr>
          <a:xfrm>
            <a:off x="658368" y="1554480"/>
            <a:ext cx="3364992" cy="2331720"/>
          </a:xfrm>
          <a:prstGeom prst="roundRect">
            <a:avLst>
              <a:gd name="adj" fmla="val 3137"/>
            </a:avLst>
          </a:prstGeom>
          <a:solidFill>
            <a:srgbClr val="FFFFFF"/>
          </a:solidFill>
          <a:ln w="12700">
            <a:solidFill>
              <a:srgbClr val="D7E4E6"/>
            </a:solidFill>
            <a:prstDash val="solid"/>
          </a:ln>
        </p:spPr>
      </p:sp>
      <p:sp>
        <p:nvSpPr>
          <p:cNvPr id="8" name="Text 6"/>
          <p:cNvSpPr/>
          <p:nvPr/>
        </p:nvSpPr>
        <p:spPr>
          <a:xfrm>
            <a:off x="896112" y="1783080"/>
            <a:ext cx="1005840" cy="420624"/>
          </a:xfrm>
          <a:prstGeom prst="rect">
            <a:avLst/>
          </a:prstGeom>
          <a:noFill/>
          <a:ln/>
        </p:spPr>
        <p:txBody>
          <a:bodyPr wrap="square" lIns="0" tIns="0" rIns="0" bIns="0" rtlCol="0" anchor="ctr">
            <a:normAutofit/>
          </a:bodyPr>
          <a:lstStyle/>
          <a:p>
            <a:pPr marL="0" indent="0">
              <a:buNone/>
            </a:pPr>
            <a:r>
              <a:rPr lang="en-US" sz="2500" b="1" dirty="0">
                <a:solidFill>
                  <a:srgbClr val="087F83"/>
                </a:solidFill>
                <a:latin typeface="Microsoft YaHei" pitchFamily="34" charset="0"/>
                <a:ea typeface="Microsoft YaHei" pitchFamily="34" charset="-122"/>
                <a:cs typeface="Microsoft YaHei" pitchFamily="34" charset="-120"/>
              </a:rPr>
              <a:t>T</a:t>
            </a:r>
            <a:endParaRPr lang="en-US" sz="2500" dirty="0"/>
          </a:p>
        </p:txBody>
      </p:sp>
      <p:sp>
        <p:nvSpPr>
          <p:cNvPr id="9" name="Text 7"/>
          <p:cNvSpPr/>
          <p:nvPr/>
        </p:nvSpPr>
        <p:spPr>
          <a:xfrm>
            <a:off x="896112" y="2331720"/>
            <a:ext cx="2889504" cy="274320"/>
          </a:xfrm>
          <a:prstGeom prst="rect">
            <a:avLst/>
          </a:prstGeom>
          <a:noFill/>
          <a:ln/>
        </p:spPr>
        <p:txBody>
          <a:bodyPr wrap="square" lIns="0" tIns="0" rIns="0" bIns="0" rtlCol="0" anchor="ctr">
            <a:normAutofit/>
          </a:bodyPr>
          <a:lstStyle/>
          <a:p>
            <a:pPr marL="0" indent="0">
              <a:buNone/>
            </a:pPr>
            <a:r>
              <a:rPr lang="en-US" sz="1100" b="1" dirty="0">
                <a:solidFill>
                  <a:srgbClr val="60757B"/>
                </a:solidFill>
                <a:latin typeface="Microsoft YaHei" pitchFamily="34" charset="0"/>
                <a:ea typeface="Microsoft YaHei" pitchFamily="34" charset="-122"/>
                <a:cs typeface="Microsoft YaHei" pitchFamily="34" charset="-120"/>
              </a:rPr>
              <a:t>Ticker</a:t>
            </a:r>
            <a:endParaRPr lang="en-US" sz="1100" dirty="0"/>
          </a:p>
        </p:txBody>
      </p:sp>
      <p:sp>
        <p:nvSpPr>
          <p:cNvPr id="10" name="Text 8"/>
          <p:cNvSpPr/>
          <p:nvPr/>
        </p:nvSpPr>
        <p:spPr>
          <a:xfrm>
            <a:off x="896112" y="2779776"/>
            <a:ext cx="2889504" cy="329184"/>
          </a:xfrm>
          <a:prstGeom prst="rect">
            <a:avLst/>
          </a:prstGeom>
          <a:noFill/>
          <a:ln>
            <a:noFill/>
          </a:ln>
        </p:spPr>
        <p:txBody>
          <a:bodyPr wrap="none" lIns="0" tIns="45212" rIns="0" bIns="0" anchor="t" anchorCtr="0">
            <a:noAutofit/>
          </a:bodyPr>
          <a:lstStyle/>
          <a:p>
            <a:pPr algn="l"/>
            <a:r>
              <a:rPr lang="en-US" sz="1400" dirty="0">
                <a:solidFill>
                  <a:srgbClr val="112B36"/>
                </a:solidFill>
                <a:latin typeface="Arial"/>
                <a:ea typeface="Arial"/>
                <a:cs typeface="Arial"/>
              </a:rPr>
              <a:t>Identify stock tickers</a:t>
            </a:r>
          </a:p>
        </p:txBody>
      </p:sp>
      <p:sp>
        <p:nvSpPr>
          <p:cNvPr id="11" name="Shape 9"/>
          <p:cNvSpPr/>
          <p:nvPr/>
        </p:nvSpPr>
        <p:spPr>
          <a:xfrm>
            <a:off x="896112" y="3310128"/>
            <a:ext cx="2889504" cy="347472"/>
          </a:xfrm>
          <a:prstGeom prst="roundRect">
            <a:avLst>
              <a:gd name="adj" fmla="val 31579"/>
            </a:avLst>
          </a:prstGeom>
          <a:solidFill>
            <a:srgbClr val="E5F4F2"/>
          </a:solidFill>
          <a:ln w="12700">
            <a:solidFill>
              <a:srgbClr val="E5F4F2">
                <a:alpha val="0"/>
              </a:srgbClr>
            </a:solidFill>
            <a:prstDash val="solid"/>
          </a:ln>
        </p:spPr>
      </p:sp>
      <p:sp>
        <p:nvSpPr>
          <p:cNvPr id="12" name="Text 10"/>
          <p:cNvSpPr/>
          <p:nvPr/>
        </p:nvSpPr>
        <p:spPr>
          <a:xfrm>
            <a:off x="896112" y="3355848"/>
            <a:ext cx="2889504" cy="201168"/>
          </a:xfrm>
          <a:prstGeom prst="rect">
            <a:avLst/>
          </a:prstGeom>
          <a:noFill/>
          <a:ln/>
        </p:spPr>
        <p:txBody>
          <a:bodyPr wrap="square" lIns="0" tIns="0" rIns="0" bIns="0" rtlCol="0" anchor="ctr">
            <a:normAutofit/>
          </a:bodyPr>
          <a:lstStyle/>
          <a:p>
            <a:pPr marL="0" indent="0" algn="ctr">
              <a:buNone/>
            </a:pPr>
            <a:r>
              <a:rPr lang="en-US" sz="1000" b="1" dirty="0">
                <a:solidFill>
                  <a:srgbClr val="087F83"/>
                </a:solidFill>
                <a:latin typeface="Microsoft YaHei" pitchFamily="34" charset="0"/>
                <a:ea typeface="Microsoft YaHei" pitchFamily="34" charset="-122"/>
                <a:cs typeface="Microsoft YaHei" pitchFamily="34" charset="-120"/>
              </a:rPr>
              <a:t>AAPL</a:t>
            </a:r>
            <a:endParaRPr lang="en-US" sz="1000" dirty="0"/>
          </a:p>
        </p:txBody>
      </p:sp>
      <p:sp>
        <p:nvSpPr>
          <p:cNvPr id="13" name="Shape 11"/>
          <p:cNvSpPr/>
          <p:nvPr/>
        </p:nvSpPr>
        <p:spPr>
          <a:xfrm>
            <a:off x="4105656" y="2496312"/>
            <a:ext cx="219456" cy="329184"/>
          </a:xfrm>
          <a:prstGeom prst="chevron">
            <a:avLst/>
          </a:prstGeom>
          <a:solidFill>
            <a:srgbClr val="D7E4E6"/>
          </a:solidFill>
          <a:ln w="12700">
            <a:solidFill>
              <a:srgbClr val="D7E4E6">
                <a:alpha val="0"/>
              </a:srgbClr>
            </a:solidFill>
            <a:prstDash val="solid"/>
          </a:ln>
        </p:spPr>
      </p:sp>
      <p:sp>
        <p:nvSpPr>
          <p:cNvPr id="14" name="Shape 12"/>
          <p:cNvSpPr/>
          <p:nvPr/>
        </p:nvSpPr>
        <p:spPr>
          <a:xfrm>
            <a:off x="4407408" y="1554480"/>
            <a:ext cx="3364992" cy="2331720"/>
          </a:xfrm>
          <a:prstGeom prst="roundRect">
            <a:avLst>
              <a:gd name="adj" fmla="val 3137"/>
            </a:avLst>
          </a:prstGeom>
          <a:solidFill>
            <a:srgbClr val="FFFFFF"/>
          </a:solidFill>
          <a:ln w="12700">
            <a:solidFill>
              <a:srgbClr val="D7E4E6"/>
            </a:solidFill>
            <a:prstDash val="solid"/>
          </a:ln>
        </p:spPr>
      </p:sp>
      <p:sp>
        <p:nvSpPr>
          <p:cNvPr id="15" name="Text 13"/>
          <p:cNvSpPr/>
          <p:nvPr/>
        </p:nvSpPr>
        <p:spPr>
          <a:xfrm>
            <a:off x="4645152" y="1783080"/>
            <a:ext cx="1005840" cy="420624"/>
          </a:xfrm>
          <a:prstGeom prst="rect">
            <a:avLst/>
          </a:prstGeom>
          <a:noFill/>
          <a:ln/>
        </p:spPr>
        <p:txBody>
          <a:bodyPr wrap="square" lIns="0" tIns="0" rIns="0" bIns="0" rtlCol="0" anchor="ctr">
            <a:normAutofit/>
          </a:bodyPr>
          <a:lstStyle/>
          <a:p>
            <a:pPr marL="0" indent="0">
              <a:buNone/>
            </a:pPr>
            <a:r>
              <a:rPr lang="en-US" sz="2500" b="1" dirty="0">
                <a:solidFill>
                  <a:srgbClr val="F5A65B"/>
                </a:solidFill>
                <a:latin typeface="Microsoft YaHei" pitchFamily="34" charset="0"/>
                <a:ea typeface="Microsoft YaHei" pitchFamily="34" charset="-122"/>
                <a:cs typeface="Microsoft YaHei" pitchFamily="34" charset="-120"/>
              </a:rPr>
              <a:t>TA</a:t>
            </a:r>
            <a:endParaRPr lang="en-US" sz="2500" dirty="0"/>
          </a:p>
        </p:txBody>
      </p:sp>
      <p:sp>
        <p:nvSpPr>
          <p:cNvPr id="16" name="Text 14"/>
          <p:cNvSpPr/>
          <p:nvPr/>
        </p:nvSpPr>
        <p:spPr>
          <a:xfrm>
            <a:off x="4645152" y="2331720"/>
            <a:ext cx="2889504" cy="274320"/>
          </a:xfrm>
          <a:prstGeom prst="rect">
            <a:avLst/>
          </a:prstGeom>
          <a:noFill/>
          <a:ln/>
        </p:spPr>
        <p:txBody>
          <a:bodyPr wrap="square" lIns="0" tIns="0" rIns="0" bIns="0" rtlCol="0" anchor="ctr">
            <a:normAutofit/>
          </a:bodyPr>
          <a:lstStyle/>
          <a:p>
            <a:pPr marL="0" indent="0">
              <a:buNone/>
            </a:pPr>
            <a:r>
              <a:rPr lang="en-US" sz="1100" b="1" dirty="0">
                <a:solidFill>
                  <a:srgbClr val="60757B"/>
                </a:solidFill>
                <a:latin typeface="Microsoft YaHei" pitchFamily="34" charset="0"/>
                <a:ea typeface="Microsoft YaHei" pitchFamily="34" charset="-122"/>
                <a:cs typeface="Microsoft YaHei" pitchFamily="34" charset="-120"/>
              </a:rPr>
              <a:t>Ticker + Action</a:t>
            </a:r>
            <a:endParaRPr lang="en-US" sz="1100" dirty="0"/>
          </a:p>
        </p:txBody>
      </p:sp>
      <p:sp>
        <p:nvSpPr>
          <p:cNvPr id="17" name="Text 15"/>
          <p:cNvSpPr/>
          <p:nvPr/>
        </p:nvSpPr>
        <p:spPr>
          <a:xfrm>
            <a:off x="4645152" y="2779776"/>
            <a:ext cx="2889504" cy="329184"/>
          </a:xfrm>
          <a:prstGeom prst="rect">
            <a:avLst/>
          </a:prstGeom>
          <a:noFill/>
          <a:ln>
            <a:noFill/>
          </a:ln>
        </p:spPr>
        <p:txBody>
          <a:bodyPr wrap="none" lIns="0" tIns="45212" rIns="0" bIns="0" anchor="t" anchorCtr="0">
            <a:noAutofit/>
          </a:bodyPr>
          <a:lstStyle/>
          <a:p>
            <a:pPr algn="l"/>
            <a:r>
              <a:rPr lang="en-US" sz="1400" dirty="0">
                <a:solidFill>
                  <a:srgbClr val="112B36"/>
                </a:solidFill>
                <a:latin typeface="Arial"/>
                <a:ea typeface="Arial"/>
                <a:cs typeface="Arial"/>
              </a:rPr>
              <a:t>Add buy / sell / hold actions</a:t>
            </a:r>
          </a:p>
        </p:txBody>
      </p:sp>
      <p:sp>
        <p:nvSpPr>
          <p:cNvPr id="18" name="Shape 16"/>
          <p:cNvSpPr/>
          <p:nvPr/>
        </p:nvSpPr>
        <p:spPr>
          <a:xfrm>
            <a:off x="4645152" y="3310128"/>
            <a:ext cx="2889504" cy="347472"/>
          </a:xfrm>
          <a:prstGeom prst="roundRect">
            <a:avLst>
              <a:gd name="adj" fmla="val 31579"/>
            </a:avLst>
          </a:prstGeom>
          <a:solidFill>
            <a:srgbClr val="FFF1E2"/>
          </a:solidFill>
          <a:ln w="12700">
            <a:solidFill>
              <a:srgbClr val="FFF1E2">
                <a:alpha val="0"/>
              </a:srgbClr>
            </a:solidFill>
            <a:prstDash val="solid"/>
          </a:ln>
        </p:spPr>
      </p:sp>
      <p:sp>
        <p:nvSpPr>
          <p:cNvPr id="19" name="Text 17"/>
          <p:cNvSpPr/>
          <p:nvPr/>
        </p:nvSpPr>
        <p:spPr>
          <a:xfrm>
            <a:off x="4645152" y="3355848"/>
            <a:ext cx="2889504" cy="201168"/>
          </a:xfrm>
          <a:prstGeom prst="rect">
            <a:avLst/>
          </a:prstGeom>
          <a:noFill/>
          <a:ln/>
        </p:spPr>
        <p:txBody>
          <a:bodyPr wrap="square" lIns="0" tIns="0" rIns="0" bIns="0" rtlCol="0" anchor="ctr">
            <a:normAutofit/>
          </a:bodyPr>
          <a:lstStyle/>
          <a:p>
            <a:pPr marL="0" indent="0" algn="ctr">
              <a:buNone/>
            </a:pPr>
            <a:r>
              <a:rPr lang="en-US" sz="1000" b="1" dirty="0">
                <a:solidFill>
                  <a:srgbClr val="F5A65B"/>
                </a:solidFill>
                <a:latin typeface="Microsoft YaHei" pitchFamily="34" charset="0"/>
                <a:ea typeface="Microsoft YaHei" pitchFamily="34" charset="-122"/>
                <a:cs typeface="Microsoft YaHei" pitchFamily="34" charset="-120"/>
              </a:rPr>
              <a:t>AAPL · Buy</a:t>
            </a:r>
            <a:endParaRPr lang="en-US" sz="1000" dirty="0"/>
          </a:p>
        </p:txBody>
      </p:sp>
      <p:sp>
        <p:nvSpPr>
          <p:cNvPr id="20" name="Shape 18"/>
          <p:cNvSpPr/>
          <p:nvPr/>
        </p:nvSpPr>
        <p:spPr>
          <a:xfrm>
            <a:off x="7854696" y="2496312"/>
            <a:ext cx="219456" cy="329184"/>
          </a:xfrm>
          <a:prstGeom prst="chevron">
            <a:avLst/>
          </a:prstGeom>
          <a:solidFill>
            <a:srgbClr val="D7E4E6"/>
          </a:solidFill>
          <a:ln w="12700">
            <a:solidFill>
              <a:srgbClr val="D7E4E6">
                <a:alpha val="0"/>
              </a:srgbClr>
            </a:solidFill>
            <a:prstDash val="solid"/>
          </a:ln>
        </p:spPr>
      </p:sp>
      <p:sp>
        <p:nvSpPr>
          <p:cNvPr id="21" name="Shape 19"/>
          <p:cNvSpPr/>
          <p:nvPr/>
        </p:nvSpPr>
        <p:spPr>
          <a:xfrm>
            <a:off x="8156448" y="1554480"/>
            <a:ext cx="3364992" cy="2331720"/>
          </a:xfrm>
          <a:prstGeom prst="roundRect">
            <a:avLst>
              <a:gd name="adj" fmla="val 3137"/>
            </a:avLst>
          </a:prstGeom>
          <a:solidFill>
            <a:srgbClr val="FFFFFF"/>
          </a:solidFill>
          <a:ln w="12700">
            <a:solidFill>
              <a:srgbClr val="D7E4E6"/>
            </a:solidFill>
            <a:prstDash val="solid"/>
          </a:ln>
        </p:spPr>
      </p:sp>
      <p:sp>
        <p:nvSpPr>
          <p:cNvPr id="22" name="Text 20"/>
          <p:cNvSpPr/>
          <p:nvPr/>
        </p:nvSpPr>
        <p:spPr>
          <a:xfrm>
            <a:off x="8394192" y="1783080"/>
            <a:ext cx="1005840" cy="420624"/>
          </a:xfrm>
          <a:prstGeom prst="rect">
            <a:avLst/>
          </a:prstGeom>
          <a:noFill/>
          <a:ln/>
        </p:spPr>
        <p:txBody>
          <a:bodyPr wrap="square" lIns="0" tIns="0" rIns="0" bIns="0" rtlCol="0" anchor="ctr">
            <a:normAutofit/>
          </a:bodyPr>
          <a:lstStyle/>
          <a:p>
            <a:pPr marL="0" indent="0">
              <a:buNone/>
            </a:pPr>
            <a:r>
              <a:rPr lang="en-US" sz="2500" b="1" dirty="0">
                <a:solidFill>
                  <a:srgbClr val="F26B5B"/>
                </a:solidFill>
                <a:latin typeface="Microsoft YaHei" pitchFamily="34" charset="0"/>
                <a:ea typeface="Microsoft YaHei" pitchFamily="34" charset="-122"/>
                <a:cs typeface="Microsoft YaHei" pitchFamily="34" charset="-120"/>
              </a:rPr>
              <a:t>TAC</a:t>
            </a:r>
            <a:endParaRPr lang="en-US" sz="2500" dirty="0"/>
          </a:p>
        </p:txBody>
      </p:sp>
      <p:sp>
        <p:nvSpPr>
          <p:cNvPr id="23" name="Text 21"/>
          <p:cNvSpPr/>
          <p:nvPr/>
        </p:nvSpPr>
        <p:spPr>
          <a:xfrm>
            <a:off x="8394192" y="2331720"/>
            <a:ext cx="2889504" cy="274320"/>
          </a:xfrm>
          <a:prstGeom prst="rect">
            <a:avLst/>
          </a:prstGeom>
          <a:noFill/>
          <a:ln/>
        </p:spPr>
        <p:txBody>
          <a:bodyPr wrap="square" lIns="0" tIns="0" rIns="0" bIns="0" rtlCol="0" anchor="ctr">
            <a:normAutofit/>
          </a:bodyPr>
          <a:lstStyle/>
          <a:p>
            <a:pPr marL="0" indent="0">
              <a:buNone/>
            </a:pPr>
            <a:r>
              <a:rPr lang="en-US" sz="1100" b="1" dirty="0">
                <a:solidFill>
                  <a:srgbClr val="60757B"/>
                </a:solidFill>
                <a:latin typeface="Microsoft YaHei" pitchFamily="34" charset="0"/>
                <a:ea typeface="Microsoft YaHei" pitchFamily="34" charset="-122"/>
                <a:cs typeface="Microsoft YaHei" pitchFamily="34" charset="-120"/>
              </a:rPr>
              <a:t>Ticker + Action + Conviction</a:t>
            </a:r>
            <a:endParaRPr lang="en-US" sz="1100" dirty="0"/>
          </a:p>
        </p:txBody>
      </p:sp>
      <p:sp>
        <p:nvSpPr>
          <p:cNvPr id="24" name="Text 22"/>
          <p:cNvSpPr/>
          <p:nvPr/>
        </p:nvSpPr>
        <p:spPr>
          <a:xfrm>
            <a:off x="8394192" y="2779776"/>
            <a:ext cx="2889504" cy="329184"/>
          </a:xfrm>
          <a:prstGeom prst="rect">
            <a:avLst/>
          </a:prstGeom>
          <a:noFill/>
          <a:ln>
            <a:noFill/>
          </a:ln>
        </p:spPr>
        <p:txBody>
          <a:bodyPr wrap="none" lIns="0" tIns="45212" rIns="0" bIns="0" anchor="t" anchorCtr="0">
            <a:noAutofit/>
          </a:bodyPr>
          <a:lstStyle/>
          <a:p>
            <a:pPr algn="l"/>
            <a:r>
              <a:rPr lang="en-US" sz="1400" dirty="0">
                <a:solidFill>
                  <a:srgbClr val="112B36"/>
                </a:solidFill>
                <a:latin typeface="Arial"/>
                <a:ea typeface="Arial"/>
                <a:cs typeface="Arial"/>
              </a:rPr>
              <a:t>Add conviction levels 1–3</a:t>
            </a:r>
          </a:p>
        </p:txBody>
      </p:sp>
      <p:sp>
        <p:nvSpPr>
          <p:cNvPr id="25" name="Shape 23"/>
          <p:cNvSpPr/>
          <p:nvPr/>
        </p:nvSpPr>
        <p:spPr>
          <a:xfrm>
            <a:off x="8394192" y="3310128"/>
            <a:ext cx="2889504" cy="347472"/>
          </a:xfrm>
          <a:prstGeom prst="roundRect">
            <a:avLst>
              <a:gd name="adj" fmla="val 31579"/>
            </a:avLst>
          </a:prstGeom>
          <a:solidFill>
            <a:srgbClr val="FDE8E5"/>
          </a:solidFill>
          <a:ln w="12700">
            <a:solidFill>
              <a:srgbClr val="FDE8E5">
                <a:alpha val="0"/>
              </a:srgbClr>
            </a:solidFill>
            <a:prstDash val="solid"/>
          </a:ln>
        </p:spPr>
      </p:sp>
      <p:sp>
        <p:nvSpPr>
          <p:cNvPr id="26" name="Text 24"/>
          <p:cNvSpPr/>
          <p:nvPr/>
        </p:nvSpPr>
        <p:spPr>
          <a:xfrm>
            <a:off x="8394192" y="3355848"/>
            <a:ext cx="2889504" cy="201168"/>
          </a:xfrm>
          <a:prstGeom prst="rect">
            <a:avLst/>
          </a:prstGeom>
          <a:noFill/>
          <a:ln/>
        </p:spPr>
        <p:txBody>
          <a:bodyPr wrap="square" lIns="0" tIns="0" rIns="0" bIns="0" rtlCol="0" anchor="ctr">
            <a:normAutofit/>
          </a:bodyPr>
          <a:lstStyle/>
          <a:p>
            <a:pPr marL="0" indent="0" algn="ctr">
              <a:buNone/>
            </a:pPr>
            <a:r>
              <a:rPr lang="en-US" sz="1000" b="1" dirty="0">
                <a:solidFill>
                  <a:srgbClr val="F26B5B"/>
                </a:solidFill>
                <a:latin typeface="Microsoft YaHei" pitchFamily="34" charset="0"/>
                <a:ea typeface="Microsoft YaHei" pitchFamily="34" charset="-122"/>
                <a:cs typeface="Microsoft YaHei" pitchFamily="34" charset="-120"/>
              </a:rPr>
              <a:t>AAPL · Buy · 3</a:t>
            </a:r>
            <a:endParaRPr lang="en-US" sz="1000" dirty="0"/>
          </a:p>
        </p:txBody>
      </p:sp>
      <p:sp>
        <p:nvSpPr>
          <p:cNvPr id="27" name="Shape 25"/>
          <p:cNvSpPr/>
          <p:nvPr/>
        </p:nvSpPr>
        <p:spPr>
          <a:xfrm>
            <a:off x="658368" y="4206240"/>
            <a:ext cx="10863072" cy="1572768"/>
          </a:xfrm>
          <a:prstGeom prst="roundRect">
            <a:avLst>
              <a:gd name="adj" fmla="val 4651"/>
            </a:avLst>
          </a:prstGeom>
          <a:solidFill>
            <a:srgbClr val="FFFFFF"/>
          </a:solidFill>
          <a:ln w="12700">
            <a:solidFill>
              <a:srgbClr val="D7E4E6"/>
            </a:solidFill>
            <a:prstDash val="solid"/>
          </a:ln>
        </p:spPr>
      </p:sp>
      <p:sp>
        <p:nvSpPr>
          <p:cNvPr id="28" name="Text 26"/>
          <p:cNvSpPr/>
          <p:nvPr/>
        </p:nvSpPr>
        <p:spPr>
          <a:xfrm>
            <a:off x="914400" y="4416552"/>
            <a:ext cx="10277856" cy="384048"/>
          </a:xfrm>
          <a:prstGeom prst="rect">
            <a:avLst/>
          </a:prstGeom>
          <a:noFill/>
          <a:ln>
            <a:noFill/>
          </a:ln>
        </p:spPr>
        <p:txBody>
          <a:bodyPr wrap="none" lIns="0" tIns="42164" rIns="0" bIns="0" anchor="t" anchorCtr="0">
            <a:noAutofit/>
          </a:bodyPr>
          <a:lstStyle/>
          <a:p>
            <a:pPr algn="l"/>
            <a:r>
              <a:rPr lang="en-US" sz="1800" b="1" dirty="0">
                <a:solidFill>
                  <a:srgbClr val="163D55"/>
                </a:solidFill>
                <a:latin typeface="Arial"/>
                <a:ea typeface="Arial"/>
                <a:cs typeface="Arial"/>
              </a:rPr>
              <a:t>Conviction: how firmly the speaker expresses the recommendation (levels 1–3)</a:t>
            </a:r>
          </a:p>
        </p:txBody>
      </p:sp>
      <p:sp>
        <p:nvSpPr>
          <p:cNvPr id="29" name="Text 27"/>
          <p:cNvSpPr/>
          <p:nvPr/>
        </p:nvSpPr>
        <p:spPr>
          <a:xfrm>
            <a:off x="914400" y="5010912"/>
            <a:ext cx="2331720" cy="237744"/>
          </a:xfrm>
          <a:prstGeom prst="rect">
            <a:avLst/>
          </a:prstGeom>
          <a:noFill/>
          <a:ln>
            <a:noFill/>
          </a:ln>
        </p:spPr>
        <p:txBody>
          <a:bodyPr wrap="none" lIns="0" tIns="-508" rIns="0" bIns="0" anchor="t" anchorCtr="0">
            <a:noAutofit/>
          </a:bodyPr>
          <a:lstStyle/>
          <a:p>
            <a:pPr algn="l"/>
            <a:r>
              <a:rPr lang="en-US" sz="1400" b="1" dirty="0">
                <a:solidFill>
                  <a:srgbClr val="087F83"/>
                </a:solidFill>
                <a:latin typeface="Arial"/>
                <a:ea typeface="Arial"/>
                <a:cs typeface="Arial"/>
              </a:rPr>
              <a:t>Tone of voice</a:t>
            </a:r>
          </a:p>
        </p:txBody>
      </p:sp>
      <p:sp>
        <p:nvSpPr>
          <p:cNvPr id="30" name="Text 28"/>
          <p:cNvSpPr/>
          <p:nvPr/>
        </p:nvSpPr>
        <p:spPr>
          <a:xfrm>
            <a:off x="914400" y="5385816"/>
            <a:ext cx="2331720" cy="219456"/>
          </a:xfrm>
          <a:prstGeom prst="rect">
            <a:avLst/>
          </a:prstGeom>
          <a:noFill/>
          <a:ln>
            <a:noFill/>
          </a:ln>
        </p:spPr>
        <p:txBody>
          <a:bodyPr wrap="none" lIns="0" tIns="18288" rIns="0" bIns="0" anchor="t" anchorCtr="0">
            <a:noAutofit/>
          </a:bodyPr>
          <a:lstStyle/>
          <a:p>
            <a:pPr algn="l"/>
            <a:r>
              <a:rPr lang="en-US" sz="1200" dirty="0">
                <a:solidFill>
                  <a:srgbClr val="60757B"/>
                </a:solidFill>
                <a:latin typeface="Arial"/>
                <a:ea typeface="Arial"/>
                <a:cs typeface="Arial"/>
              </a:rPr>
              <a:t>Hesitant or assertive?</a:t>
            </a:r>
          </a:p>
        </p:txBody>
      </p:sp>
      <p:sp>
        <p:nvSpPr>
          <p:cNvPr id="31" name="Text 29"/>
          <p:cNvSpPr/>
          <p:nvPr/>
        </p:nvSpPr>
        <p:spPr>
          <a:xfrm>
            <a:off x="3621024" y="5010912"/>
            <a:ext cx="2331720" cy="237744"/>
          </a:xfrm>
          <a:prstGeom prst="rect">
            <a:avLst/>
          </a:prstGeom>
          <a:noFill/>
          <a:ln>
            <a:noFill/>
          </a:ln>
        </p:spPr>
        <p:txBody>
          <a:bodyPr wrap="none" lIns="0" tIns="-508" rIns="0" bIns="0" anchor="t" anchorCtr="0">
            <a:noAutofit/>
          </a:bodyPr>
          <a:lstStyle/>
          <a:p>
            <a:pPr algn="l"/>
            <a:r>
              <a:rPr lang="en-US" sz="1400" b="1" dirty="0">
                <a:solidFill>
                  <a:srgbClr val="F5A65B"/>
                </a:solidFill>
                <a:latin typeface="Arial"/>
                <a:ea typeface="Arial"/>
                <a:cs typeface="Arial"/>
              </a:rPr>
              <a:t>Facial expressions</a:t>
            </a:r>
          </a:p>
        </p:txBody>
      </p:sp>
      <p:sp>
        <p:nvSpPr>
          <p:cNvPr id="32" name="Text 30"/>
          <p:cNvSpPr/>
          <p:nvPr/>
        </p:nvSpPr>
        <p:spPr>
          <a:xfrm>
            <a:off x="3621024" y="5385816"/>
            <a:ext cx="2331720" cy="219456"/>
          </a:xfrm>
          <a:prstGeom prst="rect">
            <a:avLst/>
          </a:prstGeom>
          <a:noFill/>
          <a:ln>
            <a:noFill/>
          </a:ln>
        </p:spPr>
        <p:txBody>
          <a:bodyPr wrap="none" lIns="0" tIns="18288" rIns="0" bIns="0" anchor="t" anchorCtr="0">
            <a:noAutofit/>
          </a:bodyPr>
          <a:lstStyle/>
          <a:p>
            <a:pPr algn="l"/>
            <a:r>
              <a:rPr lang="en-US" sz="1200" dirty="0">
                <a:solidFill>
                  <a:srgbClr val="60757B"/>
                </a:solidFill>
                <a:latin typeface="Arial"/>
                <a:ea typeface="Arial"/>
                <a:cs typeface="Arial"/>
              </a:rPr>
              <a:t>Attitude conveyed visually</a:t>
            </a:r>
          </a:p>
        </p:txBody>
      </p:sp>
      <p:sp>
        <p:nvSpPr>
          <p:cNvPr id="33" name="Text 31"/>
          <p:cNvSpPr/>
          <p:nvPr/>
        </p:nvSpPr>
        <p:spPr>
          <a:xfrm>
            <a:off x="6327648" y="5010912"/>
            <a:ext cx="2331720" cy="237744"/>
          </a:xfrm>
          <a:prstGeom prst="rect">
            <a:avLst/>
          </a:prstGeom>
          <a:noFill/>
          <a:ln>
            <a:noFill/>
          </a:ln>
        </p:spPr>
        <p:txBody>
          <a:bodyPr wrap="none" lIns="0" tIns="-508" rIns="0" bIns="0" anchor="t" anchorCtr="0">
            <a:noAutofit/>
          </a:bodyPr>
          <a:lstStyle/>
          <a:p>
            <a:pPr algn="l"/>
            <a:r>
              <a:rPr lang="en-US" sz="1400" b="1" dirty="0">
                <a:solidFill>
                  <a:srgbClr val="F26B5B"/>
                </a:solidFill>
                <a:latin typeface="Arial"/>
                <a:ea typeface="Arial"/>
                <a:cs typeface="Arial"/>
              </a:rPr>
              <a:t>Overall delivery</a:t>
            </a:r>
          </a:p>
        </p:txBody>
      </p:sp>
      <p:sp>
        <p:nvSpPr>
          <p:cNvPr id="34" name="Text 32"/>
          <p:cNvSpPr/>
          <p:nvPr/>
        </p:nvSpPr>
        <p:spPr>
          <a:xfrm>
            <a:off x="6327648" y="5385816"/>
            <a:ext cx="2331720" cy="219456"/>
          </a:xfrm>
          <a:prstGeom prst="rect">
            <a:avLst/>
          </a:prstGeom>
          <a:noFill/>
          <a:ln>
            <a:noFill/>
          </a:ln>
        </p:spPr>
        <p:txBody>
          <a:bodyPr wrap="none" lIns="0" tIns="18288" rIns="0" bIns="0" anchor="t" anchorCtr="0">
            <a:noAutofit/>
          </a:bodyPr>
          <a:lstStyle/>
          <a:p>
            <a:pPr algn="l"/>
            <a:r>
              <a:rPr lang="en-US" sz="1200" dirty="0">
                <a:solidFill>
                  <a:srgbClr val="60757B"/>
                </a:solidFill>
                <a:latin typeface="Arial"/>
                <a:ea typeface="Arial"/>
                <a:cs typeface="Arial"/>
              </a:rPr>
              <a:t>Wording and expression</a:t>
            </a:r>
          </a:p>
        </p:txBody>
      </p:sp>
      <p:sp>
        <p:nvSpPr>
          <p:cNvPr id="35" name="Text 33"/>
          <p:cNvSpPr/>
          <p:nvPr/>
        </p:nvSpPr>
        <p:spPr>
          <a:xfrm>
            <a:off x="9034272" y="5010912"/>
            <a:ext cx="2331720" cy="237744"/>
          </a:xfrm>
          <a:prstGeom prst="rect">
            <a:avLst/>
          </a:prstGeom>
          <a:noFill/>
          <a:ln>
            <a:noFill/>
          </a:ln>
        </p:spPr>
        <p:txBody>
          <a:bodyPr wrap="none" lIns="0" tIns="-508" rIns="0" bIns="0" anchor="t" anchorCtr="0">
            <a:noAutofit/>
          </a:bodyPr>
          <a:lstStyle/>
          <a:p>
            <a:pPr algn="l"/>
            <a:r>
              <a:rPr lang="en-US" sz="1400" b="1" dirty="0">
                <a:solidFill>
                  <a:srgbClr val="163D55"/>
                </a:solidFill>
                <a:latin typeface="Arial"/>
                <a:ea typeface="Arial"/>
                <a:cs typeface="Arial"/>
              </a:rPr>
              <a:t>Title consistency</a:t>
            </a:r>
          </a:p>
        </p:txBody>
      </p:sp>
      <p:sp>
        <p:nvSpPr>
          <p:cNvPr id="36" name="Text 34"/>
          <p:cNvSpPr/>
          <p:nvPr/>
        </p:nvSpPr>
        <p:spPr>
          <a:xfrm>
            <a:off x="9034272" y="5385816"/>
            <a:ext cx="2331720" cy="219456"/>
          </a:xfrm>
          <a:prstGeom prst="rect">
            <a:avLst/>
          </a:prstGeom>
          <a:noFill/>
          <a:ln>
            <a:noFill/>
          </a:ln>
        </p:spPr>
        <p:txBody>
          <a:bodyPr wrap="none" lIns="0" tIns="18288" rIns="0" bIns="0" anchor="t" anchorCtr="0">
            <a:noAutofit/>
          </a:bodyPr>
          <a:lstStyle/>
          <a:p>
            <a:pPr algn="l"/>
            <a:r>
              <a:rPr lang="en-US" sz="1200" dirty="0">
                <a:solidFill>
                  <a:srgbClr val="60757B"/>
                </a:solidFill>
                <a:latin typeface="Arial"/>
                <a:ea typeface="Arial"/>
                <a:cs typeface="Arial"/>
              </a:rPr>
              <a:t>Does the title match the clip?</a:t>
            </a:r>
          </a:p>
        </p:txBody>
      </p:sp>
      <p:sp>
        <p:nvSpPr>
          <p:cNvPr id="37" name="Text 35"/>
          <p:cNvSpPr/>
          <p:nvPr/>
        </p:nvSpPr>
        <p:spPr>
          <a:xfrm>
            <a:off x="822960" y="5943600"/>
            <a:ext cx="10515600" cy="237744"/>
          </a:xfrm>
          <a:prstGeom prst="rect">
            <a:avLst/>
          </a:prstGeom>
          <a:noFill/>
          <a:ln>
            <a:noFill/>
          </a:ln>
        </p:spPr>
        <p:txBody>
          <a:bodyPr wrap="none" lIns="0" tIns="35052" rIns="0" bIns="0" anchor="t" anchorCtr="0">
            <a:noAutofit/>
          </a:bodyPr>
          <a:lstStyle/>
          <a:p>
            <a:pPr algn="l"/>
            <a:r>
              <a:rPr lang="en-US" sz="1100" dirty="0">
                <a:solidFill>
                  <a:srgbClr val="60757B"/>
                </a:solidFill>
                <a:latin typeface="Arial"/>
                <a:ea typeface="Arial"/>
                <a:cs typeface="Arial"/>
              </a:rPr>
              <a:t>Experts rate expressed conviction, not model confidence or the probability that the recommendation is correct.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8"/>
        </a:solidFill>
        <a:effectLst/>
      </p:bgPr>
    </p:bg>
    <p:spTree>
      <p:nvGrpSpPr>
        <p:cNvPr id="1" name=""/>
        <p:cNvGrpSpPr/>
        <p:nvPr/>
      </p:nvGrpSpPr>
      <p:grpSpPr>
        <a:xfrm>
          <a:off x="0" y="0"/>
          <a:ext cx="0" cy="0"/>
          <a:chOff x="0" y="0"/>
          <a:chExt cx="0" cy="0"/>
        </a:xfrm>
      </p:grpSpPr>
      <p:sp>
        <p:nvSpPr>
          <p:cNvPr id="2" name="Text 0"/>
          <p:cNvSpPr/>
          <p:nvPr/>
        </p:nvSpPr>
        <p:spPr>
          <a:xfrm>
            <a:off x="594360" y="310896"/>
            <a:ext cx="6766560" cy="228600"/>
          </a:xfrm>
          <a:prstGeom prst="rect">
            <a:avLst/>
          </a:prstGeom>
          <a:noFill/>
          <a:ln>
            <a:noFill/>
          </a:ln>
        </p:spPr>
        <p:txBody>
          <a:bodyPr wrap="none" lIns="0" tIns="38100" rIns="0" bIns="0" anchor="t" anchorCtr="0">
            <a:noAutofit/>
          </a:bodyPr>
          <a:lstStyle/>
          <a:p>
            <a:pPr algn="l"/>
            <a:r>
              <a:rPr lang="en-US" sz="1000" b="1" spc="240" dirty="0">
                <a:solidFill>
                  <a:srgbClr val="087F83"/>
                </a:solidFill>
                <a:latin typeface="Arial"/>
                <a:ea typeface="Arial"/>
                <a:cs typeface="Arial"/>
              </a:rPr>
              <a:t>EXPERIMENTS · EXPERT-SELECTED SEGMENTS HELP</a:t>
            </a:r>
          </a:p>
        </p:txBody>
      </p:sp>
      <p:sp>
        <p:nvSpPr>
          <p:cNvPr id="3" name="Text 1"/>
          <p:cNvSpPr/>
          <p:nvPr/>
        </p:nvSpPr>
        <p:spPr>
          <a:xfrm>
            <a:off x="10972800" y="283464"/>
            <a:ext cx="640080" cy="274320"/>
          </a:xfrm>
          <a:prstGeom prst="rect">
            <a:avLst/>
          </a:prstGeom>
          <a:noFill/>
          <a:ln/>
        </p:spPr>
        <p:txBody>
          <a:bodyPr wrap="square" lIns="0" tIns="0" rIns="0" bIns="0" rtlCol="0" anchor="ctr">
            <a:normAutofit/>
          </a:bodyPr>
          <a:lstStyle/>
          <a:p>
            <a:pPr marL="0" indent="0" algn="r">
              <a:buNone/>
            </a:pPr>
            <a:r>
              <a:rPr lang="en-US" sz="1100" b="1" dirty="0">
                <a:solidFill>
                  <a:srgbClr val="60757B"/>
                </a:solidFill>
                <a:latin typeface="Microsoft YaHei" pitchFamily="34" charset="0"/>
                <a:ea typeface="Microsoft YaHei" pitchFamily="34" charset="-122"/>
                <a:cs typeface="Microsoft YaHei" pitchFamily="34" charset="-120"/>
              </a:rPr>
              <a:t>04</a:t>
            </a:r>
            <a:endParaRPr lang="en-US" sz="1100" dirty="0"/>
          </a:p>
        </p:txBody>
      </p:sp>
      <p:sp>
        <p:nvSpPr>
          <p:cNvPr id="4" name="Shape 2"/>
          <p:cNvSpPr/>
          <p:nvPr/>
        </p:nvSpPr>
        <p:spPr>
          <a:xfrm>
            <a:off x="594360" y="6382512"/>
            <a:ext cx="11000232" cy="0"/>
          </a:xfrm>
          <a:prstGeom prst="line">
            <a:avLst/>
          </a:prstGeom>
          <a:noFill/>
          <a:ln w="10160">
            <a:solidFill>
              <a:srgbClr val="D7E4E6"/>
            </a:solidFill>
            <a:prstDash val="solid"/>
            <a:headEnd type="none"/>
            <a:tailEnd type="none"/>
          </a:ln>
        </p:spPr>
      </p:sp>
      <p:sp>
        <p:nvSpPr>
          <p:cNvPr id="5" name="Text 3"/>
          <p:cNvSpPr/>
          <p:nvPr/>
        </p:nvSpPr>
        <p:spPr>
          <a:xfrm>
            <a:off x="594360" y="6473952"/>
            <a:ext cx="9966960" cy="182880"/>
          </a:xfrm>
          <a:prstGeom prst="rect">
            <a:avLst/>
          </a:prstGeom>
          <a:noFill/>
          <a:ln>
            <a:noFill/>
          </a:ln>
        </p:spPr>
        <p:txBody>
          <a:bodyPr wrap="none" lIns="0" tIns="34290" rIns="0" bIns="0" anchor="t" anchorCtr="0">
            <a:noAutofit/>
          </a:bodyPr>
          <a:lstStyle/>
          <a:p>
            <a:pPr algn="l"/>
            <a:r>
              <a:rPr lang="en-US" sz="750" dirty="0">
                <a:solidFill>
                  <a:srgbClr val="60757B"/>
                </a:solidFill>
                <a:latin typeface="Arial"/>
                <a:ea typeface="Arial"/>
                <a:cs typeface="Arial"/>
              </a:rPr>
              <a:t>Source: p. 6, Table 6; F1 × 100. Evaluated in February 2025 with expert-selected segments provided as input.</a:t>
            </a:r>
          </a:p>
        </p:txBody>
      </p:sp>
      <p:sp>
        <p:nvSpPr>
          <p:cNvPr id="6" name="Text 4"/>
          <p:cNvSpPr/>
          <p:nvPr/>
        </p:nvSpPr>
        <p:spPr>
          <a:xfrm>
            <a:off x="594360" y="822960"/>
            <a:ext cx="8961120" cy="475488"/>
          </a:xfrm>
          <a:prstGeom prst="rect">
            <a:avLst/>
          </a:prstGeom>
          <a:noFill/>
          <a:ln>
            <a:noFill/>
          </a:ln>
        </p:spPr>
        <p:txBody>
          <a:bodyPr wrap="none" lIns="0" tIns="47244" rIns="0" bIns="0" anchor="t" anchorCtr="0">
            <a:noAutofit/>
          </a:bodyPr>
          <a:lstStyle/>
          <a:p>
            <a:pPr algn="l"/>
            <a:r>
              <a:rPr lang="en-US" sz="2500" b="1" dirty="0">
                <a:solidFill>
                  <a:srgbClr val="112B36"/>
                </a:solidFill>
                <a:latin typeface="Arial"/>
                <a:ea typeface="Arial"/>
                <a:cs typeface="Arial"/>
              </a:rPr>
              <a:t>Relevant segments help; understanding remains hard</a:t>
            </a:r>
          </a:p>
        </p:txBody>
      </p:sp>
      <p:sp>
        <p:nvSpPr>
          <p:cNvPr id="7" name="Text 5"/>
          <p:cNvSpPr/>
          <p:nvPr/>
        </p:nvSpPr>
        <p:spPr>
          <a:xfrm>
            <a:off x="658368" y="1389888"/>
            <a:ext cx="2926080" cy="256032"/>
          </a:xfrm>
          <a:prstGeom prst="rect">
            <a:avLst/>
          </a:prstGeom>
          <a:noFill/>
          <a:ln>
            <a:noFill/>
          </a:ln>
        </p:spPr>
        <p:txBody>
          <a:bodyPr wrap="none" lIns="0" tIns="44196" rIns="0" bIns="0" anchor="t" anchorCtr="0">
            <a:noAutofit/>
          </a:bodyPr>
          <a:lstStyle/>
          <a:p>
            <a:pPr algn="l"/>
            <a:r>
              <a:rPr lang="en-US" sz="1100" b="1" dirty="0">
                <a:solidFill>
                  <a:srgbClr val="60757B"/>
                </a:solidFill>
                <a:latin typeface="Arial"/>
                <a:ea typeface="Arial"/>
                <a:cs typeface="Arial"/>
              </a:rPr>
              <a:t>GPT-4o · Multimodal input</a:t>
            </a:r>
          </a:p>
        </p:txBody>
      </p:sp>
      <p:graphicFrame>
        <p:nvGraphicFramePr>
          <p:cNvPr id="21" name="Chart 0"/>
          <p:cNvGraphicFramePr>
            <a:graphicFrameLocks noGrp="1"/>
          </p:cNvGraphicFramePr>
          <p:nvPr/>
        </p:nvGraphicFramePr>
        <p:xfrm>
          <a:off x="621792" y="1719072"/>
          <a:ext cx="6629400" cy="4005072"/>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7790688" y="1719072"/>
            <a:ext cx="3602736" cy="1417320"/>
          </a:xfrm>
          <a:prstGeom prst="roundRect">
            <a:avLst>
              <a:gd name="adj" fmla="val 5161"/>
            </a:avLst>
          </a:prstGeom>
          <a:solidFill>
            <a:srgbClr val="E5F4F2"/>
          </a:solidFill>
          <a:ln w="12700">
            <a:solidFill>
              <a:srgbClr val="E5F4F2">
                <a:alpha val="0"/>
              </a:srgbClr>
            </a:solidFill>
            <a:prstDash val="solid"/>
          </a:ln>
        </p:spPr>
      </p:sp>
      <p:sp>
        <p:nvSpPr>
          <p:cNvPr id="10" name="Text 7"/>
          <p:cNvSpPr/>
          <p:nvPr/>
        </p:nvSpPr>
        <p:spPr>
          <a:xfrm>
            <a:off x="8074152" y="1975104"/>
            <a:ext cx="3017520" cy="329184"/>
          </a:xfrm>
          <a:prstGeom prst="rect">
            <a:avLst/>
          </a:prstGeom>
          <a:noFill/>
          <a:ln/>
        </p:spPr>
        <p:txBody>
          <a:bodyPr wrap="square" lIns="0" tIns="0" rIns="0" bIns="0" rtlCol="0" anchor="ctr">
            <a:normAutofit lnSpcReduction="10000"/>
          </a:bodyPr>
          <a:lstStyle/>
          <a:p>
            <a:pPr marL="0" indent="0">
              <a:buNone/>
            </a:pPr>
            <a:r>
              <a:rPr lang="en-US" sz="2200" b="1" dirty="0">
                <a:solidFill>
                  <a:srgbClr val="087F83"/>
                </a:solidFill>
                <a:latin typeface="Microsoft YaHei" pitchFamily="34" charset="0"/>
                <a:ea typeface="Microsoft YaHei" pitchFamily="34" charset="-122"/>
                <a:cs typeface="Microsoft YaHei" pitchFamily="34" charset="-120"/>
              </a:rPr>
              <a:t>TAC 19.60 → 27.86</a:t>
            </a:r>
            <a:endParaRPr lang="en-US" sz="2200" dirty="0"/>
          </a:p>
        </p:txBody>
      </p:sp>
      <p:sp>
        <p:nvSpPr>
          <p:cNvPr id="11" name="Text 8"/>
          <p:cNvSpPr/>
          <p:nvPr/>
        </p:nvSpPr>
        <p:spPr>
          <a:xfrm>
            <a:off x="8074152" y="2514600"/>
            <a:ext cx="2834640" cy="329184"/>
          </a:xfrm>
          <a:prstGeom prst="rect">
            <a:avLst/>
          </a:prstGeom>
          <a:noFill/>
          <a:ln>
            <a:noFill/>
          </a:ln>
        </p:spPr>
        <p:txBody>
          <a:bodyPr wrap="none" lIns="0" tIns="12700" rIns="0" bIns="0" anchor="t" anchorCtr="0">
            <a:noAutofit/>
          </a:bodyPr>
          <a:lstStyle/>
          <a:p>
            <a:pPr algn="l">
              <a:lnSpc>
                <a:spcPts val="1440"/>
              </a:lnSpc>
            </a:pPr>
            <a:r>
              <a:rPr lang="en-US" sz="1200" dirty="0">
                <a:solidFill>
                  <a:srgbClr val="60757B"/>
                </a:solidFill>
                <a:latin typeface="Arial"/>
                <a:ea typeface="Arial"/>
                <a:cs typeface="Arial"/>
              </a:rPr>
              <a:t>With relevant segments given,</a:t>
            </a:r>
            <a:br>
              <a:rPr lang="en-US" sz="1200" dirty="0">
                <a:solidFill>
                  <a:srgbClr val="60757B"/>
                </a:solidFill>
                <a:latin typeface="Arial"/>
                <a:ea typeface="Arial"/>
                <a:cs typeface="Arial"/>
              </a:rPr>
            </a:br>
            <a:r>
              <a:rPr lang="en-US" sz="1200" dirty="0">
                <a:solidFill>
                  <a:srgbClr val="60757B"/>
                </a:solidFill>
                <a:latin typeface="Arial"/>
                <a:ea typeface="Arial"/>
                <a:cs typeface="Arial"/>
              </a:rPr>
              <a:t>TAC improves by 8.26 F1 points.</a:t>
            </a:r>
          </a:p>
        </p:txBody>
      </p:sp>
      <p:sp>
        <p:nvSpPr>
          <p:cNvPr id="12" name="Shape 9"/>
          <p:cNvSpPr/>
          <p:nvPr/>
        </p:nvSpPr>
        <p:spPr>
          <a:xfrm>
            <a:off x="7790688" y="3429000"/>
            <a:ext cx="3602736" cy="1920240"/>
          </a:xfrm>
          <a:prstGeom prst="roundRect">
            <a:avLst>
              <a:gd name="adj" fmla="val 3810"/>
            </a:avLst>
          </a:prstGeom>
          <a:solidFill>
            <a:srgbClr val="EAF6FA"/>
          </a:solidFill>
          <a:ln w="12700">
            <a:solidFill>
              <a:srgbClr val="EAF6FA">
                <a:alpha val="0"/>
              </a:srgbClr>
            </a:solidFill>
            <a:prstDash val="solid"/>
          </a:ln>
        </p:spPr>
      </p:sp>
      <p:sp>
        <p:nvSpPr>
          <p:cNvPr id="13" name="Text 10"/>
          <p:cNvSpPr/>
          <p:nvPr/>
        </p:nvSpPr>
        <p:spPr>
          <a:xfrm>
            <a:off x="8074152" y="3694176"/>
            <a:ext cx="2743200" cy="274320"/>
          </a:xfrm>
          <a:prstGeom prst="rect">
            <a:avLst/>
          </a:prstGeom>
          <a:noFill/>
          <a:ln>
            <a:noFill/>
          </a:ln>
        </p:spPr>
        <p:txBody>
          <a:bodyPr wrap="none" lIns="0" tIns="10160" rIns="0" bIns="0" anchor="t" anchorCtr="0">
            <a:noAutofit/>
          </a:bodyPr>
          <a:lstStyle/>
          <a:p>
            <a:pPr algn="l"/>
            <a:r>
              <a:rPr lang="en-US" sz="1500" b="1" dirty="0">
                <a:solidFill>
                  <a:srgbClr val="163D55"/>
                </a:solidFill>
                <a:latin typeface="Arial"/>
                <a:ea typeface="Arial"/>
                <a:cs typeface="Arial"/>
              </a:rPr>
              <a:t>Important limitation</a:t>
            </a:r>
          </a:p>
        </p:txBody>
      </p:sp>
      <p:grpSp>
        <p:nvGrpSpPr>
          <p:cNvPr id="29" name="Text 11"/>
          <p:cNvGrpSpPr/>
          <p:nvPr/>
        </p:nvGrpSpPr>
        <p:grpSpPr>
          <a:xfrm>
            <a:off x="8067039" y="4133088"/>
            <a:ext cx="2796033" cy="868680"/>
            <a:chOff x="8067039" y="4133088"/>
            <a:chExt cx="2796033" cy="868680"/>
          </a:xfrm>
        </p:grpSpPr>
        <p:sp>
          <p:nvSpPr>
            <p:cNvPr id="27" name="Freeform 27"/>
            <p:cNvSpPr/>
            <p:nvPr/>
          </p:nvSpPr>
          <p:spPr>
            <a:xfrm>
              <a:off x="8074152" y="4133088"/>
              <a:ext cx="2788920" cy="868680"/>
            </a:xfrm>
            <a:custGeom>
              <a:avLst/>
              <a:gdLst/>
              <a:ahLst/>
              <a:cxnLst/>
              <a:rect l="l" t="t" r="r" b="b"/>
              <a:pathLst>
                <a:path w="2788920" h="868680">
                  <a:moveTo>
                    <a:pt x="0" y="0"/>
                  </a:moveTo>
                  <a:lnTo>
                    <a:pt x="2788920" y="0"/>
                  </a:lnTo>
                  <a:lnTo>
                    <a:pt x="2788920" y="868680"/>
                  </a:lnTo>
                  <a:lnTo>
                    <a:pt x="0" y="868680"/>
                  </a:lnTo>
                  <a:close/>
                </a:path>
              </a:pathLst>
            </a:custGeom>
            <a:noFill/>
            <a:ln>
              <a:noFill/>
            </a:ln>
          </p:spPr>
        </p:sp>
        <p:sp>
          <p:nvSpPr>
            <p:cNvPr id="28" name="TextBox 28"/>
            <p:cNvSpPr txBox="1"/>
            <p:nvPr/>
          </p:nvSpPr>
          <p:spPr>
            <a:xfrm>
              <a:off x="8067039" y="4133088"/>
              <a:ext cx="2297107" cy="700657"/>
            </a:xfrm>
            <a:prstGeom prst="rect">
              <a:avLst/>
            </a:prstGeom>
            <a:noFill/>
            <a:ln>
              <a:noFill/>
            </a:ln>
          </p:spPr>
          <p:txBody>
            <a:bodyPr wrap="none" lIns="0" tIns="0" rIns="0" bIns="0" anchor="t" anchorCtr="0">
              <a:spAutoFit/>
            </a:bodyPr>
            <a:lstStyle/>
            <a:p>
              <a:pPr algn="l">
                <a:lnSpc>
                  <a:spcPts val="1680"/>
                </a:lnSpc>
              </a:pPr>
              <a:r>
                <a:rPr lang="en-US" sz="1400" dirty="0">
                  <a:solidFill>
                    <a:srgbClr val="60757B"/>
                  </a:solidFill>
                  <a:latin typeface="Arial"/>
                  <a:ea typeface="Arial"/>
                  <a:cs typeface="Arial"/>
                </a:rPr>
                <a:t>Experts select the segments.</a:t>
              </a:r>
              <a:br>
                <a:rPr lang="en-US" sz="1400" dirty="0">
                  <a:solidFill>
                    <a:srgbClr val="60757B"/>
                  </a:solidFill>
                  <a:latin typeface="Arial"/>
                  <a:ea typeface="Arial"/>
                  <a:cs typeface="Arial"/>
                </a:rPr>
              </a:br>
              <a:r>
                <a:rPr lang="en-US" sz="1400" dirty="0">
                  <a:solidFill>
                    <a:srgbClr val="60757B"/>
                  </a:solidFill>
                  <a:latin typeface="Arial"/>
                  <a:ea typeface="Arial"/>
                  <a:cs typeface="Arial"/>
                </a:rPr>
                <a:t>Automatic localization needs</a:t>
              </a:r>
              <a:br>
                <a:rPr lang="en-US" sz="1400" dirty="0">
                  <a:solidFill>
                    <a:srgbClr val="60757B"/>
                  </a:solidFill>
                  <a:latin typeface="Arial"/>
                  <a:ea typeface="Arial"/>
                  <a:cs typeface="Arial"/>
                </a:rPr>
              </a:br>
              <a:r>
                <a:rPr lang="en-US" sz="1400" dirty="0">
                  <a:solidFill>
                    <a:srgbClr val="60757B"/>
                  </a:solidFill>
                  <a:latin typeface="Arial"/>
                  <a:ea typeface="Arial"/>
                  <a:cs typeface="Arial"/>
                </a:rPr>
                <a:t>separate validation.</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8"/>
        </a:solidFill>
        <a:effectLst/>
      </p:bgPr>
    </p:bg>
    <p:spTree>
      <p:nvGrpSpPr>
        <p:cNvPr id="1" name=""/>
        <p:cNvGrpSpPr/>
        <p:nvPr/>
      </p:nvGrpSpPr>
      <p:grpSpPr>
        <a:xfrm>
          <a:off x="0" y="0"/>
          <a:ext cx="0" cy="0"/>
          <a:chOff x="0" y="0"/>
          <a:chExt cx="0" cy="0"/>
        </a:xfrm>
      </p:grpSpPr>
      <p:sp>
        <p:nvSpPr>
          <p:cNvPr id="2" name="Text 0"/>
          <p:cNvSpPr/>
          <p:nvPr/>
        </p:nvSpPr>
        <p:spPr>
          <a:xfrm>
            <a:off x="594360" y="310896"/>
            <a:ext cx="6766560" cy="228600"/>
          </a:xfrm>
          <a:prstGeom prst="rect">
            <a:avLst/>
          </a:prstGeom>
          <a:noFill/>
          <a:ln>
            <a:noFill/>
          </a:ln>
        </p:spPr>
        <p:txBody>
          <a:bodyPr wrap="none" lIns="0" tIns="38100" rIns="0" bIns="0" anchor="t" anchorCtr="0">
            <a:noAutofit/>
          </a:bodyPr>
          <a:lstStyle/>
          <a:p>
            <a:pPr algn="l"/>
            <a:r>
              <a:rPr lang="en-US" sz="1000" b="1" spc="240" dirty="0">
                <a:solidFill>
                  <a:srgbClr val="087F83"/>
                </a:solidFill>
                <a:latin typeface="Arial"/>
                <a:ea typeface="Arial"/>
                <a:cs typeface="Arial"/>
              </a:rPr>
              <a:t>FINANCIAL ANALYSIS · CONVICTION AND RETURNS</a:t>
            </a:r>
          </a:p>
        </p:txBody>
      </p:sp>
      <p:sp>
        <p:nvSpPr>
          <p:cNvPr id="3" name="Text 1"/>
          <p:cNvSpPr/>
          <p:nvPr/>
        </p:nvSpPr>
        <p:spPr>
          <a:xfrm>
            <a:off x="10972800" y="283464"/>
            <a:ext cx="640080" cy="274320"/>
          </a:xfrm>
          <a:prstGeom prst="rect">
            <a:avLst/>
          </a:prstGeom>
          <a:noFill/>
          <a:ln/>
        </p:spPr>
        <p:txBody>
          <a:bodyPr wrap="square" lIns="0" tIns="0" rIns="0" bIns="0" rtlCol="0" anchor="ctr">
            <a:normAutofit/>
          </a:bodyPr>
          <a:lstStyle/>
          <a:p>
            <a:pPr marL="0" indent="0" algn="r">
              <a:buNone/>
            </a:pPr>
            <a:r>
              <a:rPr lang="en-US" sz="1100" b="1" dirty="0">
                <a:solidFill>
                  <a:srgbClr val="60757B"/>
                </a:solidFill>
                <a:latin typeface="Microsoft YaHei" pitchFamily="34" charset="0"/>
                <a:ea typeface="Microsoft YaHei" pitchFamily="34" charset="-122"/>
                <a:cs typeface="Microsoft YaHei" pitchFamily="34" charset="-120"/>
              </a:rPr>
              <a:t>05</a:t>
            </a:r>
            <a:endParaRPr lang="en-US" sz="1100" dirty="0"/>
          </a:p>
        </p:txBody>
      </p:sp>
      <p:sp>
        <p:nvSpPr>
          <p:cNvPr id="4" name="Shape 2"/>
          <p:cNvSpPr/>
          <p:nvPr/>
        </p:nvSpPr>
        <p:spPr>
          <a:xfrm>
            <a:off x="594360" y="6382512"/>
            <a:ext cx="11000232" cy="0"/>
          </a:xfrm>
          <a:prstGeom prst="line">
            <a:avLst/>
          </a:prstGeom>
          <a:noFill/>
          <a:ln w="10160">
            <a:solidFill>
              <a:srgbClr val="D7E4E6"/>
            </a:solidFill>
            <a:prstDash val="solid"/>
            <a:headEnd type="none"/>
            <a:tailEnd type="none"/>
          </a:ln>
        </p:spPr>
      </p:sp>
      <p:sp>
        <p:nvSpPr>
          <p:cNvPr id="5" name="Text 3"/>
          <p:cNvSpPr/>
          <p:nvPr/>
        </p:nvSpPr>
        <p:spPr>
          <a:xfrm>
            <a:off x="594360" y="6473952"/>
            <a:ext cx="9966960" cy="182880"/>
          </a:xfrm>
          <a:prstGeom prst="rect">
            <a:avLst/>
          </a:prstGeom>
          <a:noFill/>
          <a:ln>
            <a:noFill/>
          </a:ln>
        </p:spPr>
        <p:txBody>
          <a:bodyPr wrap="none" lIns="0" tIns="34290" rIns="0" bIns="0" anchor="t" anchorCtr="0">
            <a:noAutofit/>
          </a:bodyPr>
          <a:lstStyle/>
          <a:p>
            <a:pPr algn="l"/>
            <a:r>
              <a:rPr lang="en-US" sz="750" dirty="0">
                <a:solidFill>
                  <a:srgbClr val="60757B"/>
                </a:solidFill>
                <a:latin typeface="Arial"/>
                <a:ea typeface="Arial"/>
                <a:cs typeface="Arial"/>
              </a:rPr>
              <a:t>Source: pp. 7–8, Section 5, Table 7. Backtests: Jan. 2018–Aug. 2024; human labels, not automated model trading.</a:t>
            </a:r>
          </a:p>
        </p:txBody>
      </p:sp>
      <p:sp>
        <p:nvSpPr>
          <p:cNvPr id="6" name="Text 4"/>
          <p:cNvSpPr/>
          <p:nvPr/>
        </p:nvSpPr>
        <p:spPr>
          <a:xfrm>
            <a:off x="594360" y="822960"/>
            <a:ext cx="8869680" cy="475488"/>
          </a:xfrm>
          <a:prstGeom prst="rect">
            <a:avLst/>
          </a:prstGeom>
          <a:noFill/>
          <a:ln>
            <a:noFill/>
          </a:ln>
        </p:spPr>
        <p:txBody>
          <a:bodyPr wrap="none" lIns="0" tIns="47244" rIns="0" bIns="0" anchor="t" anchorCtr="0">
            <a:noAutofit/>
          </a:bodyPr>
          <a:lstStyle/>
          <a:p>
            <a:pPr algn="l"/>
            <a:r>
              <a:rPr lang="en-US" sz="2500" b="1" dirty="0">
                <a:solidFill>
                  <a:srgbClr val="112B36"/>
                </a:solidFill>
                <a:latin typeface="Arial"/>
                <a:ea typeface="Arial"/>
                <a:cs typeface="Arial"/>
              </a:rPr>
              <a:t>Sounding certain does not imply higher returns</a:t>
            </a:r>
          </a:p>
        </p:txBody>
      </p:sp>
      <p:sp>
        <p:nvSpPr>
          <p:cNvPr id="7" name="Text 5"/>
          <p:cNvSpPr/>
          <p:nvPr/>
        </p:nvSpPr>
        <p:spPr>
          <a:xfrm>
            <a:off x="658368" y="1389888"/>
            <a:ext cx="2926080" cy="219456"/>
          </a:xfrm>
          <a:prstGeom prst="rect">
            <a:avLst/>
          </a:prstGeom>
          <a:noFill/>
          <a:ln>
            <a:noFill/>
          </a:ln>
        </p:spPr>
        <p:txBody>
          <a:bodyPr wrap="none" lIns="0" tIns="25908" rIns="0" bIns="0" anchor="t" anchorCtr="0">
            <a:noAutofit/>
          </a:bodyPr>
          <a:lstStyle/>
          <a:p>
            <a:pPr algn="l"/>
            <a:r>
              <a:rPr lang="en-US" sz="1100" b="1" dirty="0">
                <a:solidFill>
                  <a:srgbClr val="60757B"/>
                </a:solidFill>
                <a:latin typeface="Arial"/>
                <a:ea typeface="Arial"/>
                <a:cs typeface="Arial"/>
              </a:rPr>
              <a:t>Annualized return (%)</a:t>
            </a:r>
          </a:p>
        </p:txBody>
      </p:sp>
      <p:graphicFrame>
        <p:nvGraphicFramePr>
          <p:cNvPr id="21" name="Chart 0"/>
          <p:cNvGraphicFramePr>
            <a:graphicFrameLocks noGrp="1"/>
          </p:cNvGraphicFramePr>
          <p:nvPr/>
        </p:nvGraphicFramePr>
        <p:xfrm>
          <a:off x="658368" y="1719072"/>
          <a:ext cx="6766560" cy="4133088"/>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7818120" y="1600200"/>
            <a:ext cx="3493008" cy="1170432"/>
          </a:xfrm>
          <a:prstGeom prst="roundRect">
            <a:avLst>
              <a:gd name="adj" fmla="val 6250"/>
            </a:avLst>
          </a:prstGeom>
          <a:solidFill>
            <a:srgbClr val="FFF1E2"/>
          </a:solidFill>
          <a:ln w="12700">
            <a:solidFill>
              <a:srgbClr val="FFF1E2">
                <a:alpha val="0"/>
              </a:srgbClr>
            </a:solidFill>
            <a:prstDash val="solid"/>
          </a:ln>
        </p:spPr>
      </p:sp>
      <p:sp>
        <p:nvSpPr>
          <p:cNvPr id="10" name="Text 7"/>
          <p:cNvSpPr/>
          <p:nvPr/>
        </p:nvSpPr>
        <p:spPr>
          <a:xfrm>
            <a:off x="8092440" y="1883664"/>
            <a:ext cx="2880360" cy="310896"/>
          </a:xfrm>
          <a:prstGeom prst="rect">
            <a:avLst/>
          </a:prstGeom>
          <a:noFill/>
          <a:ln>
            <a:noFill/>
          </a:ln>
        </p:spPr>
        <p:txBody>
          <a:bodyPr wrap="none" lIns="0" tIns="-4572" rIns="0" bIns="0" anchor="t" anchorCtr="0">
            <a:noAutofit/>
          </a:bodyPr>
          <a:lstStyle/>
          <a:p>
            <a:pPr algn="l"/>
            <a:r>
              <a:rPr lang="en-US" sz="2100" b="1" dirty="0">
                <a:solidFill>
                  <a:srgbClr val="F5A65B"/>
                </a:solidFill>
                <a:latin typeface="Arial"/>
                <a:ea typeface="Arial"/>
                <a:cs typeface="Arial"/>
              </a:rPr>
              <a:t>SPY: 11.28%</a:t>
            </a:r>
          </a:p>
        </p:txBody>
      </p:sp>
      <p:sp>
        <p:nvSpPr>
          <p:cNvPr id="11" name="Text 8"/>
          <p:cNvSpPr/>
          <p:nvPr/>
        </p:nvSpPr>
        <p:spPr>
          <a:xfrm>
            <a:off x="8092440" y="2313432"/>
            <a:ext cx="2761488" cy="228600"/>
          </a:xfrm>
          <a:prstGeom prst="rect">
            <a:avLst/>
          </a:prstGeom>
          <a:noFill/>
          <a:ln>
            <a:noFill/>
          </a:ln>
        </p:spPr>
        <p:txBody>
          <a:bodyPr wrap="none" lIns="0" tIns="38100" rIns="0" bIns="0" anchor="t" anchorCtr="0">
            <a:noAutofit/>
          </a:bodyPr>
          <a:lstStyle/>
          <a:p>
            <a:pPr algn="l"/>
            <a:r>
              <a:rPr lang="en-US" sz="1000" dirty="0">
                <a:solidFill>
                  <a:srgbClr val="60757B"/>
                </a:solidFill>
                <a:latin typeface="Arial"/>
                <a:ea typeface="Arial"/>
                <a:cs typeface="Arial"/>
              </a:rPr>
              <a:t>Follow buys: 9.74% · Weighted: 4.47%</a:t>
            </a:r>
          </a:p>
        </p:txBody>
      </p:sp>
      <p:sp>
        <p:nvSpPr>
          <p:cNvPr id="12" name="Shape 9"/>
          <p:cNvSpPr/>
          <p:nvPr/>
        </p:nvSpPr>
        <p:spPr>
          <a:xfrm>
            <a:off x="7818120" y="3108960"/>
            <a:ext cx="3493008" cy="2084832"/>
          </a:xfrm>
          <a:prstGeom prst="roundRect">
            <a:avLst>
              <a:gd name="adj" fmla="val 3509"/>
            </a:avLst>
          </a:prstGeom>
          <a:solidFill>
            <a:srgbClr val="FDE8E5"/>
          </a:solidFill>
          <a:ln w="12700">
            <a:solidFill>
              <a:srgbClr val="FDE8E5">
                <a:alpha val="0"/>
              </a:srgbClr>
            </a:solidFill>
            <a:prstDash val="solid"/>
          </a:ln>
        </p:spPr>
      </p:sp>
      <p:sp>
        <p:nvSpPr>
          <p:cNvPr id="13" name="Text 10"/>
          <p:cNvSpPr/>
          <p:nvPr/>
        </p:nvSpPr>
        <p:spPr>
          <a:xfrm>
            <a:off x="8092440" y="3401568"/>
            <a:ext cx="2743200" cy="310896"/>
          </a:xfrm>
          <a:prstGeom prst="rect">
            <a:avLst/>
          </a:prstGeom>
          <a:noFill/>
          <a:ln>
            <a:noFill/>
          </a:ln>
        </p:spPr>
        <p:txBody>
          <a:bodyPr wrap="none" lIns="0" tIns="13208" rIns="0" bIns="0" anchor="t" anchorCtr="0">
            <a:noAutofit/>
          </a:bodyPr>
          <a:lstStyle/>
          <a:p>
            <a:pPr algn="l"/>
            <a:r>
              <a:rPr lang="en-US" sz="1700" b="1" dirty="0">
                <a:solidFill>
                  <a:srgbClr val="F26B5B"/>
                </a:solidFill>
                <a:latin typeface="Arial"/>
                <a:ea typeface="Arial"/>
                <a:cs typeface="Arial"/>
              </a:rPr>
              <a:t>Risk and robustness</a:t>
            </a:r>
          </a:p>
        </p:txBody>
      </p:sp>
      <p:sp>
        <p:nvSpPr>
          <p:cNvPr id="14" name="Text 11"/>
          <p:cNvSpPr/>
          <p:nvPr/>
        </p:nvSpPr>
        <p:spPr>
          <a:xfrm>
            <a:off x="8092440" y="3941064"/>
            <a:ext cx="2743200" cy="969264"/>
          </a:xfrm>
          <a:prstGeom prst="rect">
            <a:avLst/>
          </a:prstGeom>
          <a:noFill/>
          <a:ln>
            <a:noFill/>
          </a:ln>
        </p:spPr>
        <p:txBody>
          <a:bodyPr wrap="none" lIns="0" tIns="12700" rIns="0" bIns="0" anchor="t" anchorCtr="0">
            <a:noAutofit/>
          </a:bodyPr>
          <a:lstStyle/>
          <a:p>
            <a:pPr algn="l">
              <a:lnSpc>
                <a:spcPts val="1560"/>
              </a:lnSpc>
            </a:pPr>
            <a:r>
              <a:rPr lang="en-US" sz="1300" dirty="0">
                <a:solidFill>
                  <a:srgbClr val="60757B"/>
                </a:solidFill>
                <a:latin typeface="Arial"/>
                <a:ea typeface="Arial"/>
                <a:cs typeface="Arial"/>
              </a:rPr>
              <a:t>Reverse strategy: 17.90% a year.</a:t>
            </a:r>
            <a:br>
              <a:rPr lang="en-US" sz="1300" dirty="0">
                <a:solidFill>
                  <a:srgbClr val="60757B"/>
                </a:solidFill>
                <a:latin typeface="Arial"/>
                <a:ea typeface="Arial"/>
                <a:cs typeface="Arial"/>
              </a:rPr>
            </a:br>
            <a:r>
              <a:rPr lang="en-US" sz="1300" dirty="0">
                <a:solidFill>
                  <a:srgbClr val="60757B"/>
                </a:solidFill>
                <a:latin typeface="Arial"/>
                <a:ea typeface="Arial"/>
                <a:cs typeface="Arial"/>
              </a:rPr>
              <a:t>Sharpe ratio: only 0.41.</a:t>
            </a:r>
            <a:br>
              <a:rPr lang="en-US" sz="1300" dirty="0">
                <a:solidFill>
                  <a:srgbClr val="60757B"/>
                </a:solidFill>
                <a:latin typeface="Arial"/>
                <a:ea typeface="Arial"/>
                <a:cs typeface="Arial"/>
              </a:rPr>
            </a:br>
            <a:r>
              <a:rPr lang="en-US" sz="1300" dirty="0">
                <a:solidFill>
                  <a:srgbClr val="60757B"/>
                </a:solidFill>
                <a:latin typeface="Arial"/>
                <a:ea typeface="Arial"/>
                <a:cs typeface="Arial"/>
              </a:rPr>
              <a:t>Exclude stocks below $5:</a:t>
            </a:r>
            <a:br>
              <a:rPr lang="en-US" sz="1300" dirty="0">
                <a:solidFill>
                  <a:srgbClr val="60757B"/>
                </a:solidFill>
                <a:latin typeface="Arial"/>
                <a:ea typeface="Arial"/>
                <a:cs typeface="Arial"/>
              </a:rPr>
            </a:br>
            <a:r>
              <a:rPr lang="en-US" sz="1300" dirty="0">
                <a:solidFill>
                  <a:srgbClr val="60757B"/>
                </a:solidFill>
                <a:latin typeface="Arial"/>
                <a:ea typeface="Arial"/>
                <a:cs typeface="Arial"/>
              </a:rPr>
              <a:t>Annualized return: -20.97%.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8"/>
        </a:solidFill>
        <a:effectLst/>
      </p:bgPr>
    </p:bg>
    <p:spTree>
      <p:nvGrpSpPr>
        <p:cNvPr id="1" name=""/>
        <p:cNvGrpSpPr/>
        <p:nvPr/>
      </p:nvGrpSpPr>
      <p:grpSpPr>
        <a:xfrm>
          <a:off x="0" y="0"/>
          <a:ext cx="0" cy="0"/>
          <a:chOff x="0" y="0"/>
          <a:chExt cx="0" cy="0"/>
        </a:xfrm>
      </p:grpSpPr>
      <p:sp>
        <p:nvSpPr>
          <p:cNvPr id="2" name="Text 0"/>
          <p:cNvSpPr/>
          <p:nvPr/>
        </p:nvSpPr>
        <p:spPr>
          <a:xfrm>
            <a:off x="594360" y="310896"/>
            <a:ext cx="6766560" cy="228600"/>
          </a:xfrm>
          <a:prstGeom prst="rect">
            <a:avLst/>
          </a:prstGeom>
          <a:noFill/>
          <a:ln>
            <a:noFill/>
          </a:ln>
        </p:spPr>
        <p:txBody>
          <a:bodyPr wrap="none" lIns="0" tIns="38100" rIns="0" bIns="0" anchor="t" anchorCtr="0">
            <a:noAutofit/>
          </a:bodyPr>
          <a:lstStyle/>
          <a:p>
            <a:pPr algn="l"/>
            <a:r>
              <a:rPr lang="en-US" sz="1000" b="1" spc="240" dirty="0">
                <a:solidFill>
                  <a:srgbClr val="087F83"/>
                </a:solidFill>
                <a:latin typeface="Arial"/>
                <a:ea typeface="Arial"/>
                <a:cs typeface="Arial"/>
              </a:rPr>
              <a:t>TAKEAWAYS · UNDERSTANDING AND EVALUATING ADVICE</a:t>
            </a:r>
          </a:p>
        </p:txBody>
      </p:sp>
      <p:sp>
        <p:nvSpPr>
          <p:cNvPr id="3" name="Text 1"/>
          <p:cNvSpPr/>
          <p:nvPr/>
        </p:nvSpPr>
        <p:spPr>
          <a:xfrm>
            <a:off x="10972800" y="283464"/>
            <a:ext cx="640080" cy="274320"/>
          </a:xfrm>
          <a:prstGeom prst="rect">
            <a:avLst/>
          </a:prstGeom>
          <a:noFill/>
          <a:ln/>
        </p:spPr>
        <p:txBody>
          <a:bodyPr wrap="square" lIns="0" tIns="0" rIns="0" bIns="0" rtlCol="0" anchor="ctr">
            <a:normAutofit/>
          </a:bodyPr>
          <a:lstStyle/>
          <a:p>
            <a:pPr marL="0" indent="0" algn="r">
              <a:buNone/>
            </a:pPr>
            <a:r>
              <a:rPr lang="en-US" sz="1100" b="1" dirty="0">
                <a:solidFill>
                  <a:srgbClr val="60757B"/>
                </a:solidFill>
                <a:latin typeface="Microsoft YaHei" pitchFamily="34" charset="0"/>
                <a:ea typeface="Microsoft YaHei" pitchFamily="34" charset="-122"/>
                <a:cs typeface="Microsoft YaHei" pitchFamily="34" charset="-120"/>
              </a:rPr>
              <a:t>06</a:t>
            </a:r>
            <a:endParaRPr lang="en-US" sz="1100" dirty="0"/>
          </a:p>
        </p:txBody>
      </p:sp>
      <p:sp>
        <p:nvSpPr>
          <p:cNvPr id="4" name="Shape 2"/>
          <p:cNvSpPr/>
          <p:nvPr/>
        </p:nvSpPr>
        <p:spPr>
          <a:xfrm>
            <a:off x="594360" y="6382512"/>
            <a:ext cx="11000232" cy="0"/>
          </a:xfrm>
          <a:prstGeom prst="line">
            <a:avLst/>
          </a:prstGeom>
          <a:noFill/>
          <a:ln w="10160">
            <a:solidFill>
              <a:srgbClr val="D7E4E6"/>
            </a:solidFill>
            <a:prstDash val="solid"/>
            <a:headEnd type="none"/>
            <a:tailEnd type="none"/>
          </a:ln>
        </p:spPr>
      </p:sp>
      <p:sp>
        <p:nvSpPr>
          <p:cNvPr id="5" name="Text 3"/>
          <p:cNvSpPr/>
          <p:nvPr/>
        </p:nvSpPr>
        <p:spPr>
          <a:xfrm>
            <a:off x="594360" y="6473952"/>
            <a:ext cx="9966960" cy="182880"/>
          </a:xfrm>
          <a:prstGeom prst="rect">
            <a:avLst/>
          </a:prstGeom>
          <a:noFill/>
          <a:ln>
            <a:noFill/>
          </a:ln>
        </p:spPr>
        <p:txBody>
          <a:bodyPr wrap="none" lIns="0" tIns="34290" rIns="0" bIns="0" anchor="t" anchorCtr="0">
            <a:noAutofit/>
          </a:bodyPr>
          <a:lstStyle/>
          <a:p>
            <a:pPr algn="l"/>
            <a:r>
              <a:rPr lang="en-US" sz="750" dirty="0">
                <a:solidFill>
                  <a:srgbClr val="60757B"/>
                </a:solidFill>
                <a:latin typeface="Arial"/>
                <a:ea typeface="Arial"/>
                <a:cs typeface="Arial"/>
              </a:rPr>
              <a:t>Sources: p. 5, Table 5; pp. 7–8, Section 5 / Table 7; p. 13, Table 10. Fintech implications are my synthesis; backtests use human labels.</a:t>
            </a:r>
          </a:p>
        </p:txBody>
      </p:sp>
      <p:sp>
        <p:nvSpPr>
          <p:cNvPr id="6" name="Text 4"/>
          <p:cNvSpPr/>
          <p:nvPr/>
        </p:nvSpPr>
        <p:spPr>
          <a:xfrm>
            <a:off x="594360" y="822960"/>
            <a:ext cx="10881360" cy="475488"/>
          </a:xfrm>
          <a:prstGeom prst="rect">
            <a:avLst/>
          </a:prstGeom>
          <a:noFill/>
          <a:ln>
            <a:noFill/>
          </a:ln>
        </p:spPr>
        <p:txBody>
          <a:bodyPr wrap="none" lIns="0" tIns="47244" rIns="0" bIns="0" anchor="t" anchorCtr="0">
            <a:noAutofit/>
          </a:bodyPr>
          <a:lstStyle/>
          <a:p>
            <a:pPr algn="l"/>
            <a:r>
              <a:rPr lang="en-US" sz="2500" b="1" dirty="0">
                <a:solidFill>
                  <a:srgbClr val="112B36"/>
                </a:solidFill>
                <a:latin typeface="Arial"/>
                <a:ea typeface="Arial"/>
                <a:cs typeface="Arial"/>
              </a:rPr>
              <a:t>Fintech value: extract recommendations and assess quality</a:t>
            </a:r>
          </a:p>
        </p:txBody>
      </p:sp>
      <p:sp>
        <p:nvSpPr>
          <p:cNvPr id="7" name="Shape 5"/>
          <p:cNvSpPr/>
          <p:nvPr/>
        </p:nvSpPr>
        <p:spPr>
          <a:xfrm>
            <a:off x="658368" y="1737360"/>
            <a:ext cx="3364992" cy="2487168"/>
          </a:xfrm>
          <a:prstGeom prst="roundRect">
            <a:avLst>
              <a:gd name="adj" fmla="val 2941"/>
            </a:avLst>
          </a:prstGeom>
          <a:solidFill>
            <a:srgbClr val="FFFFFF"/>
          </a:solidFill>
          <a:ln w="12700">
            <a:solidFill>
              <a:srgbClr val="D7E4E6"/>
            </a:solidFill>
            <a:prstDash val="solid"/>
          </a:ln>
        </p:spPr>
      </p:sp>
      <p:sp>
        <p:nvSpPr>
          <p:cNvPr id="8" name="Text 6"/>
          <p:cNvSpPr/>
          <p:nvPr/>
        </p:nvSpPr>
        <p:spPr>
          <a:xfrm>
            <a:off x="914400" y="2011680"/>
            <a:ext cx="594360" cy="347472"/>
          </a:xfrm>
          <a:prstGeom prst="rect">
            <a:avLst/>
          </a:prstGeom>
          <a:noFill/>
          <a:ln/>
        </p:spPr>
        <p:txBody>
          <a:bodyPr wrap="square" lIns="0" tIns="0" rIns="0" bIns="0" rtlCol="0" anchor="ctr">
            <a:normAutofit/>
          </a:bodyPr>
          <a:lstStyle/>
          <a:p>
            <a:pPr marL="0" indent="0">
              <a:buNone/>
            </a:pPr>
            <a:r>
              <a:rPr lang="en-US" sz="2000" b="1" dirty="0">
                <a:solidFill>
                  <a:srgbClr val="087F83"/>
                </a:solidFill>
                <a:latin typeface="Microsoft YaHei" pitchFamily="34" charset="0"/>
                <a:ea typeface="Microsoft YaHei" pitchFamily="34" charset="-122"/>
                <a:cs typeface="Microsoft YaHei" pitchFamily="34" charset="-120"/>
              </a:rPr>
              <a:t>01</a:t>
            </a:r>
            <a:endParaRPr lang="en-US" sz="2000" dirty="0"/>
          </a:p>
        </p:txBody>
      </p:sp>
      <p:sp>
        <p:nvSpPr>
          <p:cNvPr id="9" name="Text 7"/>
          <p:cNvSpPr/>
          <p:nvPr/>
        </p:nvSpPr>
        <p:spPr>
          <a:xfrm>
            <a:off x="914400" y="2670048"/>
            <a:ext cx="2852928" cy="365760"/>
          </a:xfrm>
          <a:prstGeom prst="rect">
            <a:avLst/>
          </a:prstGeom>
          <a:noFill/>
          <a:ln>
            <a:noFill/>
          </a:ln>
        </p:spPr>
        <p:txBody>
          <a:bodyPr wrap="none" lIns="0" tIns="30480" rIns="0" bIns="0" anchor="t" anchorCtr="0">
            <a:noAutofit/>
          </a:bodyPr>
          <a:lstStyle/>
          <a:p>
            <a:pPr algn="l"/>
            <a:r>
              <a:rPr lang="en-US" sz="2000" b="1" dirty="0">
                <a:solidFill>
                  <a:srgbClr val="112B36"/>
                </a:solidFill>
                <a:latin typeface="Arial"/>
                <a:ea typeface="Arial"/>
                <a:cs typeface="Arial"/>
              </a:rPr>
              <a:t>Structure content</a:t>
            </a:r>
          </a:p>
        </p:txBody>
      </p:sp>
      <p:sp>
        <p:nvSpPr>
          <p:cNvPr id="10" name="Text 8"/>
          <p:cNvSpPr/>
          <p:nvPr/>
        </p:nvSpPr>
        <p:spPr>
          <a:xfrm>
            <a:off x="914400" y="3319272"/>
            <a:ext cx="2852928" cy="640080"/>
          </a:xfrm>
          <a:prstGeom prst="rect">
            <a:avLst/>
          </a:prstGeom>
          <a:noFill/>
          <a:ln>
            <a:noFill/>
          </a:ln>
        </p:spPr>
        <p:txBody>
          <a:bodyPr wrap="none" lIns="0" tIns="12700" rIns="0" bIns="0" anchor="t" anchorCtr="0">
            <a:noAutofit/>
          </a:bodyPr>
          <a:lstStyle/>
          <a:p>
            <a:pPr algn="l">
              <a:lnSpc>
                <a:spcPts val="1560"/>
              </a:lnSpc>
            </a:pPr>
            <a:r>
              <a:rPr lang="en-US" sz="1300" dirty="0">
                <a:solidFill>
                  <a:srgbClr val="60757B"/>
                </a:solidFill>
                <a:latin typeface="Arial"/>
                <a:ea typeface="Arial"/>
                <a:cs typeface="Arial"/>
              </a:rPr>
              <a:t>Extract ticker, action, conviction;</a:t>
            </a:r>
            <a:br>
              <a:rPr lang="en-US" sz="1300" dirty="0">
                <a:solidFill>
                  <a:srgbClr val="60757B"/>
                </a:solidFill>
                <a:latin typeface="Arial"/>
                <a:ea typeface="Arial"/>
                <a:cs typeface="Arial"/>
              </a:rPr>
            </a:br>
            <a:r>
              <a:rPr lang="en-US" sz="1300" dirty="0">
                <a:solidFill>
                  <a:srgbClr val="60757B"/>
                </a:solidFill>
                <a:latin typeface="Arial"/>
                <a:ea typeface="Arial"/>
                <a:cs typeface="Arial"/>
              </a:rPr>
              <a:t>keep timestamps for comparison</a:t>
            </a:r>
            <a:br>
              <a:rPr lang="en-US" sz="1300" dirty="0">
                <a:solidFill>
                  <a:srgbClr val="60757B"/>
                </a:solidFill>
                <a:latin typeface="Arial"/>
                <a:ea typeface="Arial"/>
                <a:cs typeface="Arial"/>
              </a:rPr>
            </a:br>
            <a:r>
              <a:rPr lang="en-US" sz="1300" dirty="0">
                <a:solidFill>
                  <a:srgbClr val="60757B"/>
                </a:solidFill>
                <a:latin typeface="Arial"/>
                <a:ea typeface="Arial"/>
                <a:cs typeface="Arial"/>
              </a:rPr>
              <a:t>and traceability.</a:t>
            </a:r>
          </a:p>
        </p:txBody>
      </p:sp>
      <p:sp>
        <p:nvSpPr>
          <p:cNvPr id="11" name="Shape 9"/>
          <p:cNvSpPr/>
          <p:nvPr/>
        </p:nvSpPr>
        <p:spPr>
          <a:xfrm>
            <a:off x="4407408" y="1737360"/>
            <a:ext cx="3364992" cy="2487168"/>
          </a:xfrm>
          <a:prstGeom prst="roundRect">
            <a:avLst>
              <a:gd name="adj" fmla="val 2941"/>
            </a:avLst>
          </a:prstGeom>
          <a:solidFill>
            <a:srgbClr val="FFFFFF"/>
          </a:solidFill>
          <a:ln w="12700">
            <a:solidFill>
              <a:srgbClr val="D7E4E6"/>
            </a:solidFill>
            <a:prstDash val="solid"/>
          </a:ln>
        </p:spPr>
      </p:sp>
      <p:sp>
        <p:nvSpPr>
          <p:cNvPr id="12" name="Text 10"/>
          <p:cNvSpPr/>
          <p:nvPr/>
        </p:nvSpPr>
        <p:spPr>
          <a:xfrm>
            <a:off x="4663440" y="2011680"/>
            <a:ext cx="594360" cy="347472"/>
          </a:xfrm>
          <a:prstGeom prst="rect">
            <a:avLst/>
          </a:prstGeom>
          <a:noFill/>
          <a:ln/>
        </p:spPr>
        <p:txBody>
          <a:bodyPr wrap="square" lIns="0" tIns="0" rIns="0" bIns="0" rtlCol="0" anchor="ctr">
            <a:normAutofit/>
          </a:bodyPr>
          <a:lstStyle/>
          <a:p>
            <a:pPr marL="0" indent="0">
              <a:buNone/>
            </a:pPr>
            <a:r>
              <a:rPr lang="en-US" sz="2000" b="1" dirty="0">
                <a:solidFill>
                  <a:srgbClr val="F5A65B"/>
                </a:solidFill>
                <a:latin typeface="Microsoft YaHei" pitchFamily="34" charset="0"/>
                <a:ea typeface="Microsoft YaHei" pitchFamily="34" charset="-122"/>
                <a:cs typeface="Microsoft YaHei" pitchFamily="34" charset="-120"/>
              </a:rPr>
              <a:t>02</a:t>
            </a:r>
            <a:endParaRPr lang="en-US" sz="2000" dirty="0"/>
          </a:p>
        </p:txBody>
      </p:sp>
      <p:sp>
        <p:nvSpPr>
          <p:cNvPr id="13" name="Text 11"/>
          <p:cNvSpPr/>
          <p:nvPr/>
        </p:nvSpPr>
        <p:spPr>
          <a:xfrm>
            <a:off x="4663440" y="2670048"/>
            <a:ext cx="2852928" cy="365760"/>
          </a:xfrm>
          <a:prstGeom prst="rect">
            <a:avLst/>
          </a:prstGeom>
          <a:noFill/>
          <a:ln>
            <a:noFill/>
          </a:ln>
        </p:spPr>
        <p:txBody>
          <a:bodyPr wrap="none" lIns="0" tIns="30480" rIns="0" bIns="0" anchor="t" anchorCtr="0">
            <a:noAutofit/>
          </a:bodyPr>
          <a:lstStyle/>
          <a:p>
            <a:pPr algn="l"/>
            <a:r>
              <a:rPr lang="en-US" sz="2000" b="1" dirty="0">
                <a:solidFill>
                  <a:srgbClr val="112B36"/>
                </a:solidFill>
                <a:latin typeface="Arial"/>
                <a:ea typeface="Arial"/>
                <a:cs typeface="Arial"/>
              </a:rPr>
              <a:t>Assess advice</a:t>
            </a:r>
          </a:p>
        </p:txBody>
      </p:sp>
      <p:sp>
        <p:nvSpPr>
          <p:cNvPr id="14" name="Text 12"/>
          <p:cNvSpPr/>
          <p:nvPr/>
        </p:nvSpPr>
        <p:spPr>
          <a:xfrm>
            <a:off x="4663440" y="3319272"/>
            <a:ext cx="2852928" cy="640080"/>
          </a:xfrm>
          <a:prstGeom prst="rect">
            <a:avLst/>
          </a:prstGeom>
          <a:noFill/>
          <a:ln>
            <a:noFill/>
          </a:ln>
        </p:spPr>
        <p:txBody>
          <a:bodyPr wrap="none" lIns="0" tIns="12700" rIns="0" bIns="0" anchor="t" anchorCtr="0">
            <a:noAutofit/>
          </a:bodyPr>
          <a:lstStyle/>
          <a:p>
            <a:pPr algn="l">
              <a:lnSpc>
                <a:spcPts val="1560"/>
              </a:lnSpc>
            </a:pPr>
            <a:r>
              <a:rPr lang="en-US" sz="1300" dirty="0">
                <a:solidFill>
                  <a:srgbClr val="60757B"/>
                </a:solidFill>
                <a:latin typeface="Arial"/>
                <a:ea typeface="Arial"/>
                <a:cs typeface="Arial"/>
              </a:rPr>
              <a:t>Follow buys: 9.74% &lt; SPY: 11.28%.</a:t>
            </a:r>
            <a:br>
              <a:rPr lang="en-US" sz="1300" dirty="0">
                <a:solidFill>
                  <a:srgbClr val="60757B"/>
                </a:solidFill>
                <a:latin typeface="Arial"/>
                <a:ea typeface="Arial"/>
                <a:cs typeface="Arial"/>
              </a:rPr>
            </a:br>
            <a:r>
              <a:rPr lang="en-US" sz="1300" dirty="0">
                <a:solidFill>
                  <a:srgbClr val="60757B"/>
                </a:solidFill>
                <a:latin typeface="Arial"/>
                <a:ea typeface="Arial"/>
                <a:cs typeface="Arial"/>
              </a:rPr>
              <a:t>Stronger conviction does not</a:t>
            </a:r>
            <a:br>
              <a:rPr lang="en-US" sz="1300" dirty="0">
                <a:solidFill>
                  <a:srgbClr val="60757B"/>
                </a:solidFill>
                <a:latin typeface="Arial"/>
                <a:ea typeface="Arial"/>
                <a:cs typeface="Arial"/>
              </a:rPr>
            </a:br>
            <a:r>
              <a:rPr lang="en-US" sz="1300" dirty="0">
                <a:solidFill>
                  <a:srgbClr val="60757B"/>
                </a:solidFill>
                <a:latin typeface="Arial"/>
                <a:ea typeface="Arial"/>
                <a:cs typeface="Arial"/>
              </a:rPr>
              <a:t>guarantee higher returns.</a:t>
            </a:r>
          </a:p>
        </p:txBody>
      </p:sp>
      <p:sp>
        <p:nvSpPr>
          <p:cNvPr id="15" name="Shape 13"/>
          <p:cNvSpPr/>
          <p:nvPr/>
        </p:nvSpPr>
        <p:spPr>
          <a:xfrm>
            <a:off x="8156448" y="1737360"/>
            <a:ext cx="3364992" cy="2487168"/>
          </a:xfrm>
          <a:prstGeom prst="roundRect">
            <a:avLst>
              <a:gd name="adj" fmla="val 2941"/>
            </a:avLst>
          </a:prstGeom>
          <a:solidFill>
            <a:srgbClr val="FFFFFF"/>
          </a:solidFill>
          <a:ln w="12700">
            <a:solidFill>
              <a:srgbClr val="D7E4E6"/>
            </a:solidFill>
            <a:prstDash val="solid"/>
          </a:ln>
        </p:spPr>
      </p:sp>
      <p:sp>
        <p:nvSpPr>
          <p:cNvPr id="16" name="Text 14"/>
          <p:cNvSpPr/>
          <p:nvPr/>
        </p:nvSpPr>
        <p:spPr>
          <a:xfrm>
            <a:off x="8412480" y="2011680"/>
            <a:ext cx="594360" cy="347472"/>
          </a:xfrm>
          <a:prstGeom prst="rect">
            <a:avLst/>
          </a:prstGeom>
          <a:noFill/>
          <a:ln/>
        </p:spPr>
        <p:txBody>
          <a:bodyPr wrap="square" lIns="0" tIns="0" rIns="0" bIns="0" rtlCol="0" anchor="ctr">
            <a:normAutofit/>
          </a:bodyPr>
          <a:lstStyle/>
          <a:p>
            <a:pPr marL="0" indent="0">
              <a:buNone/>
            </a:pPr>
            <a:r>
              <a:rPr lang="en-US" sz="2000" b="1" dirty="0">
                <a:solidFill>
                  <a:srgbClr val="F26B5B"/>
                </a:solidFill>
                <a:latin typeface="Microsoft YaHei" pitchFamily="34" charset="0"/>
                <a:ea typeface="Microsoft YaHei" pitchFamily="34" charset="-122"/>
                <a:cs typeface="Microsoft YaHei" pitchFamily="34" charset="-120"/>
              </a:rPr>
              <a:t>03</a:t>
            </a:r>
            <a:endParaRPr lang="en-US" sz="2000" dirty="0"/>
          </a:p>
        </p:txBody>
      </p:sp>
      <p:sp>
        <p:nvSpPr>
          <p:cNvPr id="17" name="Text 15"/>
          <p:cNvSpPr/>
          <p:nvPr/>
        </p:nvSpPr>
        <p:spPr>
          <a:xfrm>
            <a:off x="8412480" y="2670048"/>
            <a:ext cx="2852928" cy="365760"/>
          </a:xfrm>
          <a:prstGeom prst="rect">
            <a:avLst/>
          </a:prstGeom>
          <a:noFill/>
          <a:ln>
            <a:noFill/>
          </a:ln>
        </p:spPr>
        <p:txBody>
          <a:bodyPr wrap="none" lIns="0" tIns="30480" rIns="0" bIns="0" anchor="t" anchorCtr="0">
            <a:noAutofit/>
          </a:bodyPr>
          <a:lstStyle/>
          <a:p>
            <a:pPr algn="l"/>
            <a:r>
              <a:rPr lang="en-US" sz="2000" b="1" dirty="0">
                <a:solidFill>
                  <a:srgbClr val="112B36"/>
                </a:solidFill>
                <a:latin typeface="Arial"/>
                <a:ea typeface="Arial"/>
                <a:cs typeface="Arial"/>
              </a:rPr>
              <a:t>Check robustness</a:t>
            </a:r>
          </a:p>
        </p:txBody>
      </p:sp>
      <p:sp>
        <p:nvSpPr>
          <p:cNvPr id="18" name="Text 16"/>
          <p:cNvSpPr/>
          <p:nvPr/>
        </p:nvSpPr>
        <p:spPr>
          <a:xfrm>
            <a:off x="8412480" y="3319272"/>
            <a:ext cx="2852928" cy="640080"/>
          </a:xfrm>
          <a:prstGeom prst="rect">
            <a:avLst/>
          </a:prstGeom>
          <a:noFill/>
          <a:ln>
            <a:noFill/>
          </a:ln>
        </p:spPr>
        <p:txBody>
          <a:bodyPr wrap="none" lIns="0" tIns="12700" rIns="0" bIns="0" anchor="t" anchorCtr="0">
            <a:noAutofit/>
          </a:bodyPr>
          <a:lstStyle/>
          <a:p>
            <a:pPr algn="l">
              <a:lnSpc>
                <a:spcPts val="1560"/>
              </a:lnSpc>
            </a:pPr>
            <a:r>
              <a:rPr lang="en-US" sz="1300" dirty="0">
                <a:solidFill>
                  <a:srgbClr val="60757B"/>
                </a:solidFill>
                <a:latin typeface="Arial"/>
                <a:ea typeface="Arial"/>
                <a:cs typeface="Arial"/>
              </a:rPr>
              <a:t>The reverse strategy is sensitive</a:t>
            </a:r>
            <a:br>
              <a:rPr lang="en-US" sz="1300" dirty="0">
                <a:solidFill>
                  <a:srgbClr val="60757B"/>
                </a:solidFill>
                <a:latin typeface="Arial"/>
                <a:ea typeface="Arial"/>
                <a:cs typeface="Arial"/>
              </a:rPr>
            </a:br>
            <a:r>
              <a:rPr lang="en-US" sz="1300" dirty="0">
                <a:solidFill>
                  <a:srgbClr val="60757B"/>
                </a:solidFill>
                <a:latin typeface="Arial"/>
                <a:ea typeface="Arial"/>
                <a:cs typeface="Arial"/>
              </a:rPr>
              <a:t>to low-priced stocks. Check risk</a:t>
            </a:r>
            <a:br>
              <a:rPr lang="en-US" sz="1300" dirty="0">
                <a:solidFill>
                  <a:srgbClr val="60757B"/>
                </a:solidFill>
                <a:latin typeface="Arial"/>
                <a:ea typeface="Arial"/>
                <a:cs typeface="Arial"/>
              </a:rPr>
            </a:br>
            <a:r>
              <a:rPr lang="en-US" sz="1300" dirty="0">
                <a:solidFill>
                  <a:srgbClr val="60757B"/>
                </a:solidFill>
                <a:latin typeface="Arial"/>
                <a:ea typeface="Arial"/>
                <a:cs typeface="Arial"/>
              </a:rPr>
              <a:t>and sample sensitivity.</a:t>
            </a:r>
          </a:p>
        </p:txBody>
      </p:sp>
      <p:sp>
        <p:nvSpPr>
          <p:cNvPr id="19" name="Shape 17"/>
          <p:cNvSpPr/>
          <p:nvPr/>
        </p:nvSpPr>
        <p:spPr>
          <a:xfrm>
            <a:off x="658368" y="4736592"/>
            <a:ext cx="10863072" cy="932688"/>
          </a:xfrm>
          <a:prstGeom prst="roundRect">
            <a:avLst>
              <a:gd name="adj" fmla="val 7843"/>
            </a:avLst>
          </a:prstGeom>
          <a:solidFill>
            <a:srgbClr val="163D55"/>
          </a:solidFill>
          <a:ln w="12700">
            <a:solidFill>
              <a:srgbClr val="163D55">
                <a:alpha val="0"/>
              </a:srgbClr>
            </a:solidFill>
            <a:prstDash val="solid"/>
          </a:ln>
        </p:spPr>
      </p:sp>
      <p:sp>
        <p:nvSpPr>
          <p:cNvPr id="20" name="Text 18"/>
          <p:cNvSpPr/>
          <p:nvPr/>
        </p:nvSpPr>
        <p:spPr>
          <a:xfrm>
            <a:off x="1005840" y="4974336"/>
            <a:ext cx="10168128" cy="420624"/>
          </a:xfrm>
          <a:prstGeom prst="rect">
            <a:avLst/>
          </a:prstGeom>
          <a:noFill/>
          <a:ln>
            <a:noFill/>
          </a:ln>
        </p:spPr>
        <p:txBody>
          <a:bodyPr wrap="none" lIns="0" tIns="19812" rIns="0" bIns="0" anchor="t" anchorCtr="0">
            <a:noAutofit/>
          </a:bodyPr>
          <a:lstStyle/>
          <a:p>
            <a:pPr algn="ctr"/>
            <a:r>
              <a:rPr lang="en-US" sz="2500" b="1" dirty="0">
                <a:solidFill>
                  <a:srgbClr val="FFFFFF"/>
                </a:solidFill>
                <a:latin typeface="Arial"/>
                <a:ea typeface="Arial"/>
                <a:cs typeface="Arial"/>
              </a:rPr>
              <a:t>Sounding certain does not make advice worth investing 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1011</Words>
  <Application>Microsoft Office PowerPoint</Application>
  <PresentationFormat>宽屏</PresentationFormat>
  <Paragraphs>90</Paragraphs>
  <Slides>6</Slides>
  <Notes>6</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6</vt:i4>
      </vt:variant>
    </vt:vector>
  </HeadingPairs>
  <TitlesOfParts>
    <vt:vector size="9" baseType="lpstr">
      <vt:lpstr>Microsoft YaHei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VideoConviction: A Multimodal Benchmark for Human Conviction and Stock Market Recommendations</dc:title>
  <dc:subject>VideoConviction：金融科技课程论文汇报</dc:subject>
  <dc:creator>Codex</dc:creator>
  <cp:lastModifiedBy>syys yssy</cp:lastModifiedBy>
  <cp:revision>3</cp:revision>
  <dcterms:created xsi:type="dcterms:W3CDTF">2026-10-18T04:31:49Z</dcterms:created>
  <dcterms:modified xsi:type="dcterms:W3CDTF">2026-10-20T05:01:06Z</dcterms:modified>
</cp:coreProperties>
</file>