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fd048c6fb8465f" /><Relationship Type="http://schemas.openxmlformats.org/officeDocument/2006/relationships/extended-properties" Target="/docProps/app.xml" Id="R8baf9371d7104808" /><Relationship Type="http://schemas.openxmlformats.org/officeDocument/2006/relationships/officeDocument" Target="/ppt/presentation.xml" Id="Rcefe50d8ff3f4508" /></Relationships>
</file>

<file path=ppt/presentation.xml><?xml version="1.0" encoding="utf-8"?>
<p:presentation xmlns:p="http://schemas.openxmlformats.org/presentationml/2006/main">
  <p:sldMasterIdLst>
    <p:sldMasterId xmlns:r="http://schemas.openxmlformats.org/officeDocument/2006/relationships" id="2147483648" r:id="Rded18d278c4b42e4"/>
  </p:sldMasterIdLst>
  <p:notesMasterIdLst>
    <p:notesMasterId xmlns:r="http://schemas.openxmlformats.org/officeDocument/2006/relationships" r:id="R9e22630dd3e24307"/>
  </p:notesMasterIdLst>
  <p:sldIdLst>
    <p:sldId xmlns:r="http://schemas.openxmlformats.org/officeDocument/2006/relationships" id="256" r:id="R0fc0f1fcb1e14929"/>
    <p:sldId xmlns:r="http://schemas.openxmlformats.org/officeDocument/2006/relationships" id="257" r:id="R34a1e11d13824520"/>
    <p:sldId xmlns:r="http://schemas.openxmlformats.org/officeDocument/2006/relationships" id="258" r:id="R4c640b2559084f7d"/>
    <p:sldId xmlns:r="http://schemas.openxmlformats.org/officeDocument/2006/relationships" id="259" r:id="Red0a43d8a0234f07"/>
    <p:sldId xmlns:r="http://schemas.openxmlformats.org/officeDocument/2006/relationships" id="260" r:id="Rc016df68404d4743"/>
    <p:sldId xmlns:r="http://schemas.openxmlformats.org/officeDocument/2006/relationships" id="261" r:id="Rf71ad82004c140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c21eed71eb45bb" /><Relationship Type="http://schemas.openxmlformats.org/officeDocument/2006/relationships/slideMaster" Target="/ppt/slideMasters/slideMaster1.xml" Id="Rded18d278c4b42e4" /><Relationship Type="http://schemas.openxmlformats.org/officeDocument/2006/relationships/notesMaster" Target="/ppt/notesMasters/notesMaster1.xml" Id="R9e22630dd3e24307" /><Relationship Type="http://schemas.openxmlformats.org/officeDocument/2006/relationships/presProps" Target="/ppt/presProps.xml" Id="R6d3e8b5dbabc4852" /><Relationship Type="http://schemas.openxmlformats.org/officeDocument/2006/relationships/tableStyles" Target="/ppt/tableStyles.xml" Id="R6a27f61d3cef4975" /><Relationship Type="http://schemas.openxmlformats.org/officeDocument/2006/relationships/slide" Target="/ppt/slides/slide1.xml" Id="R0fc0f1fcb1e14929" /><Relationship Type="http://schemas.openxmlformats.org/officeDocument/2006/relationships/slide" Target="/ppt/slides/slide2.xml" Id="R34a1e11d13824520" /><Relationship Type="http://schemas.openxmlformats.org/officeDocument/2006/relationships/slide" Target="/ppt/slides/slide3.xml" Id="R4c640b2559084f7d" /><Relationship Type="http://schemas.openxmlformats.org/officeDocument/2006/relationships/slide" Target="/ppt/slides/slide4.xml" Id="Red0a43d8a0234f07" /><Relationship Type="http://schemas.openxmlformats.org/officeDocument/2006/relationships/slide" Target="/ppt/slides/slide5.xml" Id="Rc016df68404d4743" /><Relationship Type="http://schemas.openxmlformats.org/officeDocument/2006/relationships/slide" Target="/ppt/slides/slide6.xml" Id="Rf71ad82004c140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fc752f718e4a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011ee46a3147bb" /><Relationship Type="http://schemas.openxmlformats.org/officeDocument/2006/relationships/notesMaster" Target="/ppt/notesMasters/notesMaster1.xml" Id="R7aaaa4fd468d4a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f3009fb2c942c5" /><Relationship Type="http://schemas.openxmlformats.org/officeDocument/2006/relationships/notesMaster" Target="/ppt/notesMasters/notesMaster1.xml" Id="Reb569042894b47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0e5af107d64d12" /><Relationship Type="http://schemas.openxmlformats.org/officeDocument/2006/relationships/notesMaster" Target="/ppt/notesMasters/notesMaster1.xml" Id="R605bf4111e2e4b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32bc84e520484a" /><Relationship Type="http://schemas.openxmlformats.org/officeDocument/2006/relationships/notesMaster" Target="/ppt/notesMasters/notesMaster1.xml" Id="R712179d32af74d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7cb5141d0a4dfc" /><Relationship Type="http://schemas.openxmlformats.org/officeDocument/2006/relationships/notesMaster" Target="/ppt/notesMasters/notesMaster1.xml" Id="R5c993ab6e65348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5e98cfb4b34b6d" /><Relationship Type="http://schemas.openxmlformats.org/officeDocument/2006/relationships/notesMaster" Target="/ppt/notesMasters/notesMaster1.xml" Id="R5804a6d7091c48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
            </a:r>
          </a:p>
          <a:p xmlns:a="http://schemas.openxmlformats.org/drawingml/2006/main">
            <a:r>
              <a:t>ENGLISH</a:t>
            </a:r>
          </a:p>
          <a:p xmlns:a="http://schemas.openxmlformats.org/drawingml/2006/main">
            <a:r>
              <a:t>Today I will present The Role of Technology in Mortgage Lending, by Fuster and his coauthors. This paper studies a practical FinTech question: can digital mortgage lenders improve the lending process? I use the publicly available 2018 New York Fed working paper.</a:t>
            </a:r>
          </a:p>
          <a:p xmlns:a="http://schemas.openxmlformats.org/drawingml/2006/main">
            <a:r>
              <a:t/>
            </a:r>
          </a:p>
          <a:p xmlns:a="http://schemas.openxmlformats.org/drawingml/2006/main">
            <a:r>
              <a:t>中文理解稿</a:t>
            </a:r>
          </a:p>
          <a:p xmlns:a="http://schemas.openxmlformats.org/drawingml/2006/main">
            <a:r>
              <a:t>今天我介绍 Fuster 等人的《技术在住房抵押贷款中的作用》。论文讨论一个很实际的金融科技问题：数字化房贷机构能否改善贷款办理流程？这里使用的是纽约联储公开提供的 2018 年工作论文。</a:t>
            </a:r>
          </a:p>
          <a:p xmlns:a="http://schemas.openxmlformats.org/drawingml/2006/main">
            <a:r>
              <a:t/>
            </a:r>
          </a:p>
          <a:p xmlns:a="http://schemas.openxmlformats.org/drawingml/2006/main">
            <a:r>
              <a:t>SOURCE</a:t>
            </a:r>
          </a:p>
          <a:p xmlns:a="http://schemas.openxmlformats.org/drawingml/2006/main">
            <a:r>
              <a:t>Fuster, Andreas; Plosser, Matthew; Schnabl, Philipp; Vickery, James (2018). The Role of Technology in Mortgage Lending. Federal Reserve Bank of New York Staff Report No. 836.</a:t>
            </a:r>
          </a:p>
          <a:p xmlns:a="http://schemas.openxmlformats.org/drawingml/2006/main">
            <a:r>
              <a:t>https://www.newyorkfed.org/medialibrary/media/research/staff_reports/sr836.pdf</a:t>
            </a:r>
          </a:p>
          <a:p xmlns:a="http://schemas.openxmlformats.org/drawingml/2006/main">
            <a:r>
              <a:t>Evidence location: Title and abstract, PDF pp. 1–2.</a:t>
            </a:r>
          </a:p>
          <a:p xmlns:a="http://schemas.openxmlformats.org/drawingml/2006/main">
            <a:r>
              <a:t>All reported numbers refer to this working-paper version. Numerical findings are estimates, not guaranteed effects for individual loans.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25 seconds</a:t>
            </a:r>
          </a:p>
          <a:p xmlns:a="http://schemas.openxmlformats.org/drawingml/2006/main">
            <a:r>
              <a:t/>
            </a:r>
          </a:p>
          <a:p xmlns:a="http://schemas.openxmlformats.org/drawingml/2006/main">
            <a:r>
              <a:t>ENGLISH</a:t>
            </a:r>
          </a:p>
          <a:p xmlns:a="http://schemas.openxmlformats.org/drawingml/2006/main">
            <a:r>
              <a:t>Mortgage applications can take weeks and become slower when demand rises. The authors study lenders with online applications and centralized processing. Their market share grew from two to eight percent between 2010 and 2016. The question is whether digital lending improves efficiency, and whether faster lending increases credit risk.</a:t>
            </a:r>
          </a:p>
          <a:p xmlns:a="http://schemas.openxmlformats.org/drawingml/2006/main">
            <a:r>
              <a:t/>
            </a:r>
          </a:p>
          <a:p xmlns:a="http://schemas.openxmlformats.org/drawingml/2006/main">
            <a:r>
              <a:t>中文理解稿</a:t>
            </a:r>
          </a:p>
          <a:p xmlns:a="http://schemas.openxmlformats.org/drawingml/2006/main">
            <a:r>
              <a:t>房贷申请需要收集文件、核查借款人信息，整个流程往往持续数周，申请量上升时还会变慢。作者研究了采用线上申请和集中处理的机构。2010 至 2016 年，它们的市场份额从 2% 增至 8%。研究要回答的是：这种增长是否伴随着效率改善？更快办理是否会增加信用风险？</a:t>
            </a:r>
          </a:p>
          <a:p xmlns:a="http://schemas.openxmlformats.org/drawingml/2006/main">
            <a:r>
              <a:t/>
            </a:r>
          </a:p>
          <a:p xmlns:a="http://schemas.openxmlformats.org/drawingml/2006/main">
            <a:r>
              <a:t>SOURCE</a:t>
            </a:r>
          </a:p>
          <a:p xmlns:a="http://schemas.openxmlformats.org/drawingml/2006/main">
            <a:r>
              <a:t>Fuster, Andreas; Plosser, Matthew; Schnabl, Philipp; Vickery, James (2018). The Role of Technology in Mortgage Lending. Federal Reserve Bank of New York Staff Report No. 836.</a:t>
            </a:r>
          </a:p>
          <a:p xmlns:a="http://schemas.openxmlformats.org/drawingml/2006/main">
            <a:r>
              <a:t>https://www.newyorkfed.org/medialibrary/media/research/staff_reports/sr836.pdf</a:t>
            </a:r>
          </a:p>
          <a:p xmlns:a="http://schemas.openxmlformats.org/drawingml/2006/main">
            <a:r>
              <a:t>Evidence location: Section I, printed pp. 1–2; Section II.A–B, pp. 6–9.</a:t>
            </a:r>
          </a:p>
          <a:p xmlns:a="http://schemas.openxmlformats.org/drawingml/2006/main">
            <a:r>
              <a:t>All reported numbers refer to this working-paper version. Numerical findings are estimates, not guaranteed effects for individual loans.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ENGLISH</a:t>
            </a:r>
          </a:p>
          <a:p xmlns:a="http://schemas.openxmlformats.org/drawingml/2006/main">
            <a:r>
              <a:t>The authors use U.S. loan-level mortgage data from 2010 to 2016. They compare lenders while controlling for borrower and loan characteristics, plus local conditions in the same month. Processing time means days from application to closing. Comparing FinTech lenders with other nonbanks helps address regulatory differences. Separate FHA data measure defaults. Nationwide application volume helps test responses to demand shocks. These are observational comparisons, so unmeasured differences may still matter.</a:t>
            </a:r>
          </a:p>
          <a:p xmlns:a="http://schemas.openxmlformats.org/drawingml/2006/main">
            <a:r>
              <a:t/>
            </a:r>
          </a:p>
          <a:p xmlns:a="http://schemas.openxmlformats.org/drawingml/2006/main">
            <a:r>
              <a:t>中文理解稿</a:t>
            </a:r>
          </a:p>
          <a:p xmlns:a="http://schemas.openxmlformats.org/drawingml/2006/main">
            <a:r>
              <a:t>作者使用了 2010 至 2016 年美国逐笔房贷数据。比较金融科技机构和传统机构时，控制借款人、贷款特征，以及同一月份当地的情况。处理时间指从提交申请到贷款完成的天数。作者还仅在非银行机构之间比较，以减少银行监管差异的影响。违约分析另用 FHA 房贷数据。最后，通过全国申请量的变化研究机构如何应对需求冲击。这仍是观察性研究，未观测到的差异可能影响结论。</a:t>
            </a:r>
          </a:p>
          <a:p xmlns:a="http://schemas.openxmlformats.org/drawingml/2006/main">
            <a:r>
              <a:t/>
            </a:r>
          </a:p>
          <a:p xmlns:a="http://schemas.openxmlformats.org/drawingml/2006/main">
            <a:r>
              <a:t>SOURCE</a:t>
            </a:r>
          </a:p>
          <a:p xmlns:a="http://schemas.openxmlformats.org/drawingml/2006/main">
            <a:r>
              <a:t>Fuster, Andreas; Plosser, Matthew; Schnabl, Philipp; Vickery, James (2018). The Role of Technology in Mortgage Lending. Federal Reserve Bank of New York Staff Report No. 836.</a:t>
            </a:r>
          </a:p>
          <a:p xmlns:a="http://schemas.openxmlformats.org/drawingml/2006/main">
            <a:r>
              <a:t>https://www.newyorkfed.org/medialibrary/media/research/staff_reports/sr836.pdf</a:t>
            </a:r>
          </a:p>
          <a:p xmlns:a="http://schemas.openxmlformats.org/drawingml/2006/main">
            <a:r>
              <a:t>Evidence location: Sections II.B and III, printed pp. 8–14; IV, pp. 14–18; V, pp. 19–24.</a:t>
            </a:r>
          </a:p>
          <a:p xmlns:a="http://schemas.openxmlformats.org/drawingml/2006/main">
            <a:r>
              <a:t>All reported numbers refer to this working-paper version. Numerical findings are estimates, not guaranteed effects for individual loans.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ENGLISH</a:t>
            </a:r>
          </a:p>
          <a:p xmlns:a="http://schemas.openxmlformats.org/drawingml/2006/main">
            <a:r>
              <a:t>The first result is faster processing. FinTech lenders take about twenty percent less time, roughly ten fewer days. The advantage is larger for refinancing than for home purchases. Importantly, faster processing does not coincide with higher defaults in the FHA mortgage samples. This supports the idea that technology improves processing efficiency. However, the default evidence concerns a particular mortgage segment and the period studied. It does not show that every digital loan is safer.</a:t>
            </a:r>
          </a:p>
          <a:p xmlns:a="http://schemas.openxmlformats.org/drawingml/2006/main">
            <a:r>
              <a:t/>
            </a:r>
          </a:p>
          <a:p xmlns:a="http://schemas.openxmlformats.org/drawingml/2006/main">
            <a:r>
              <a:t>中文理解稿</a:t>
            </a:r>
          </a:p>
          <a:p xmlns:a="http://schemas.openxmlformats.org/drawingml/2006/main">
            <a:r>
              <a:t>第一个结果是处理速度更快。金融科技机构的办理时间约缩短 20%，相当于少约 10 天。优势在再融资贷款中更明显。在 FHA 房贷样本中，作者也没有发现更快办理伴随更高违约率。这支持技术改善处理效率的解释。不过，违约证据只覆盖特定房贷市场和研究时期，不能推出所有数字贷款都更安全。</a:t>
            </a:r>
          </a:p>
          <a:p xmlns:a="http://schemas.openxmlformats.org/drawingml/2006/main">
            <a:r>
              <a:t/>
            </a:r>
          </a:p>
          <a:p xmlns:a="http://schemas.openxmlformats.org/drawingml/2006/main">
            <a:r>
              <a:t>SOURCE</a:t>
            </a:r>
          </a:p>
          <a:p xmlns:a="http://schemas.openxmlformats.org/drawingml/2006/main">
            <a:r>
              <a:t>Fuster, Andreas; Plosser, Matthew; Schnabl, Philipp; Vickery, James (2018). The Role of Technology in Mortgage Lending. Federal Reserve Bank of New York Staff Report No. 836.</a:t>
            </a:r>
          </a:p>
          <a:p xmlns:a="http://schemas.openxmlformats.org/drawingml/2006/main">
            <a:r>
              <a:t>https://www.newyorkfed.org/medialibrary/media/research/staff_reports/sr836.pdf</a:t>
            </a:r>
          </a:p>
          <a:p xmlns:a="http://schemas.openxmlformats.org/drawingml/2006/main">
            <a:r>
              <a:t>Evidence location: Introduction, printed pp. 2–3; Sections III–IV, pp. 10–18; Tables 3–5.</a:t>
            </a:r>
          </a:p>
          <a:p xmlns:a="http://schemas.openxmlformats.org/drawingml/2006/main">
            <a:r>
              <a:t>All reported numbers refer to this working-paper version. Numerical findings are estimates, not guaranteed effects for individual loans.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ENGLISH</a:t>
            </a:r>
          </a:p>
          <a:p xmlns:a="http://schemas.openxmlformats.org/drawingml/2006/main">
            <a:r>
              <a:t>The second result concerns capacity. When nationwide application volume doubles, the estimates imply an extra thirteen point five processing days for traditional lenders, compared with seven point five days for FinTech lenders. The six-day gap suggests smaller bottlenecks for digital lenders during demand surges. The chart shows additional delay, rather than total processing time. Centralized and partly automated operations offer a plausible explanation.</a:t>
            </a:r>
          </a:p>
          <a:p xmlns:a="http://schemas.openxmlformats.org/drawingml/2006/main">
            <a:r>
              <a:t/>
            </a:r>
          </a:p>
          <a:p xmlns:a="http://schemas.openxmlformats.org/drawingml/2006/main">
            <a:r>
              <a:t>中文理解稿</a:t>
            </a:r>
          </a:p>
          <a:p xmlns:a="http://schemas.openxmlformats.org/drawingml/2006/main">
            <a:r>
              <a:t>第二个结果是应对申请高峰的能力。全国申请量翻倍时，估计显示传统机构的处理时间增加 13.5 天，金融科技机构增加 7.5 天，少增加 6 天。这说明数字化机构面对需求上升时，处理瓶颈较小。图里展示的是额外增加的时间，不是总办理时间。集中化和部分自动化的流程是一种合理解释。</a:t>
            </a:r>
          </a:p>
          <a:p xmlns:a="http://schemas.openxmlformats.org/drawingml/2006/main">
            <a:r>
              <a:t/>
            </a:r>
          </a:p>
          <a:p xmlns:a="http://schemas.openxmlformats.org/drawingml/2006/main">
            <a:r>
              <a:t>SOURCE</a:t>
            </a:r>
          </a:p>
          <a:p xmlns:a="http://schemas.openxmlformats.org/drawingml/2006/main">
            <a:r>
              <a:t>Fuster, Andreas; Plosser, Matthew; Schnabl, Philipp; Vickery, James (2018). The Role of Technology in Mortgage Lending. Federal Reserve Bank of New York Staff Report No. 836.</a:t>
            </a:r>
          </a:p>
          <a:p xmlns:a="http://schemas.openxmlformats.org/drawingml/2006/main">
            <a:r>
              <a:t>https://www.newyorkfed.org/medialibrary/media/research/staff_reports/sr836.pdf</a:t>
            </a:r>
          </a:p>
          <a:p xmlns:a="http://schemas.openxmlformats.org/drawingml/2006/main">
            <a:r>
              <a:t>Evidence location: Introduction, printed p. 3; Section V, pp. 19–24; Table 6.</a:t>
            </a:r>
          </a:p>
          <a:p xmlns:a="http://schemas.openxmlformats.org/drawingml/2006/main">
            <a:r>
              <a:t>All reported numbers refer to this working-paper version. Numerical findings are estimates, not guaranteed effects for individual loans.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ENGLISH</a:t>
            </a:r>
          </a:p>
          <a:p xmlns:a="http://schemas.openxmlformats.org/drawingml/2006/main">
            <a:r>
              <a:t>My takeaway is that FinTech can improve mortgage processing and help lenders handle demand more smoothly. But the paper finds little evidence of better access for underserved borrowers. The comparisons cannot completely isolate technology from borrower selection or other firm differences. These historical U.S. results may not generalize to other markets. A useful lesson is to evaluate actual lending outcomes alongside digital adoption. Thank you.</a:t>
            </a:r>
          </a:p>
          <a:p xmlns:a="http://schemas.openxmlformats.org/drawingml/2006/main">
            <a:r>
              <a:t/>
            </a:r>
          </a:p>
          <a:p xmlns:a="http://schemas.openxmlformats.org/drawingml/2006/main">
            <a:r>
              <a:t>中文理解稿</a:t>
            </a:r>
          </a:p>
          <a:p xmlns:a="http://schemas.openxmlformats.org/drawingml/2006/main">
            <a:r>
              <a:t>我的总结是，金融科技可以提高房贷处理效率，并帮助机构更平稳地应对需求增长。但论文没有发现这些机构明显更能覆盖信贷机会不足的人群。比较分析也无法完全区分技术、借款人选择和机构其他差异的影响。因此，推广到其他市场时需要注意美国历史样本的边界。评价金融科技时，除了看数字化采用率，也要看实际贷款结果。谢谢。</a:t>
            </a:r>
          </a:p>
          <a:p xmlns:a="http://schemas.openxmlformats.org/drawingml/2006/main">
            <a:r>
              <a:t/>
            </a:r>
          </a:p>
          <a:p xmlns:a="http://schemas.openxmlformats.org/drawingml/2006/main">
            <a:r>
              <a:t>SOURCE</a:t>
            </a:r>
          </a:p>
          <a:p xmlns:a="http://schemas.openxmlformats.org/drawingml/2006/main">
            <a:r>
              <a:t>Fuster, Andreas; Plosser, Matthew; Schnabl, Philipp; Vickery, James (2018). The Role of Technology in Mortgage Lending. Federal Reserve Bank of New York Staff Report No. 836.</a:t>
            </a:r>
          </a:p>
          <a:p xmlns:a="http://schemas.openxmlformats.org/drawingml/2006/main">
            <a:r>
              <a:t>https://www.newyorkfed.org/medialibrary/media/research/staff_reports/sr836.pdf</a:t>
            </a:r>
          </a:p>
          <a:p xmlns:a="http://schemas.openxmlformats.org/drawingml/2006/main">
            <a:r>
              <a:t>Evidence location: Introduction, printed pp. 4–5; Sections VI–VIII, pp. 24–34.</a:t>
            </a:r>
          </a:p>
          <a:p xmlns:a="http://schemas.openxmlformats.org/drawingml/2006/main">
            <a:r>
              <a:t>All reported numbers refer to this working-paper version. Numerical findings are estimates, not guaranteed effects for individual loans.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26f0360f7240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520caaeec644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0ec64a042c47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7732f21f5f42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76ed7d407341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ac70c283aa4a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E14CD5-B75D-4547-A496-AC72AE654D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CEC450-B2FF-435B-AE36-922C38F15D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10EDEB-86C7-433A-869F-FB70A64257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B8E914-6147-4A7A-838E-59F3839163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1230A3-A961-485F-9E16-957363B50C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E47867-61B2-4DE4-A9FA-68F362BFAA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AE8DE5-0603-47A4-B21F-94E4F35924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0F074F-E97A-4AD9-A528-3FF601125EA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2E7F9-0352-47CE-A871-89307F4270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F6E417-A208-4A9F-A1AA-ED06C28DC8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31f8a5e3c64026" /><Relationship Type="http://schemas.openxmlformats.org/officeDocument/2006/relationships/slideLayout" Target="/ppt/slideLayouts/slideLayout1.xml" Id="R8e5936ca93114e02" /><Relationship Type="http://schemas.openxmlformats.org/officeDocument/2006/relationships/slideLayout" Target="/ppt/slideLayouts/slideLayout2.xml" Id="R515a7d732a7e401d" /><Relationship Type="http://schemas.openxmlformats.org/officeDocument/2006/relationships/slideLayout" Target="/ppt/slideLayouts/slideLayout3.xml" Id="R30d76f8a89754928" /><Relationship Type="http://schemas.openxmlformats.org/officeDocument/2006/relationships/slideLayout" Target="/ppt/slideLayouts/slideLayout4.xml" Id="R576b60d9285a4e2d" /><Relationship Type="http://schemas.openxmlformats.org/officeDocument/2006/relationships/slideLayout" Target="/ppt/slideLayouts/slideLayout5.xml" Id="R0c8cc00940f44b1c" /><Relationship Type="http://schemas.openxmlformats.org/officeDocument/2006/relationships/slideLayout" Target="/ppt/slideLayouts/slideLayout6.xml" Id="Rdc893724ada94d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5936ca93114e02"/>
    <p:sldLayoutId xmlns:r="http://schemas.openxmlformats.org/officeDocument/2006/relationships" id="2147483650" r:id="R515a7d732a7e401d"/>
    <p:sldLayoutId xmlns:r="http://schemas.openxmlformats.org/officeDocument/2006/relationships" id="2147483651" r:id="R30d76f8a89754928"/>
    <p:sldLayoutId xmlns:r="http://schemas.openxmlformats.org/officeDocument/2006/relationships" id="2147483652" r:id="R576b60d9285a4e2d"/>
    <p:sldLayoutId xmlns:r="http://schemas.openxmlformats.org/officeDocument/2006/relationships" id="2147483653" r:id="R0c8cc00940f44b1c"/>
    <p:sldLayoutId xmlns:r="http://schemas.openxmlformats.org/officeDocument/2006/relationships" id="2147483654" r:id="Rdc893724ada94d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37f55cc18547b5" /><Relationship Type="http://schemas.openxmlformats.org/officeDocument/2006/relationships/notesSlide" Target="/ppt/notesSlides/notesSlide1.xml" Id="R7efc0608fe5e47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69ba3b8b3246a9" /><Relationship Type="http://schemas.openxmlformats.org/officeDocument/2006/relationships/chart" Target="/ppt/slides/charts/chart1.xml" Id="R0b0523ae5a4e4030" /><Relationship Type="http://schemas.openxmlformats.org/officeDocument/2006/relationships/notesSlide" Target="/ppt/notesSlides/notesSlide2.xml" Id="R6c37a11b403e4c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b4a0840c0947a4" /><Relationship Type="http://schemas.openxmlformats.org/officeDocument/2006/relationships/notesSlide" Target="/ppt/notesSlides/notesSlide3.xml" Id="Rf213537c92db4c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08c83ad9404157" /><Relationship Type="http://schemas.openxmlformats.org/officeDocument/2006/relationships/notesSlide" Target="/ppt/notesSlides/notesSlide4.xml" Id="R3113c70ec5be46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5cc25badc14419" /><Relationship Type="http://schemas.openxmlformats.org/officeDocument/2006/relationships/chart" Target="/ppt/slides/charts/chart2.xml" Id="R3f5ff0c51c5849ee" /><Relationship Type="http://schemas.openxmlformats.org/officeDocument/2006/relationships/notesSlide" Target="/ppt/notesSlides/notesSlide5.xml" Id="Rb0b34777cf6343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609d3bc058454a" /><Relationship Type="http://schemas.openxmlformats.org/officeDocument/2006/relationships/notesSlide" Target="/ppt/notesSlides/notesSlide6.xml" Id="Rb9e8bf06b9654404" /></Relationships>
</file>

<file path=ppt/slides/charts/chart1.xml><?xml version="1.0" encoding="utf-8"?>
<c:chartSpace xmlns:c="http://schemas.openxmlformats.org/drawingml/2006/chart">
  <c:lang val="en-US"/>
  <c:chart>
    <c:plotArea>
      <c:barChart>
        <c:barDir val="col"/>
        <c:grouping val="clustered"/>
        <c:varyColors val="1"/>
        <c:ser>
          <c:idx val="0"/>
          <c:order val="0"/>
          <c:tx>
            <c:v>Market share</c:v>
          </c:tx>
          <c:spPr>
            <a:solidFill xmlns:a="http://schemas.openxmlformats.org/drawingml/2006/main">
              <a:srgbClr val="007F82"/>
            </a:solidFill>
          </c:spPr>
          <c:invertIfNegative val="0"/>
          <c:dPt>
            <c:idx val="0"/>
            <c:invertIfNegative val="0"/>
            <c:spPr>
              <a:solidFill xmlns:a="http://schemas.openxmlformats.org/drawingml/2006/main">
                <a:srgbClr val="A3B4C4"/>
              </a:solidFill>
            </c:spPr>
          </c:dPt>
          <c:dPt>
            <c:idx val="1"/>
            <c:invertIfNegative val="0"/>
            <c:spPr>
              <a:solidFill xmlns:a="http://schemas.openxmlformats.org/drawingml/2006/main">
                <a:srgbClr val="007F82"/>
              </a:solidFill>
            </c:spPr>
          </c:dPt>
          <c:cat>
            <c:numLit>
              <c:formatCode>General</c:formatCode>
              <c:ptCount val="2"/>
              <c:pt idx="0">
                <c:v>2010</c:v>
              </c:pt>
              <c:pt idx="1">
                <c:v>2016</c:v>
              </c:pt>
            </c:numLit>
          </c:cat>
          <c:val>
            <c:numLit>
              <c:formatCode>0%</c:formatCode>
              <c:ptCount val="2"/>
              <c:pt idx="0">
                <c:v>0.02</c:v>
              </c:pt>
              <c:pt idx="1">
                <c:v>0.08</c:v>
              </c:pt>
            </c:numLit>
          </c:val>
        </c:ser>
        <c:dLbls>
          <c:numFmt formatCode="0%" sourceLinked="0"/>
          <c:txPr>
            <a:bodyPr xmlns:a="http://schemas.openxmlformats.org/drawingml/2006/main" anchorCtr="1"/>
            <a:lstStyle xmlns:a="http://schemas.openxmlformats.org/drawingml/2006/main"/>
            <a:p xmlns:a="http://schemas.openxmlformats.org/drawingml/2006/main">
              <a:pPr>
                <a:defRPr sz="240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1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5DE"/>
            </a:solidFill>
          </a:ln>
        </c:spPr>
        <c:txPr>
          <a:bodyPr xmlns:a="http://schemas.openxmlformats.org/drawingml/2006/main" anchorCtr="1"/>
          <a:lstStyle xmlns:a="http://schemas.openxmlformats.org/drawingml/2006/main"/>
          <a:p xmlns:a="http://schemas.openxmlformats.org/drawingml/2006/main">
            <a:pPr>
              <a:defRPr sz="1800">
                <a:solidFill>
                  <a:srgbClr val="102A43"/>
                </a:solidFill>
                <a:latin typeface="Arial"/>
                <a:ea typeface="Arial"/>
                <a:cs typeface="Arial"/>
              </a:defRPr>
            </a:pPr>
          </a:p>
        </c:txPr>
        <c:crossAx val="48672768"/>
      </c:catAx>
      <c:valAx>
        <c:axId val="48672768"/>
        <c:scaling>
          <c:orientation val="minMax"/>
          <c:max val="0.1"/>
          <c:min val="0"/>
        </c:scaling>
        <c:delete val="0"/>
        <c:axPos val="l"/>
        <c:majorGridlines>
          <c:spPr>
            <a:ln xmlns:a="http://schemas.openxmlformats.org/drawingml/2006/main" w="9525">
              <a:solidFill>
                <a:srgbClr val="E4EBF0"/>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778"/>
                </a:solidFill>
                <a:latin typeface="Arial"/>
                <a:ea typeface="Arial"/>
                <a:cs typeface="Arial"/>
              </a:defRPr>
            </a:pPr>
          </a:p>
        </c:txPr>
        <c:crossAx val="48650112"/>
        <c:crossBetween val="between"/>
        <c:majorUnit val="0.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1"/>
        <c:ser>
          <c:idx val="0"/>
          <c:order val="0"/>
          <c:tx>
            <c:v>Extra days</c:v>
          </c:tx>
          <c:spPr>
            <a:solidFill xmlns:a="http://schemas.openxmlformats.org/drawingml/2006/main">
              <a:srgbClr val="007F82"/>
            </a:solidFill>
          </c:spPr>
          <c:invertIfNegative val="0"/>
          <c:dPt>
            <c:idx val="0"/>
            <c:invertIfNegative val="0"/>
            <c:spPr>
              <a:solidFill xmlns:a="http://schemas.openxmlformats.org/drawingml/2006/main">
                <a:srgbClr val="A3B4C4"/>
              </a:solidFill>
            </c:spPr>
          </c:dPt>
          <c:dPt>
            <c:idx val="1"/>
            <c:invertIfNegative val="0"/>
            <c:spPr>
              <a:solidFill xmlns:a="http://schemas.openxmlformats.org/drawingml/2006/main">
                <a:srgbClr val="007F82"/>
              </a:solidFill>
            </c:spPr>
          </c:dPt>
          <c:cat>
            <c:strLit>
              <c:ptCount val="2"/>
              <c:pt idx="0">
                <c:v>Traditional lenders</c:v>
              </c:pt>
              <c:pt idx="1">
                <c:v>FinTech lenders</c:v>
              </c:pt>
            </c:strLit>
          </c:cat>
          <c:val>
            <c:numLit>
              <c:formatCode>0</c:formatCode>
              <c:ptCount val="2"/>
              <c:pt idx="0">
                <c:v>13.5</c:v>
              </c:pt>
              <c:pt idx="1">
                <c:v>7.5</c:v>
              </c:pt>
            </c:numLit>
          </c:val>
        </c:ser>
        <c:dLbls>
          <c:numFmt formatCode="0.0" sourceLinked="0"/>
          <c:txPr>
            <a:bodyPr xmlns:a="http://schemas.openxmlformats.org/drawingml/2006/main" anchorCtr="1"/>
            <a:lstStyle xmlns:a="http://schemas.openxmlformats.org/drawingml/2006/main"/>
            <a:p xmlns:a="http://schemas.openxmlformats.org/drawingml/2006/main">
              <a:pPr>
                <a:defRPr sz="240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1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5DE"/>
            </a:solidFill>
          </a:ln>
        </c:spPr>
        <c:txPr>
          <a:bodyPr xmlns:a="http://schemas.openxmlformats.org/drawingml/2006/main" anchorCtr="1"/>
          <a:lstStyle xmlns:a="http://schemas.openxmlformats.org/drawingml/2006/main"/>
          <a:p xmlns:a="http://schemas.openxmlformats.org/drawingml/2006/main">
            <a:pPr>
              <a:defRPr sz="1800">
                <a:solidFill>
                  <a:srgbClr val="102A43"/>
                </a:solidFill>
                <a:latin typeface="Arial"/>
                <a:ea typeface="Arial"/>
                <a:cs typeface="Arial"/>
              </a:defRPr>
            </a:pPr>
          </a:p>
        </c:txPr>
        <c:crossAx val="48672768"/>
      </c:catAx>
      <c:valAx>
        <c:axId val="48672768"/>
        <c:scaling>
          <c:orientation val="minMax"/>
          <c:max val="16"/>
          <c:min val="0"/>
        </c:scaling>
        <c:delete val="0"/>
        <c:axPos val="l"/>
        <c:majorGridlines>
          <c:spPr>
            <a:ln xmlns:a="http://schemas.openxmlformats.org/drawingml/2006/main" w="9525">
              <a:solidFill>
                <a:srgbClr val="E4EBF0"/>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778"/>
                </a:solidFill>
                <a:latin typeface="Arial"/>
                <a:ea typeface="Arial"/>
                <a:cs typeface="Arial"/>
              </a:defRPr>
            </a:pPr>
          </a:p>
        </c:txPr>
        <c:crossAx val="48650112"/>
        <c:crossBetween val="between"/>
        <c:majorUnit val="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592B62D5-8D58-4E76-8A83-3F836CDDED15}"/>
              </a:ext>
            </a:extLst>
          </p:cNvPr>
          <p:cNvSpPr>
            <a:spLocks xmlns:a="http://schemas.openxmlformats.org/drawingml/2006/main" noGrp="1"/>
          </p:cNvSpPr>
          <p:nvPr/>
        </p:nvSpPr>
        <p:spPr>
          <a:xfrm xmlns:a="http://schemas.openxmlformats.org/drawingml/2006/main">
            <a:off x="11049000" y="6191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B7CDD8"/>
                </a:solidFill>
                <a:latin typeface="Arial"/>
                <a:ea typeface="Arial"/>
                <a:cs typeface="Arial"/>
              </a:defRPr>
            </a:defPPr>
          </a:lstStyle>
          <a:p xmlns:a="http://schemas.openxmlformats.org/drawingml/2006/main">
            <a:pPr>
              <a:defRPr sz="1425" b="0">
                <a:solidFill>
                  <a:srgbClr val="B7CDD8"/>
                </a:solidFill>
                <a:latin typeface="Arial"/>
                <a:ea typeface="Arial"/>
                <a:cs typeface="Arial"/>
              </a:defRPr>
            </a:pPr>
            <a:r>
              <a:rPr sz="1425" b="0">
                <a:solidFill>
                  <a:srgbClr val="B7CDD8"/>
                </a:solidFill>
                <a:latin typeface="Arial"/>
                <a:ea typeface="Arial"/>
                <a:cs typeface="Arial"/>
              </a:rPr>
              <a:t>01</a:t>
            </a:r>
          </a:p>
        </p:txBody>
      </p:sp>
      <p:sp>
        <p:nvSpPr>
          <p:cNvPr id="2" name="course">
            <a:extLst xmlns:a="http://schemas.openxmlformats.org/drawingml/2006/main">
              <a:ext uri="{FF2B5EF4-FFF2-40B4-BE49-F238E27FC236}">
                <a16:creationId xmlns:a16="http://schemas.microsoft.com/office/drawing/2014/main" id="{181CF2BB-77F5-43C4-A654-E7DA93BFCED0}"/>
              </a:ext>
            </a:extLst>
          </p:cNvPr>
          <p:cNvSpPr>
            <a:spLocks xmlns:a="http://schemas.openxmlformats.org/drawingml/2006/main" noGrp="1"/>
          </p:cNvSpPr>
          <p:nvPr/>
        </p:nvSpPr>
        <p:spPr>
          <a:xfrm xmlns:a="http://schemas.openxmlformats.org/drawingml/2006/main">
            <a:off x="685800" y="666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7CDD8"/>
                </a:solidFill>
                <a:latin typeface="Arial"/>
                <a:ea typeface="Arial"/>
                <a:cs typeface="Arial"/>
              </a:defRPr>
            </a:defPPr>
          </a:lstStyle>
          <a:p xmlns:a="http://schemas.openxmlformats.org/drawingml/2006/main">
            <a:pPr>
              <a:defRPr sz="1725" b="0">
                <a:solidFill>
                  <a:srgbClr val="B7CDD8"/>
                </a:solidFill>
                <a:latin typeface="Arial"/>
                <a:ea typeface="Arial"/>
                <a:cs typeface="Arial"/>
              </a:defRPr>
            </a:pPr>
            <a:r>
              <a:rPr sz="1725" b="0">
                <a:solidFill>
                  <a:srgbClr val="B7CDD8"/>
                </a:solidFill>
                <a:latin typeface="Arial"/>
                <a:ea typeface="Arial"/>
                <a:cs typeface="Arial"/>
              </a:rPr>
              <a:t>FINTECH PAPER PRESENTATION</a:t>
            </a:r>
          </a:p>
        </p:txBody>
      </p:sp>
      <p:sp>
        <p:nvSpPr>
          <p:cNvPr id="3" name="cover-title">
            <a:extLst xmlns:a="http://schemas.openxmlformats.org/drawingml/2006/main">
              <a:ext uri="{FF2B5EF4-FFF2-40B4-BE49-F238E27FC236}">
                <a16:creationId xmlns:a16="http://schemas.microsoft.com/office/drawing/2014/main" id="{E9586599-EA42-4360-968B-E63CB5812C99}"/>
              </a:ext>
            </a:extLst>
          </p:cNvPr>
          <p:cNvSpPr>
            <a:spLocks xmlns:a="http://schemas.openxmlformats.org/drawingml/2006/main" noGrp="1"/>
          </p:cNvSpPr>
          <p:nvPr/>
        </p:nvSpPr>
        <p:spPr>
          <a:xfrm xmlns:a="http://schemas.openxmlformats.org/drawingml/2006/main">
            <a:off x="685800" y="1762125"/>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Arial"/>
                <a:ea typeface="Arial"/>
                <a:cs typeface="Arial"/>
              </a:defRPr>
            </a:def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Technology in</a:t>
            </a:r>
          </a:p>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Mortgage Lending</a:t>
            </a:r>
          </a:p>
        </p:txBody>
      </p:sp>
      <p:sp>
        <p:nvSpPr>
          <p:cNvPr id="4" name="full-paper-title">
            <a:extLst xmlns:a="http://schemas.openxmlformats.org/drawingml/2006/main">
              <a:ext uri="{FF2B5EF4-FFF2-40B4-BE49-F238E27FC236}">
                <a16:creationId xmlns:a16="http://schemas.microsoft.com/office/drawing/2014/main" id="{84906874-B16E-4E02-B217-2FF9410417C9}"/>
              </a:ext>
            </a:extLst>
          </p:cNvPr>
          <p:cNvSpPr>
            <a:spLocks xmlns:a="http://schemas.openxmlformats.org/drawingml/2006/main" noGrp="1"/>
          </p:cNvSpPr>
          <p:nvPr/>
        </p:nvSpPr>
        <p:spPr>
          <a:xfrm xmlns:a="http://schemas.openxmlformats.org/drawingml/2006/main">
            <a:off x="685800" y="4095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The Role of Technology in Mortgage Lending</a:t>
            </a:r>
          </a:p>
        </p:txBody>
      </p:sp>
      <p:sp>
        <p:nvSpPr>
          <p:cNvPr id="5" name="authors">
            <a:extLst xmlns:a="http://schemas.openxmlformats.org/drawingml/2006/main">
              <a:ext uri="{FF2B5EF4-FFF2-40B4-BE49-F238E27FC236}">
                <a16:creationId xmlns:a16="http://schemas.microsoft.com/office/drawing/2014/main" id="{365F0E4A-54F3-47C3-9B64-3869D987F623}"/>
              </a:ext>
            </a:extLst>
          </p:cNvPr>
          <p:cNvSpPr>
            <a:spLocks xmlns:a="http://schemas.openxmlformats.org/drawingml/2006/main" noGrp="1"/>
          </p:cNvSpPr>
          <p:nvPr/>
        </p:nvSpPr>
        <p:spPr>
          <a:xfrm xmlns:a="http://schemas.openxmlformats.org/drawingml/2006/main">
            <a:off x="685800" y="48196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7CDD8"/>
                </a:solidFill>
                <a:latin typeface="Arial"/>
                <a:ea typeface="Arial"/>
                <a:cs typeface="Arial"/>
              </a:defRPr>
            </a:defPPr>
          </a:lstStyle>
          <a:p xmlns:a="http://schemas.openxmlformats.org/drawingml/2006/main">
            <a:pPr>
              <a:defRPr sz="1875" b="0">
                <a:solidFill>
                  <a:srgbClr val="B7CDD8"/>
                </a:solidFill>
                <a:latin typeface="Arial"/>
                <a:ea typeface="Arial"/>
                <a:cs typeface="Arial"/>
              </a:defRPr>
            </a:pPr>
            <a:r>
              <a:rPr sz="1875" b="0">
                <a:solidFill>
                  <a:srgbClr val="B7CDD8"/>
                </a:solidFill>
                <a:latin typeface="Arial"/>
                <a:ea typeface="Arial"/>
                <a:cs typeface="Arial"/>
              </a:rPr>
              <a:t>Andreas Fuster, Matthew Plosser,</a:t>
            </a:r>
          </a:p>
          <a:p xmlns:a="http://schemas.openxmlformats.org/drawingml/2006/main">
            <a:pPr>
              <a:defRPr sz="1875" b="0">
                <a:solidFill>
                  <a:srgbClr val="B7CDD8"/>
                </a:solidFill>
                <a:latin typeface="Arial"/>
                <a:ea typeface="Arial"/>
                <a:cs typeface="Arial"/>
              </a:defRPr>
            </a:pPr>
            <a:r>
              <a:rPr sz="1875" b="0">
                <a:solidFill>
                  <a:srgbClr val="B7CDD8"/>
                </a:solidFill>
                <a:latin typeface="Arial"/>
                <a:ea typeface="Arial"/>
                <a:cs typeface="Arial"/>
              </a:rPr>
              <a:t>Philipp Schnabl and James Vickery</a:t>
            </a:r>
          </a:p>
        </p:txBody>
      </p:sp>
      <p:sp>
        <p:nvSpPr>
          <p:cNvPr id="6" name="source-footer">
            <a:extLst xmlns:a="http://schemas.openxmlformats.org/drawingml/2006/main">
              <a:ext uri="{FF2B5EF4-FFF2-40B4-BE49-F238E27FC236}">
                <a16:creationId xmlns:a16="http://schemas.microsoft.com/office/drawing/2014/main" id="{3E40150A-3AA7-4777-BF39-A4AD23312474}"/>
              </a:ext>
            </a:extLst>
          </p:cNvPr>
          <p:cNvSpPr>
            <a:spLocks xmlns:a="http://schemas.openxmlformats.org/drawingml/2006/main" noGrp="1"/>
          </p:cNvSpPr>
          <p:nvPr/>
        </p:nvSpPr>
        <p:spPr>
          <a:xfrm xmlns:a="http://schemas.openxmlformats.org/drawingml/2006/main">
            <a:off x="685800" y="61912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DD8"/>
                </a:solidFill>
                <a:latin typeface="Arial"/>
                <a:ea typeface="Arial"/>
                <a:cs typeface="Arial"/>
              </a:defRPr>
            </a:defPPr>
          </a:lstStyle>
          <a:p xmlns:a="http://schemas.openxmlformats.org/drawingml/2006/main">
            <a:pPr>
              <a:defRPr sz="1350" b="0">
                <a:solidFill>
                  <a:srgbClr val="B7CDD8"/>
                </a:solidFill>
                <a:latin typeface="Arial"/>
                <a:ea typeface="Arial"/>
                <a:cs typeface="Arial"/>
              </a:defRPr>
            </a:pPr>
            <a:r>
              <a:rPr sz="1350" b="0">
                <a:solidFill>
                  <a:srgbClr val="B7CDD8"/>
                </a:solidFill>
                <a:latin typeface="Arial"/>
                <a:ea typeface="Arial"/>
                <a:cs typeface="Arial"/>
              </a:rPr>
              <a:t>New York Fed Staff Report No. 836, February 2018</a:t>
            </a:r>
          </a:p>
        </p:txBody>
      </p:sp>
    </p:spTree>
    <p:extLst>
      <p:ext uri="{BB962C8B-B14F-4D97-AF65-F5344CB8AC3E}">
        <p14:creationId xmlns:p14="http://schemas.microsoft.com/office/powerpoint/2010/main" val="20536427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age">
            <a:extLst xmlns:a="http://schemas.openxmlformats.org/drawingml/2006/main">
              <a:ext uri="{FF2B5EF4-FFF2-40B4-BE49-F238E27FC236}">
                <a16:creationId xmlns:a16="http://schemas.microsoft.com/office/drawing/2014/main" id="{3A2B01C1-6986-4EE2-917C-D59A5D8D1F00}"/>
              </a:ext>
            </a:extLst>
          </p:cNvPr>
          <p:cNvSpPr>
            <a:spLocks xmlns:a="http://schemas.openxmlformats.org/drawingml/2006/main" noGrp="1"/>
          </p:cNvSpPr>
          <p:nvPr/>
        </p:nvSpPr>
        <p:spPr>
          <a:xfrm xmlns:a="http://schemas.openxmlformats.org/drawingml/2006/main">
            <a:off x="11049000" y="6191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778"/>
                </a:solidFill>
                <a:latin typeface="Arial"/>
                <a:ea typeface="Arial"/>
                <a:cs typeface="Arial"/>
              </a:defRPr>
            </a:defPPr>
          </a:lstStyle>
          <a:p xmlns:a="http://schemas.openxmlformats.org/drawingml/2006/main">
            <a:pPr>
              <a:defRPr sz="1425" b="0">
                <a:solidFill>
                  <a:srgbClr val="526778"/>
                </a:solidFill>
                <a:latin typeface="Arial"/>
                <a:ea typeface="Arial"/>
                <a:cs typeface="Arial"/>
              </a:defRPr>
            </a:pPr>
            <a:r>
              <a:rPr sz="1425" b="0">
                <a:solidFill>
                  <a:srgbClr val="526778"/>
                </a:solidFill>
                <a:latin typeface="Arial"/>
                <a:ea typeface="Arial"/>
                <a:cs typeface="Arial"/>
              </a:rPr>
              <a:t>02</a:t>
            </a:r>
          </a:p>
        </p:txBody>
      </p:sp>
      <p:sp>
        <p:nvSpPr>
          <p:cNvPr id="2" name="title">
            <a:extLst xmlns:a="http://schemas.openxmlformats.org/drawingml/2006/main">
              <a:ext uri="{FF2B5EF4-FFF2-40B4-BE49-F238E27FC236}">
                <a16:creationId xmlns:a16="http://schemas.microsoft.com/office/drawing/2014/main" id="{CF3472FE-F3FE-4449-89B5-42CA00FEB7DF}"/>
              </a:ext>
            </a:extLst>
          </p:cNvPr>
          <p:cNvSpPr>
            <a:spLocks xmlns:a="http://schemas.openxmlformats.org/drawingml/2006/main" noGrp="1"/>
          </p:cNvSpPr>
          <p:nvPr/>
        </p:nvSpPr>
        <p:spPr>
          <a:xfrm xmlns:a="http://schemas.openxmlformats.org/drawingml/2006/main">
            <a:off x="685800" y="5715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The research problem</a:t>
            </a:r>
          </a:p>
        </p:txBody>
      </p:sp>
      <p:sp>
        <p:nvSpPr>
          <p:cNvPr id="3" name="question">
            <a:extLst xmlns:a="http://schemas.openxmlformats.org/drawingml/2006/main">
              <a:ext uri="{FF2B5EF4-FFF2-40B4-BE49-F238E27FC236}">
                <a16:creationId xmlns:a16="http://schemas.microsoft.com/office/drawing/2014/main" id="{7D0787C6-B517-4E86-BB79-834B3EB3B9DE}"/>
              </a:ext>
            </a:extLst>
          </p:cNvPr>
          <p:cNvSpPr>
            <a:spLocks xmlns:a="http://schemas.openxmlformats.org/drawingml/2006/main" noGrp="1"/>
          </p:cNvSpPr>
          <p:nvPr/>
        </p:nvSpPr>
        <p:spPr>
          <a:xfrm xmlns:a="http://schemas.openxmlformats.org/drawingml/2006/main">
            <a:off x="685800" y="1666875"/>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02A43"/>
                </a:solidFill>
                <a:latin typeface="Arial"/>
                <a:ea typeface="Arial"/>
                <a:cs typeface="Arial"/>
              </a:defRPr>
            </a:defPPr>
          </a:lstStyle>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Can digital lenders</a:t>
            </a:r>
          </a:p>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reduce mortgage frictions?</a:t>
            </a:r>
          </a:p>
        </p:txBody>
      </p:sp>
      <p:sp>
        <p:nvSpPr>
          <p:cNvPr id="4" name="problem">
            <a:extLst xmlns:a="http://schemas.openxmlformats.org/drawingml/2006/main">
              <a:ext uri="{FF2B5EF4-FFF2-40B4-BE49-F238E27FC236}">
                <a16:creationId xmlns:a16="http://schemas.microsoft.com/office/drawing/2014/main" id="{939DA75B-A5BB-49FF-898E-68C95FD000A1}"/>
              </a:ext>
            </a:extLst>
          </p:cNvPr>
          <p:cNvSpPr>
            <a:spLocks xmlns:a="http://schemas.openxmlformats.org/drawingml/2006/main" noGrp="1"/>
          </p:cNvSpPr>
          <p:nvPr/>
        </p:nvSpPr>
        <p:spPr>
          <a:xfrm xmlns:a="http://schemas.openxmlformats.org/drawingml/2006/main">
            <a:off x="685800" y="3371850"/>
            <a:ext cx="542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778"/>
                </a:solidFill>
                <a:latin typeface="Arial"/>
                <a:ea typeface="Arial"/>
                <a:cs typeface="Arial"/>
              </a:defRPr>
            </a:defPPr>
          </a:lstStyle>
          <a:p xmlns:a="http://schemas.openxmlformats.org/drawingml/2006/main">
            <a:pPr>
              <a:defRPr sz="2250" b="0">
                <a:solidFill>
                  <a:srgbClr val="526778"/>
                </a:solidFill>
                <a:latin typeface="Arial"/>
                <a:ea typeface="Arial"/>
                <a:cs typeface="Arial"/>
              </a:defRPr>
            </a:pPr>
            <a:r>
              <a:rPr sz="2250" b="0">
                <a:solidFill>
                  <a:srgbClr val="526778"/>
                </a:solidFill>
                <a:latin typeface="Arial"/>
                <a:ea typeface="Arial"/>
                <a:cs typeface="Arial"/>
              </a:rPr>
              <a:t>Slow document collection</a:t>
            </a:r>
          </a:p>
          <a:p xmlns:a="http://schemas.openxmlformats.org/drawingml/2006/main">
            <a:pPr>
              <a:defRPr sz="2250" b="0">
                <a:solidFill>
                  <a:srgbClr val="526778"/>
                </a:solidFill>
                <a:latin typeface="Arial"/>
                <a:ea typeface="Arial"/>
                <a:cs typeface="Arial"/>
              </a:defRPr>
            </a:pPr>
            <a:r>
              <a:rPr sz="2250" b="0">
                <a:solidFill>
                  <a:srgbClr val="526778"/>
                </a:solidFill>
                <a:latin typeface="Arial"/>
                <a:ea typeface="Arial"/>
                <a:cs typeface="Arial"/>
              </a:rPr>
              <a:t>Longer queues when demand rises</a:t>
            </a:r>
          </a:p>
        </p:txBody>
      </p:sp>
      <p:sp>
        <p:nvSpPr>
          <p:cNvPr id="5" name="definition">
            <a:extLst xmlns:a="http://schemas.openxmlformats.org/drawingml/2006/main">
              <a:ext uri="{FF2B5EF4-FFF2-40B4-BE49-F238E27FC236}">
                <a16:creationId xmlns:a16="http://schemas.microsoft.com/office/drawing/2014/main" id="{1D92322F-ECEB-47A8-AD8A-31F6FF69E4A3}"/>
              </a:ext>
            </a:extLst>
          </p:cNvPr>
          <p:cNvSpPr>
            <a:spLocks xmlns:a="http://schemas.openxmlformats.org/drawingml/2006/main" noGrp="1"/>
          </p:cNvSpPr>
          <p:nvPr/>
        </p:nvSpPr>
        <p:spPr>
          <a:xfrm xmlns:a="http://schemas.openxmlformats.org/drawingml/2006/main">
            <a:off x="685800" y="4791075"/>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07F82"/>
                </a:solidFill>
                <a:latin typeface="Arial"/>
                <a:ea typeface="Arial"/>
                <a:cs typeface="Arial"/>
              </a:defRPr>
            </a:defPPr>
          </a:lstStyle>
          <a:p xmlns:a="http://schemas.openxmlformats.org/drawingml/2006/main">
            <a:pPr>
              <a:defRPr sz="2175" b="0">
                <a:solidFill>
                  <a:srgbClr val="007F82"/>
                </a:solidFill>
                <a:latin typeface="Arial"/>
                <a:ea typeface="Arial"/>
                <a:cs typeface="Arial"/>
              </a:defRPr>
            </a:pPr>
            <a:r>
              <a:rPr sz="2175" b="0">
                <a:solidFill>
                  <a:srgbClr val="007F82"/>
                </a:solidFill>
                <a:latin typeface="Arial"/>
                <a:ea typeface="Arial"/>
                <a:cs typeface="Arial"/>
              </a:rPr>
              <a:t>FinTech model: online applications</a:t>
            </a:r>
          </a:p>
          <a:p xmlns:a="http://schemas.openxmlformats.org/drawingml/2006/main">
            <a:pPr>
              <a:defRPr sz="2175" b="0">
                <a:solidFill>
                  <a:srgbClr val="007F82"/>
                </a:solidFill>
                <a:latin typeface="Arial"/>
                <a:ea typeface="Arial"/>
                <a:cs typeface="Arial"/>
              </a:defRPr>
            </a:pPr>
            <a:r>
              <a:rPr sz="2175" b="0">
                <a:solidFill>
                  <a:srgbClr val="007F82"/>
                </a:solidFill>
                <a:latin typeface="Arial"/>
                <a:ea typeface="Arial"/>
                <a:cs typeface="Arial"/>
              </a:rPr>
              <a:t>and centralized processing</a:t>
            </a:r>
          </a:p>
        </p:txBody>
      </p:sp>
      <p:sp>
        <p:nvSpPr>
          <p:cNvPr id="6" name="chart-caption">
            <a:extLst xmlns:a="http://schemas.openxmlformats.org/drawingml/2006/main">
              <a:ext uri="{FF2B5EF4-FFF2-40B4-BE49-F238E27FC236}">
                <a16:creationId xmlns:a16="http://schemas.microsoft.com/office/drawing/2014/main" id="{2FAAD073-22FA-4B54-8B9D-68A5C333203C}"/>
              </a:ext>
            </a:extLst>
          </p:cNvPr>
          <p:cNvSpPr>
            <a:spLocks xmlns:a="http://schemas.openxmlformats.org/drawingml/2006/main" noGrp="1"/>
          </p:cNvSpPr>
          <p:nvPr/>
        </p:nvSpPr>
        <p:spPr>
          <a:xfrm xmlns:a="http://schemas.openxmlformats.org/drawingml/2006/main">
            <a:off x="6667500" y="167640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02A43"/>
                </a:solidFill>
                <a:latin typeface="Arial"/>
                <a:ea typeface="Arial"/>
                <a:cs typeface="Arial"/>
              </a:defRPr>
            </a:defPPr>
          </a:lstStyle>
          <a:p xmlns:a="http://schemas.openxmlformats.org/drawingml/2006/main">
            <a:pPr>
              <a:defRPr sz="2100" b="1">
                <a:solidFill>
                  <a:srgbClr val="102A43"/>
                </a:solidFill>
                <a:latin typeface="Arial"/>
                <a:ea typeface="Arial"/>
                <a:cs typeface="Arial"/>
              </a:defRPr>
            </a:pPr>
            <a:r>
              <a:rPr sz="2100" b="1">
                <a:solidFill>
                  <a:srgbClr val="102A43"/>
                </a:solidFill>
                <a:latin typeface="Arial"/>
                <a:ea typeface="Arial"/>
                <a:cs typeface="Arial"/>
              </a:rPr>
              <a:t>U.S. FinTech mortgage market share</a:t>
            </a:r>
          </a:p>
        </p:txBody>
      </p:sp>
      <p:graphicFrame>
        <p:nvGraphicFramePr>
          <p:cNvPr id="7" name="Chart">
            <a:extLst xmlns:a="http://schemas.openxmlformats.org/drawingml/2006/main">
              <a:ext uri="{FF2B5EF4-FFF2-40B4-BE49-F238E27FC236}">
                <a16:creationId xmlns:a16="http://schemas.microsoft.com/office/drawing/2014/main" id="{C6848723-DDDC-47E5-BA45-1CB9A5FE80EC}"/>
              </a:ext>
            </a:extLst>
          </p:cNvPr>
          <p:cNvGraphicFramePr/>
          <p:nvPr/>
        </p:nvGraphicFramePr>
        <p:xfrm>
          <a:off xmlns:a="http://schemas.openxmlformats.org/drawingml/2006/main" x="6667500" y="2495550"/>
          <a:ext xmlns:a="http://schemas.openxmlformats.org/drawingml/2006/main" cx="4762500" cy="3048000"/>
        </p:xfrm>
        <a:graphic xmlns:a="http://schemas.openxmlformats.org/drawingml/2006/main">
          <a:graphicData uri="http://schemas.openxmlformats.org/drawingml/2006/chart">
            <c:chart xmlns:r="http://schemas.openxmlformats.org/officeDocument/2006/relationships" xmlns:c="http://schemas.openxmlformats.org/drawingml/2006/chart" r:id="R0b0523ae5a4e4030"/>
          </a:graphicData>
        </a:graphic>
      </p:graphicFrame>
      <p:sp>
        <p:nvSpPr>
          <p:cNvPr id="8" name="source-footer">
            <a:extLst xmlns:a="http://schemas.openxmlformats.org/drawingml/2006/main">
              <a:ext uri="{FF2B5EF4-FFF2-40B4-BE49-F238E27FC236}">
                <a16:creationId xmlns:a16="http://schemas.microsoft.com/office/drawing/2014/main" id="{30FD1777-F850-43FD-AC32-FAF9654CA7CD}"/>
              </a:ext>
            </a:extLst>
          </p:cNvPr>
          <p:cNvSpPr>
            <a:spLocks xmlns:a="http://schemas.openxmlformats.org/drawingml/2006/main" noGrp="1"/>
          </p:cNvSpPr>
          <p:nvPr/>
        </p:nvSpPr>
        <p:spPr>
          <a:xfrm xmlns:a="http://schemas.openxmlformats.org/drawingml/2006/main">
            <a:off x="685800" y="61912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Fuster et al. (2018), New York Fed Staff Report 836</a:t>
            </a:r>
          </a:p>
        </p:txBody>
      </p:sp>
    </p:spTree>
    <p:extLst>
      <p:ext uri="{BB962C8B-B14F-4D97-AF65-F5344CB8AC3E}">
        <p14:creationId xmlns:p14="http://schemas.microsoft.com/office/powerpoint/2010/main" val="4569245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age">
            <a:extLst xmlns:a="http://schemas.openxmlformats.org/drawingml/2006/main">
              <a:ext uri="{FF2B5EF4-FFF2-40B4-BE49-F238E27FC236}">
                <a16:creationId xmlns:a16="http://schemas.microsoft.com/office/drawing/2014/main" id="{0510F6D2-474D-45ED-A29D-E122B5C60E46}"/>
              </a:ext>
            </a:extLst>
          </p:cNvPr>
          <p:cNvSpPr>
            <a:spLocks xmlns:a="http://schemas.openxmlformats.org/drawingml/2006/main" noGrp="1"/>
          </p:cNvSpPr>
          <p:nvPr/>
        </p:nvSpPr>
        <p:spPr>
          <a:xfrm xmlns:a="http://schemas.openxmlformats.org/drawingml/2006/main">
            <a:off x="11049000" y="6191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778"/>
                </a:solidFill>
                <a:latin typeface="Arial"/>
                <a:ea typeface="Arial"/>
                <a:cs typeface="Arial"/>
              </a:defRPr>
            </a:defPPr>
          </a:lstStyle>
          <a:p xmlns:a="http://schemas.openxmlformats.org/drawingml/2006/main">
            <a:pPr>
              <a:defRPr sz="1425" b="0">
                <a:solidFill>
                  <a:srgbClr val="526778"/>
                </a:solidFill>
                <a:latin typeface="Arial"/>
                <a:ea typeface="Arial"/>
                <a:cs typeface="Arial"/>
              </a:defRPr>
            </a:pPr>
            <a:r>
              <a:rPr sz="1425" b="0">
                <a:solidFill>
                  <a:srgbClr val="526778"/>
                </a:solidFill>
                <a:latin typeface="Arial"/>
                <a:ea typeface="Arial"/>
                <a:cs typeface="Arial"/>
              </a:rPr>
              <a:t>03</a:t>
            </a:r>
          </a:p>
        </p:txBody>
      </p:sp>
      <p:sp>
        <p:nvSpPr>
          <p:cNvPr id="2" name="title">
            <a:extLst xmlns:a="http://schemas.openxmlformats.org/drawingml/2006/main">
              <a:ext uri="{FF2B5EF4-FFF2-40B4-BE49-F238E27FC236}">
                <a16:creationId xmlns:a16="http://schemas.microsoft.com/office/drawing/2014/main" id="{7F2EBDE2-8265-4EF6-9AC8-0287D36E3875}"/>
              </a:ext>
            </a:extLst>
          </p:cNvPr>
          <p:cNvSpPr>
            <a:spLocks xmlns:a="http://schemas.openxmlformats.org/drawingml/2006/main" noGrp="1"/>
          </p:cNvSpPr>
          <p:nvPr/>
        </p:nvSpPr>
        <p:spPr>
          <a:xfrm xmlns:a="http://schemas.openxmlformats.org/drawingml/2006/main">
            <a:off x="685800" y="5715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Data and empirical method</a:t>
            </a:r>
          </a:p>
        </p:txBody>
      </p:sp>
      <p:sp>
        <p:nvSpPr>
          <p:cNvPr id="3" name="dataset-years">
            <a:extLst xmlns:a="http://schemas.openxmlformats.org/drawingml/2006/main">
              <a:ext uri="{FF2B5EF4-FFF2-40B4-BE49-F238E27FC236}">
                <a16:creationId xmlns:a16="http://schemas.microsoft.com/office/drawing/2014/main" id="{0AAA4058-6195-4901-8CDE-7C2E406CAAE1}"/>
              </a:ext>
            </a:extLst>
          </p:cNvPr>
          <p:cNvSpPr>
            <a:spLocks xmlns:a="http://schemas.openxmlformats.org/drawingml/2006/main" noGrp="1"/>
          </p:cNvSpPr>
          <p:nvPr/>
        </p:nvSpPr>
        <p:spPr>
          <a:xfrm xmlns:a="http://schemas.openxmlformats.org/drawingml/2006/main">
            <a:off x="685800" y="180022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007F82"/>
                </a:solidFill>
                <a:latin typeface="Arial"/>
                <a:ea typeface="Arial"/>
                <a:cs typeface="Arial"/>
              </a:defRPr>
            </a:defPPr>
          </a:lstStyle>
          <a:p xmlns:a="http://schemas.openxmlformats.org/drawingml/2006/main">
            <a:pPr>
              <a:defRPr sz="4650" b="1">
                <a:solidFill>
                  <a:srgbClr val="007F82"/>
                </a:solidFill>
                <a:latin typeface="Arial"/>
                <a:ea typeface="Arial"/>
                <a:cs typeface="Arial"/>
              </a:defRPr>
            </a:pPr>
            <a:r>
              <a:rPr sz="4650" b="1">
                <a:solidFill>
                  <a:srgbClr val="007F82"/>
                </a:solidFill>
                <a:latin typeface="Arial"/>
                <a:ea typeface="Arial"/>
                <a:cs typeface="Arial"/>
              </a:rPr>
              <a:t>2010–2016</a:t>
            </a:r>
          </a:p>
        </p:txBody>
      </p:sp>
      <p:sp>
        <p:nvSpPr>
          <p:cNvPr id="4" name="dataset">
            <a:extLst xmlns:a="http://schemas.openxmlformats.org/drawingml/2006/main">
              <a:ext uri="{FF2B5EF4-FFF2-40B4-BE49-F238E27FC236}">
                <a16:creationId xmlns:a16="http://schemas.microsoft.com/office/drawing/2014/main" id="{F9F27F46-5A42-44BD-8878-9D84C2D5B1FF}"/>
              </a:ext>
            </a:extLst>
          </p:cNvPr>
          <p:cNvSpPr>
            <a:spLocks xmlns:a="http://schemas.openxmlformats.org/drawingml/2006/main" noGrp="1"/>
          </p:cNvSpPr>
          <p:nvPr/>
        </p:nvSpPr>
        <p:spPr>
          <a:xfrm xmlns:a="http://schemas.openxmlformats.org/drawingml/2006/main">
            <a:off x="685800" y="289560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02A43"/>
                </a:solidFill>
                <a:latin typeface="Arial"/>
                <a:ea typeface="Arial"/>
                <a:cs typeface="Arial"/>
              </a:defRPr>
            </a:defPPr>
          </a:lstStyle>
          <a:p xmlns:a="http://schemas.openxmlformats.org/drawingml/2006/main">
            <a:pPr>
              <a:defRPr sz="2400" b="0">
                <a:solidFill>
                  <a:srgbClr val="102A43"/>
                </a:solidFill>
                <a:latin typeface="Arial"/>
                <a:ea typeface="Arial"/>
                <a:cs typeface="Arial"/>
              </a:defRPr>
            </a:pPr>
            <a:r>
              <a:rPr sz="2400" b="0">
                <a:solidFill>
                  <a:srgbClr val="102A43"/>
                </a:solidFill>
                <a:latin typeface="Arial"/>
                <a:ea typeface="Arial"/>
                <a:cs typeface="Arial"/>
              </a:rPr>
              <a:t>U.S. loan-level</a:t>
            </a:r>
          </a:p>
          <a:p xmlns:a="http://schemas.openxmlformats.org/drawingml/2006/main">
            <a:pPr>
              <a:defRPr sz="2400" b="0">
                <a:solidFill>
                  <a:srgbClr val="102A43"/>
                </a:solidFill>
                <a:latin typeface="Arial"/>
                <a:ea typeface="Arial"/>
                <a:cs typeface="Arial"/>
              </a:defRPr>
            </a:pPr>
            <a:r>
              <a:rPr sz="2400" b="0">
                <a:solidFill>
                  <a:srgbClr val="102A43"/>
                </a:solidFill>
                <a:latin typeface="Arial"/>
                <a:ea typeface="Arial"/>
                <a:cs typeface="Arial"/>
              </a:rPr>
              <a:t>mortgage data (HMDA)</a:t>
            </a:r>
          </a:p>
        </p:txBody>
      </p:sp>
      <p:sp>
        <p:nvSpPr>
          <p:cNvPr id="5" name="measure">
            <a:extLst xmlns:a="http://schemas.openxmlformats.org/drawingml/2006/main">
              <a:ext uri="{FF2B5EF4-FFF2-40B4-BE49-F238E27FC236}">
                <a16:creationId xmlns:a16="http://schemas.microsoft.com/office/drawing/2014/main" id="{F71BDDB0-6D5B-40B3-8085-AC1285A0AFC7}"/>
              </a:ext>
            </a:extLst>
          </p:cNvPr>
          <p:cNvSpPr>
            <a:spLocks xmlns:a="http://schemas.openxmlformats.org/drawingml/2006/main" noGrp="1"/>
          </p:cNvSpPr>
          <p:nvPr/>
        </p:nvSpPr>
        <p:spPr>
          <a:xfrm xmlns:a="http://schemas.openxmlformats.org/drawingml/2006/main">
            <a:off x="685800" y="4562475"/>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78"/>
                </a:solidFill>
                <a:latin typeface="Arial"/>
                <a:ea typeface="Arial"/>
                <a:cs typeface="Arial"/>
              </a:defRPr>
            </a:defPPr>
          </a:lstStyle>
          <a:p xmlns:a="http://schemas.openxmlformats.org/drawingml/2006/main">
            <a:pPr>
              <a:defRPr sz="2100" b="0">
                <a:solidFill>
                  <a:srgbClr val="526778"/>
                </a:solidFill>
                <a:latin typeface="Arial"/>
                <a:ea typeface="Arial"/>
                <a:cs typeface="Arial"/>
              </a:defRPr>
            </a:pPr>
            <a:r>
              <a:rPr sz="2100" b="0">
                <a:solidFill>
                  <a:srgbClr val="526778"/>
                </a:solidFill>
                <a:latin typeface="Arial"/>
                <a:ea typeface="Arial"/>
                <a:cs typeface="Arial"/>
              </a:rPr>
              <a:t>Processing time = days</a:t>
            </a:r>
          </a:p>
          <a:p xmlns:a="http://schemas.openxmlformats.org/drawingml/2006/main">
            <a:pPr>
              <a:defRPr sz="2100" b="0">
                <a:solidFill>
                  <a:srgbClr val="526778"/>
                </a:solidFill>
                <a:latin typeface="Arial"/>
                <a:ea typeface="Arial"/>
                <a:cs typeface="Arial"/>
              </a:defRPr>
            </a:pPr>
            <a:r>
              <a:rPr sz="2100" b="0">
                <a:solidFill>
                  <a:srgbClr val="526778"/>
                </a:solidFill>
                <a:latin typeface="Arial"/>
                <a:ea typeface="Arial"/>
                <a:cs typeface="Arial"/>
              </a:rPr>
              <a:t>from application to closing</a:t>
            </a:r>
          </a:p>
        </p:txBody>
      </p:sp>
      <p:sp>
        <p:nvSpPr>
          <p:cNvPr id="6" name="compare-heading">
            <a:extLst xmlns:a="http://schemas.openxmlformats.org/drawingml/2006/main">
              <a:ext uri="{FF2B5EF4-FFF2-40B4-BE49-F238E27FC236}">
                <a16:creationId xmlns:a16="http://schemas.microsoft.com/office/drawing/2014/main" id="{6D931248-B205-4E0C-B886-06DDFFA780FF}"/>
              </a:ext>
            </a:extLst>
          </p:cNvPr>
          <p:cNvSpPr>
            <a:spLocks xmlns:a="http://schemas.openxmlformats.org/drawingml/2006/main" noGrp="1"/>
          </p:cNvSpPr>
          <p:nvPr/>
        </p:nvSpPr>
        <p:spPr>
          <a:xfrm xmlns:a="http://schemas.openxmlformats.org/drawingml/2006/main">
            <a:off x="6238875"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Compare similar loans</a:t>
            </a:r>
          </a:p>
        </p:txBody>
      </p:sp>
      <p:sp>
        <p:nvSpPr>
          <p:cNvPr id="7" name="compare-body">
            <a:extLst xmlns:a="http://schemas.openxmlformats.org/drawingml/2006/main">
              <a:ext uri="{FF2B5EF4-FFF2-40B4-BE49-F238E27FC236}">
                <a16:creationId xmlns:a16="http://schemas.microsoft.com/office/drawing/2014/main" id="{B52509CF-8EAB-4093-ABD8-B35BFF195FE4}"/>
              </a:ext>
            </a:extLst>
          </p:cNvPr>
          <p:cNvSpPr>
            <a:spLocks xmlns:a="http://schemas.openxmlformats.org/drawingml/2006/main" noGrp="1"/>
          </p:cNvSpPr>
          <p:nvPr/>
        </p:nvSpPr>
        <p:spPr>
          <a:xfrm xmlns:a="http://schemas.openxmlformats.org/drawingml/2006/main">
            <a:off x="6238875" y="2324100"/>
            <a:ext cx="5286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78"/>
                </a:solidFill>
                <a:latin typeface="Arial"/>
                <a:ea typeface="Arial"/>
                <a:cs typeface="Arial"/>
              </a:defRPr>
            </a:defPPr>
          </a:lstStyle>
          <a:p xmlns:a="http://schemas.openxmlformats.org/drawingml/2006/main">
            <a:pPr>
              <a:defRPr sz="2100" b="0">
                <a:solidFill>
                  <a:srgbClr val="526778"/>
                </a:solidFill>
                <a:latin typeface="Arial"/>
                <a:ea typeface="Arial"/>
                <a:cs typeface="Arial"/>
              </a:defRPr>
            </a:pPr>
            <a:r>
              <a:rPr sz="2100" b="0">
                <a:solidFill>
                  <a:srgbClr val="526778"/>
                </a:solidFill>
                <a:latin typeface="Arial"/>
                <a:ea typeface="Arial"/>
                <a:cs typeface="Arial"/>
              </a:rPr>
              <a:t>Control borrower and loan features,</a:t>
            </a:r>
          </a:p>
          <a:p xmlns:a="http://schemas.openxmlformats.org/drawingml/2006/main">
            <a:pPr>
              <a:defRPr sz="2100" b="0">
                <a:solidFill>
                  <a:srgbClr val="526778"/>
                </a:solidFill>
                <a:latin typeface="Arial"/>
                <a:ea typeface="Arial"/>
                <a:cs typeface="Arial"/>
              </a:defRPr>
            </a:pPr>
            <a:r>
              <a:rPr sz="2100" b="0">
                <a:solidFill>
                  <a:srgbClr val="526778"/>
                </a:solidFill>
                <a:latin typeface="Arial"/>
                <a:ea typeface="Arial"/>
                <a:cs typeface="Arial"/>
              </a:rPr>
              <a:t>plus location and month</a:t>
            </a:r>
          </a:p>
        </p:txBody>
      </p:sp>
      <p:sp>
        <p:nvSpPr>
          <p:cNvPr id="8" name="robust-heading">
            <a:extLst xmlns:a="http://schemas.openxmlformats.org/drawingml/2006/main">
              <a:ext uri="{FF2B5EF4-FFF2-40B4-BE49-F238E27FC236}">
                <a16:creationId xmlns:a16="http://schemas.microsoft.com/office/drawing/2014/main" id="{5363D15D-E088-4B54-A20B-F0DB862AC188}"/>
              </a:ext>
            </a:extLst>
          </p:cNvPr>
          <p:cNvSpPr>
            <a:spLocks xmlns:a="http://schemas.openxmlformats.org/drawingml/2006/main" noGrp="1"/>
          </p:cNvSpPr>
          <p:nvPr/>
        </p:nvSpPr>
        <p:spPr>
          <a:xfrm xmlns:a="http://schemas.openxmlformats.org/drawingml/2006/main">
            <a:off x="6238875" y="3533775"/>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Alternative explanations</a:t>
            </a:r>
          </a:p>
        </p:txBody>
      </p:sp>
      <p:sp>
        <p:nvSpPr>
          <p:cNvPr id="9" name="robust-body">
            <a:extLst xmlns:a="http://schemas.openxmlformats.org/drawingml/2006/main">
              <a:ext uri="{FF2B5EF4-FFF2-40B4-BE49-F238E27FC236}">
                <a16:creationId xmlns:a16="http://schemas.microsoft.com/office/drawing/2014/main" id="{41305BD4-B630-4D6F-A717-F6AE3A743912}"/>
              </a:ext>
            </a:extLst>
          </p:cNvPr>
          <p:cNvSpPr>
            <a:spLocks xmlns:a="http://schemas.openxmlformats.org/drawingml/2006/main" noGrp="1"/>
          </p:cNvSpPr>
          <p:nvPr/>
        </p:nvSpPr>
        <p:spPr>
          <a:xfrm xmlns:a="http://schemas.openxmlformats.org/drawingml/2006/main">
            <a:off x="6238875" y="4114800"/>
            <a:ext cx="528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78"/>
                </a:solidFill>
                <a:latin typeface="Arial"/>
                <a:ea typeface="Arial"/>
                <a:cs typeface="Arial"/>
              </a:defRPr>
            </a:defPPr>
          </a:lstStyle>
          <a:p xmlns:a="http://schemas.openxmlformats.org/drawingml/2006/main">
            <a:pPr>
              <a:defRPr sz="2100" b="0">
                <a:solidFill>
                  <a:srgbClr val="526778"/>
                </a:solidFill>
                <a:latin typeface="Arial"/>
                <a:ea typeface="Arial"/>
                <a:cs typeface="Arial"/>
              </a:defRPr>
            </a:pPr>
            <a:r>
              <a:rPr sz="2100" b="0">
                <a:solidFill>
                  <a:srgbClr val="526778"/>
                </a:solidFill>
                <a:latin typeface="Arial"/>
                <a:ea typeface="Arial"/>
                <a:cs typeface="Arial"/>
              </a:rPr>
              <a:t>Compare with other nonbanks</a:t>
            </a:r>
          </a:p>
          <a:p xmlns:a="http://schemas.openxmlformats.org/drawingml/2006/main">
            <a:pPr>
              <a:defRPr sz="2100" b="0">
                <a:solidFill>
                  <a:srgbClr val="526778"/>
                </a:solidFill>
                <a:latin typeface="Arial"/>
                <a:ea typeface="Arial"/>
                <a:cs typeface="Arial"/>
              </a:defRPr>
            </a:pPr>
            <a:r>
              <a:rPr sz="2100" b="0">
                <a:solidFill>
                  <a:srgbClr val="526778"/>
                </a:solidFill>
                <a:latin typeface="Arial"/>
                <a:ea typeface="Arial"/>
                <a:cs typeface="Arial"/>
              </a:rPr>
              <a:t>Check FHA defaults and demand shocks</a:t>
            </a:r>
          </a:p>
        </p:txBody>
      </p:sp>
      <p:sp>
        <p:nvSpPr>
          <p:cNvPr id="10" name="caveat">
            <a:extLst xmlns:a="http://schemas.openxmlformats.org/drawingml/2006/main">
              <a:ext uri="{FF2B5EF4-FFF2-40B4-BE49-F238E27FC236}">
                <a16:creationId xmlns:a16="http://schemas.microsoft.com/office/drawing/2014/main" id="{D5AB82C5-A041-4629-A2C3-364DDD4959F6}"/>
              </a:ext>
            </a:extLst>
          </p:cNvPr>
          <p:cNvSpPr>
            <a:spLocks xmlns:a="http://schemas.openxmlformats.org/drawingml/2006/main" noGrp="1"/>
          </p:cNvSpPr>
          <p:nvPr/>
        </p:nvSpPr>
        <p:spPr>
          <a:xfrm xmlns:a="http://schemas.openxmlformats.org/drawingml/2006/main">
            <a:off x="685800" y="55721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F82"/>
                </a:solidFill>
                <a:latin typeface="Arial"/>
                <a:ea typeface="Arial"/>
                <a:cs typeface="Arial"/>
              </a:defRPr>
            </a:defPPr>
          </a:lstStyle>
          <a:p xmlns:a="http://schemas.openxmlformats.org/drawingml/2006/main">
            <a:pPr>
              <a:defRPr sz="1875" b="0">
                <a:solidFill>
                  <a:srgbClr val="007F82"/>
                </a:solidFill>
                <a:latin typeface="Arial"/>
                <a:ea typeface="Arial"/>
                <a:cs typeface="Arial"/>
              </a:defRPr>
            </a:pPr>
            <a:r>
              <a:rPr sz="1875" b="0">
                <a:solidFill>
                  <a:srgbClr val="007F82"/>
                </a:solidFill>
                <a:latin typeface="Arial"/>
                <a:ea typeface="Arial"/>
                <a:cs typeface="Arial"/>
              </a:rPr>
              <a:t>Observational evidence: unmeasured differences may remain</a:t>
            </a:r>
          </a:p>
        </p:txBody>
      </p:sp>
      <p:sp>
        <p:nvSpPr>
          <p:cNvPr id="11" name="source-footer">
            <a:extLst xmlns:a="http://schemas.openxmlformats.org/drawingml/2006/main">
              <a:ext uri="{FF2B5EF4-FFF2-40B4-BE49-F238E27FC236}">
                <a16:creationId xmlns:a16="http://schemas.microsoft.com/office/drawing/2014/main" id="{DD85AA46-B567-4B62-87B1-F73B874E6079}"/>
              </a:ext>
            </a:extLst>
          </p:cNvPr>
          <p:cNvSpPr>
            <a:spLocks xmlns:a="http://schemas.openxmlformats.org/drawingml/2006/main" noGrp="1"/>
          </p:cNvSpPr>
          <p:nvPr/>
        </p:nvSpPr>
        <p:spPr>
          <a:xfrm xmlns:a="http://schemas.openxmlformats.org/drawingml/2006/main">
            <a:off x="685800" y="61912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Fuster et al. (2018), New York Fed Staff Report 836</a:t>
            </a:r>
          </a:p>
        </p:txBody>
      </p:sp>
    </p:spTree>
    <p:extLst>
      <p:ext uri="{BB962C8B-B14F-4D97-AF65-F5344CB8AC3E}">
        <p14:creationId xmlns:p14="http://schemas.microsoft.com/office/powerpoint/2010/main" val="609568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age">
            <a:extLst xmlns:a="http://schemas.openxmlformats.org/drawingml/2006/main">
              <a:ext uri="{FF2B5EF4-FFF2-40B4-BE49-F238E27FC236}">
                <a16:creationId xmlns:a16="http://schemas.microsoft.com/office/drawing/2014/main" id="{6393CE3D-0443-4DB8-8146-4FBAE28D55D8}"/>
              </a:ext>
            </a:extLst>
          </p:cNvPr>
          <p:cNvSpPr>
            <a:spLocks xmlns:a="http://schemas.openxmlformats.org/drawingml/2006/main" noGrp="1"/>
          </p:cNvSpPr>
          <p:nvPr/>
        </p:nvSpPr>
        <p:spPr>
          <a:xfrm xmlns:a="http://schemas.openxmlformats.org/drawingml/2006/main">
            <a:off x="11049000" y="6191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778"/>
                </a:solidFill>
                <a:latin typeface="Arial"/>
                <a:ea typeface="Arial"/>
                <a:cs typeface="Arial"/>
              </a:defRPr>
            </a:defPPr>
          </a:lstStyle>
          <a:p xmlns:a="http://schemas.openxmlformats.org/drawingml/2006/main">
            <a:pPr>
              <a:defRPr sz="1425" b="0">
                <a:solidFill>
                  <a:srgbClr val="526778"/>
                </a:solidFill>
                <a:latin typeface="Arial"/>
                <a:ea typeface="Arial"/>
                <a:cs typeface="Arial"/>
              </a:defRPr>
            </a:pPr>
            <a:r>
              <a:rPr sz="1425" b="0">
                <a:solidFill>
                  <a:srgbClr val="526778"/>
                </a:solidFill>
                <a:latin typeface="Arial"/>
                <a:ea typeface="Arial"/>
                <a:cs typeface="Arial"/>
              </a:rPr>
              <a:t>04</a:t>
            </a:r>
          </a:p>
        </p:txBody>
      </p:sp>
      <p:sp>
        <p:nvSpPr>
          <p:cNvPr id="2" name="title">
            <a:extLst xmlns:a="http://schemas.openxmlformats.org/drawingml/2006/main">
              <a:ext uri="{FF2B5EF4-FFF2-40B4-BE49-F238E27FC236}">
                <a16:creationId xmlns:a16="http://schemas.microsoft.com/office/drawing/2014/main" id="{B774C42B-9B3B-4BA9-83BA-B29EE015E45F}"/>
              </a:ext>
            </a:extLst>
          </p:cNvPr>
          <p:cNvSpPr>
            <a:spLocks xmlns:a="http://schemas.openxmlformats.org/drawingml/2006/main" noGrp="1"/>
          </p:cNvSpPr>
          <p:nvPr/>
        </p:nvSpPr>
        <p:spPr>
          <a:xfrm xmlns:a="http://schemas.openxmlformats.org/drawingml/2006/main">
            <a:off x="685800" y="5715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Faster processing and loan risk</a:t>
            </a:r>
          </a:p>
        </p:txBody>
      </p:sp>
      <p:sp>
        <p:nvSpPr>
          <p:cNvPr id="3" name="speed-number">
            <a:extLst xmlns:a="http://schemas.openxmlformats.org/drawingml/2006/main">
              <a:ext uri="{FF2B5EF4-FFF2-40B4-BE49-F238E27FC236}">
                <a16:creationId xmlns:a16="http://schemas.microsoft.com/office/drawing/2014/main" id="{273652EA-D093-4AFB-89AF-9A92B68C4E62}"/>
              </a:ext>
            </a:extLst>
          </p:cNvPr>
          <p:cNvSpPr>
            <a:spLocks xmlns:a="http://schemas.openxmlformats.org/drawingml/2006/main" noGrp="1"/>
          </p:cNvSpPr>
          <p:nvPr/>
        </p:nvSpPr>
        <p:spPr>
          <a:xfrm xmlns:a="http://schemas.openxmlformats.org/drawingml/2006/main">
            <a:off x="685800" y="170497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700" b="1">
                <a:solidFill>
                  <a:srgbClr val="007F82"/>
                </a:solidFill>
                <a:latin typeface="Arial"/>
                <a:ea typeface="Arial"/>
                <a:cs typeface="Arial"/>
              </a:defRPr>
            </a:defPPr>
          </a:lstStyle>
          <a:p xmlns:a="http://schemas.openxmlformats.org/drawingml/2006/main">
            <a:pPr>
              <a:defRPr sz="8700" b="1">
                <a:solidFill>
                  <a:srgbClr val="007F82"/>
                </a:solidFill>
                <a:latin typeface="Arial"/>
                <a:ea typeface="Arial"/>
                <a:cs typeface="Arial"/>
              </a:defRPr>
            </a:pPr>
            <a:r>
              <a:rPr sz="8700" b="1">
                <a:solidFill>
                  <a:srgbClr val="007F82"/>
                </a:solidFill>
                <a:latin typeface="Arial"/>
                <a:ea typeface="Arial"/>
                <a:cs typeface="Arial"/>
              </a:rPr>
              <a:t>~20%</a:t>
            </a:r>
          </a:p>
        </p:txBody>
      </p:sp>
      <p:sp>
        <p:nvSpPr>
          <p:cNvPr id="4" name="speed-label">
            <a:extLst xmlns:a="http://schemas.openxmlformats.org/drawingml/2006/main">
              <a:ext uri="{FF2B5EF4-FFF2-40B4-BE49-F238E27FC236}">
                <a16:creationId xmlns:a16="http://schemas.microsoft.com/office/drawing/2014/main" id="{40FB6A9C-507E-432D-8671-C7B1DDEDFC7D}"/>
              </a:ext>
            </a:extLst>
          </p:cNvPr>
          <p:cNvSpPr>
            <a:spLocks xmlns:a="http://schemas.openxmlformats.org/drawingml/2006/main" noGrp="1"/>
          </p:cNvSpPr>
          <p:nvPr/>
        </p:nvSpPr>
        <p:spPr>
          <a:xfrm xmlns:a="http://schemas.openxmlformats.org/drawingml/2006/main">
            <a:off x="685800" y="33909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02A43"/>
                </a:solidFill>
                <a:latin typeface="Arial"/>
                <a:ea typeface="Arial"/>
                <a:cs typeface="Arial"/>
              </a:defRPr>
            </a:defPPr>
          </a:lstStyle>
          <a:p xmlns:a="http://schemas.openxmlformats.org/drawingml/2006/main">
            <a:pPr>
              <a:defRPr sz="2625" b="1">
                <a:solidFill>
                  <a:srgbClr val="102A43"/>
                </a:solidFill>
                <a:latin typeface="Arial"/>
                <a:ea typeface="Arial"/>
                <a:cs typeface="Arial"/>
              </a:defRPr>
            </a:pPr>
            <a:r>
              <a:rPr sz="2625" b="1">
                <a:solidFill>
                  <a:srgbClr val="102A43"/>
                </a:solidFill>
                <a:latin typeface="Arial"/>
                <a:ea typeface="Arial"/>
                <a:cs typeface="Arial"/>
              </a:rPr>
              <a:t>shorter processing time</a:t>
            </a:r>
          </a:p>
        </p:txBody>
      </p:sp>
      <p:sp>
        <p:nvSpPr>
          <p:cNvPr id="5" name="days">
            <a:extLst xmlns:a="http://schemas.openxmlformats.org/drawingml/2006/main">
              <a:ext uri="{FF2B5EF4-FFF2-40B4-BE49-F238E27FC236}">
                <a16:creationId xmlns:a16="http://schemas.microsoft.com/office/drawing/2014/main" id="{4A0A3462-ED7D-492E-B811-1B6B8271694D}"/>
              </a:ext>
            </a:extLst>
          </p:cNvPr>
          <p:cNvSpPr>
            <a:spLocks xmlns:a="http://schemas.openxmlformats.org/drawingml/2006/main" noGrp="1"/>
          </p:cNvSpPr>
          <p:nvPr/>
        </p:nvSpPr>
        <p:spPr>
          <a:xfrm xmlns:a="http://schemas.openxmlformats.org/drawingml/2006/main">
            <a:off x="685800" y="433387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26778"/>
                </a:solidFill>
                <a:latin typeface="Arial"/>
                <a:ea typeface="Arial"/>
                <a:cs typeface="Arial"/>
              </a:defRPr>
            </a:defPPr>
          </a:lstStyle>
          <a:p xmlns:a="http://schemas.openxmlformats.org/drawingml/2006/main">
            <a:pPr>
              <a:defRPr sz="2325" b="0">
                <a:solidFill>
                  <a:srgbClr val="526778"/>
                </a:solidFill>
                <a:latin typeface="Arial"/>
                <a:ea typeface="Arial"/>
                <a:cs typeface="Arial"/>
              </a:defRPr>
            </a:pPr>
            <a:r>
              <a:rPr sz="2325" b="0">
                <a:solidFill>
                  <a:srgbClr val="526778"/>
                </a:solidFill>
                <a:latin typeface="Arial"/>
                <a:ea typeface="Arial"/>
                <a:cs typeface="Arial"/>
              </a:rPr>
              <a:t>About 10 fewer days</a:t>
            </a:r>
          </a:p>
          <a:p xmlns:a="http://schemas.openxmlformats.org/drawingml/2006/main">
            <a:pPr>
              <a:defRPr sz="2325" b="0">
                <a:solidFill>
                  <a:srgbClr val="526778"/>
                </a:solidFill>
                <a:latin typeface="Arial"/>
                <a:ea typeface="Arial"/>
                <a:cs typeface="Arial"/>
              </a:defRPr>
            </a:pPr>
            <a:r>
              <a:rPr sz="2325" b="0">
                <a:solidFill>
                  <a:srgbClr val="526778"/>
                </a:solidFill>
                <a:latin typeface="Arial"/>
                <a:ea typeface="Arial"/>
                <a:cs typeface="Arial"/>
              </a:rPr>
              <a:t>from application to closing</a:t>
            </a:r>
          </a:p>
        </p:txBody>
      </p:sp>
      <p:sp>
        <p:nvSpPr>
          <p:cNvPr id="6" name="heterogeneity-heading">
            <a:extLst xmlns:a="http://schemas.openxmlformats.org/drawingml/2006/main">
              <a:ext uri="{FF2B5EF4-FFF2-40B4-BE49-F238E27FC236}">
                <a16:creationId xmlns:a16="http://schemas.microsoft.com/office/drawing/2014/main" id="{90DE305E-E90B-4772-BDF2-4FD9A0AB10B6}"/>
              </a:ext>
            </a:extLst>
          </p:cNvPr>
          <p:cNvSpPr>
            <a:spLocks xmlns:a="http://schemas.openxmlformats.org/drawingml/2006/main" noGrp="1"/>
          </p:cNvSpPr>
          <p:nvPr/>
        </p:nvSpPr>
        <p:spPr>
          <a:xfrm xmlns:a="http://schemas.openxmlformats.org/drawingml/2006/main">
            <a:off x="6381750" y="1819275"/>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A43"/>
                </a:solidFill>
                <a:latin typeface="Arial"/>
                <a:ea typeface="Arial"/>
                <a:cs typeface="Arial"/>
              </a:defRPr>
            </a:defPPr>
          </a:lstStyle>
          <a:p xmlns:a="http://schemas.openxmlformats.org/drawingml/2006/main">
            <a:pPr>
              <a:defRPr sz="2400" b="1">
                <a:solidFill>
                  <a:srgbClr val="102A43"/>
                </a:solidFill>
                <a:latin typeface="Arial"/>
                <a:ea typeface="Arial"/>
                <a:cs typeface="Arial"/>
              </a:defRPr>
            </a:pPr>
            <a:r>
              <a:rPr sz="2400" b="1">
                <a:solidFill>
                  <a:srgbClr val="102A43"/>
                </a:solidFill>
                <a:latin typeface="Arial"/>
                <a:ea typeface="Arial"/>
                <a:cs typeface="Arial"/>
              </a:rPr>
              <a:t>Larger advantage for refinancing</a:t>
            </a:r>
          </a:p>
        </p:txBody>
      </p:sp>
      <p:sp>
        <p:nvSpPr>
          <p:cNvPr id="7" name="risk-heading">
            <a:extLst xmlns:a="http://schemas.openxmlformats.org/drawingml/2006/main">
              <a:ext uri="{FF2B5EF4-FFF2-40B4-BE49-F238E27FC236}">
                <a16:creationId xmlns:a16="http://schemas.microsoft.com/office/drawing/2014/main" id="{45BE1801-5896-4E67-96E8-16D98F2C298A}"/>
              </a:ext>
            </a:extLst>
          </p:cNvPr>
          <p:cNvSpPr>
            <a:spLocks xmlns:a="http://schemas.openxmlformats.org/drawingml/2006/main" noGrp="1"/>
          </p:cNvSpPr>
          <p:nvPr/>
        </p:nvSpPr>
        <p:spPr>
          <a:xfrm xmlns:a="http://schemas.openxmlformats.org/drawingml/2006/main">
            <a:off x="6381750" y="3400425"/>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A43"/>
                </a:solidFill>
                <a:latin typeface="Arial"/>
                <a:ea typeface="Arial"/>
                <a:cs typeface="Arial"/>
              </a:defRPr>
            </a:defPPr>
          </a:lstStyle>
          <a:p xmlns:a="http://schemas.openxmlformats.org/drawingml/2006/main">
            <a:pPr>
              <a:defRPr sz="2400" b="1">
                <a:solidFill>
                  <a:srgbClr val="102A43"/>
                </a:solidFill>
                <a:latin typeface="Arial"/>
                <a:ea typeface="Arial"/>
                <a:cs typeface="Arial"/>
              </a:defRPr>
            </a:pPr>
            <a:r>
              <a:rPr sz="2400" b="1">
                <a:solidFill>
                  <a:srgbClr val="102A43"/>
                </a:solidFill>
                <a:latin typeface="Arial"/>
                <a:ea typeface="Arial"/>
                <a:cs typeface="Arial"/>
              </a:rPr>
              <a:t>No higher defaults in FHA samples</a:t>
            </a:r>
          </a:p>
        </p:txBody>
      </p:sp>
      <p:sp>
        <p:nvSpPr>
          <p:cNvPr id="8" name="risk-scope">
            <a:extLst xmlns:a="http://schemas.openxmlformats.org/drawingml/2006/main">
              <a:ext uri="{FF2B5EF4-FFF2-40B4-BE49-F238E27FC236}">
                <a16:creationId xmlns:a16="http://schemas.microsoft.com/office/drawing/2014/main" id="{CBD6D81C-F1C7-476A-92A6-E4C852FD8C70}"/>
              </a:ext>
            </a:extLst>
          </p:cNvPr>
          <p:cNvSpPr>
            <a:spLocks xmlns:a="http://schemas.openxmlformats.org/drawingml/2006/main" noGrp="1"/>
          </p:cNvSpPr>
          <p:nvPr/>
        </p:nvSpPr>
        <p:spPr>
          <a:xfrm xmlns:a="http://schemas.openxmlformats.org/drawingml/2006/main">
            <a:off x="6381750" y="4610100"/>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78"/>
                </a:solidFill>
                <a:latin typeface="Arial"/>
                <a:ea typeface="Arial"/>
                <a:cs typeface="Arial"/>
              </a:defRPr>
            </a:defPPr>
          </a:lstStyle>
          <a:p xmlns:a="http://schemas.openxmlformats.org/drawingml/2006/main">
            <a:pPr>
              <a:defRPr sz="2175" b="0">
                <a:solidFill>
                  <a:srgbClr val="526778"/>
                </a:solidFill>
                <a:latin typeface="Arial"/>
                <a:ea typeface="Arial"/>
                <a:cs typeface="Arial"/>
              </a:defRPr>
            </a:pPr>
            <a:r>
              <a:rPr sz="2175" b="0">
                <a:solidFill>
                  <a:srgbClr val="526778"/>
                </a:solidFill>
                <a:latin typeface="Arial"/>
                <a:ea typeface="Arial"/>
                <a:cs typeface="Arial"/>
              </a:rPr>
              <a:t>Risk evidence covers FHA mortgages</a:t>
            </a:r>
          </a:p>
          <a:p xmlns:a="http://schemas.openxmlformats.org/drawingml/2006/main">
            <a:pPr>
              <a:defRPr sz="2175" b="0">
                <a:solidFill>
                  <a:srgbClr val="526778"/>
                </a:solidFill>
                <a:latin typeface="Arial"/>
                <a:ea typeface="Arial"/>
                <a:cs typeface="Arial"/>
              </a:defRPr>
            </a:pPr>
            <a:r>
              <a:rPr sz="2175" b="0">
                <a:solidFill>
                  <a:srgbClr val="526778"/>
                </a:solidFill>
                <a:latin typeface="Arial"/>
                <a:ea typeface="Arial"/>
                <a:cs typeface="Arial"/>
              </a:rPr>
              <a:t>during the study period</a:t>
            </a:r>
          </a:p>
        </p:txBody>
      </p:sp>
      <p:sp>
        <p:nvSpPr>
          <p:cNvPr id="9" name="source-footer">
            <a:extLst xmlns:a="http://schemas.openxmlformats.org/drawingml/2006/main">
              <a:ext uri="{FF2B5EF4-FFF2-40B4-BE49-F238E27FC236}">
                <a16:creationId xmlns:a16="http://schemas.microsoft.com/office/drawing/2014/main" id="{F53E6A0F-B564-479A-8CD9-D85F139D8941}"/>
              </a:ext>
            </a:extLst>
          </p:cNvPr>
          <p:cNvSpPr>
            <a:spLocks xmlns:a="http://schemas.openxmlformats.org/drawingml/2006/main" noGrp="1"/>
          </p:cNvSpPr>
          <p:nvPr/>
        </p:nvSpPr>
        <p:spPr>
          <a:xfrm xmlns:a="http://schemas.openxmlformats.org/drawingml/2006/main">
            <a:off x="685800" y="61912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Source: Fuster et al. (2018), Sections III–IV and Tables 3–5</a:t>
            </a:r>
          </a:p>
        </p:txBody>
      </p:sp>
    </p:spTree>
    <p:extLst>
      <p:ext uri="{BB962C8B-B14F-4D97-AF65-F5344CB8AC3E}">
        <p14:creationId xmlns:p14="http://schemas.microsoft.com/office/powerpoint/2010/main" val="9561260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age">
            <a:extLst xmlns:a="http://schemas.openxmlformats.org/drawingml/2006/main">
              <a:ext uri="{FF2B5EF4-FFF2-40B4-BE49-F238E27FC236}">
                <a16:creationId xmlns:a16="http://schemas.microsoft.com/office/drawing/2014/main" id="{B1F1DE91-FFE9-43E9-8614-2BBE45E96BB0}"/>
              </a:ext>
            </a:extLst>
          </p:cNvPr>
          <p:cNvSpPr>
            <a:spLocks xmlns:a="http://schemas.openxmlformats.org/drawingml/2006/main" noGrp="1"/>
          </p:cNvSpPr>
          <p:nvPr/>
        </p:nvSpPr>
        <p:spPr>
          <a:xfrm xmlns:a="http://schemas.openxmlformats.org/drawingml/2006/main">
            <a:off x="11049000" y="6191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778"/>
                </a:solidFill>
                <a:latin typeface="Arial"/>
                <a:ea typeface="Arial"/>
                <a:cs typeface="Arial"/>
              </a:defRPr>
            </a:defPPr>
          </a:lstStyle>
          <a:p xmlns:a="http://schemas.openxmlformats.org/drawingml/2006/main">
            <a:pPr>
              <a:defRPr sz="1425" b="0">
                <a:solidFill>
                  <a:srgbClr val="526778"/>
                </a:solidFill>
                <a:latin typeface="Arial"/>
                <a:ea typeface="Arial"/>
                <a:cs typeface="Arial"/>
              </a:defRPr>
            </a:pPr>
            <a:r>
              <a:rPr sz="1425" b="0">
                <a:solidFill>
                  <a:srgbClr val="526778"/>
                </a:solidFill>
                <a:latin typeface="Arial"/>
                <a:ea typeface="Arial"/>
                <a:cs typeface="Arial"/>
              </a:rPr>
              <a:t>05</a:t>
            </a:r>
          </a:p>
        </p:txBody>
      </p:sp>
      <p:sp>
        <p:nvSpPr>
          <p:cNvPr id="2" name="title">
            <a:extLst xmlns:a="http://schemas.openxmlformats.org/drawingml/2006/main">
              <a:ext uri="{FF2B5EF4-FFF2-40B4-BE49-F238E27FC236}">
                <a16:creationId xmlns:a16="http://schemas.microsoft.com/office/drawing/2014/main" id="{FD8985C2-8D0A-443D-85CD-7BE29794735E}"/>
              </a:ext>
            </a:extLst>
          </p:cNvPr>
          <p:cNvSpPr>
            <a:spLocks xmlns:a="http://schemas.openxmlformats.org/drawingml/2006/main" noGrp="1"/>
          </p:cNvSpPr>
          <p:nvPr/>
        </p:nvSpPr>
        <p:spPr>
          <a:xfrm xmlns:a="http://schemas.openxmlformats.org/drawingml/2006/main">
            <a:off x="685800" y="5715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A43"/>
                </a:solidFill>
                <a:latin typeface="Arial"/>
                <a:ea typeface="Arial"/>
                <a:cs typeface="Arial"/>
              </a:defRPr>
            </a:defPPr>
          </a:lstStyle>
          <a:p xmlns:a="http://schemas.openxmlformats.org/drawingml/2006/main">
            <a:pPr>
              <a:defRPr sz="3450" b="1">
                <a:solidFill>
                  <a:srgbClr val="102A43"/>
                </a:solidFill>
                <a:latin typeface="Arial"/>
                <a:ea typeface="Arial"/>
                <a:cs typeface="Arial"/>
              </a:defRPr>
            </a:pPr>
            <a:r>
              <a:rPr sz="3450" b="1">
                <a:solidFill>
                  <a:srgbClr val="102A43"/>
                </a:solidFill>
                <a:latin typeface="Arial"/>
                <a:ea typeface="Arial"/>
                <a:cs typeface="Arial"/>
              </a:rPr>
              <a:t>Capacity during demand surges</a:t>
            </a:r>
          </a:p>
        </p:txBody>
      </p:sp>
      <p:sp>
        <p:nvSpPr>
          <p:cNvPr id="3" name="condition">
            <a:extLst xmlns:a="http://schemas.openxmlformats.org/drawingml/2006/main">
              <a:ext uri="{FF2B5EF4-FFF2-40B4-BE49-F238E27FC236}">
                <a16:creationId xmlns:a16="http://schemas.microsoft.com/office/drawing/2014/main" id="{C7B3C703-1EEC-449F-8C02-33FBCD80929D}"/>
              </a:ext>
            </a:extLst>
          </p:cNvPr>
          <p:cNvSpPr>
            <a:spLocks xmlns:a="http://schemas.openxmlformats.org/drawingml/2006/main" noGrp="1"/>
          </p:cNvSpPr>
          <p:nvPr/>
        </p:nvSpPr>
        <p:spPr>
          <a:xfrm xmlns:a="http://schemas.openxmlformats.org/drawingml/2006/main">
            <a:off x="685800" y="143827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778"/>
                </a:solidFill>
                <a:latin typeface="Arial"/>
                <a:ea typeface="Arial"/>
                <a:cs typeface="Arial"/>
              </a:defRPr>
            </a:defPPr>
          </a:lstStyle>
          <a:p xmlns:a="http://schemas.openxmlformats.org/drawingml/2006/main">
            <a:pPr>
              <a:defRPr sz="2250" b="0">
                <a:solidFill>
                  <a:srgbClr val="526778"/>
                </a:solidFill>
                <a:latin typeface="Arial"/>
                <a:ea typeface="Arial"/>
                <a:cs typeface="Arial"/>
              </a:defRPr>
            </a:pPr>
            <a:r>
              <a:rPr sz="2250" b="0">
                <a:solidFill>
                  <a:srgbClr val="526778"/>
                </a:solidFill>
                <a:latin typeface="Arial"/>
                <a:ea typeface="Arial"/>
                <a:cs typeface="Arial"/>
              </a:rPr>
              <a:t>When nationwide application volume doubles</a:t>
            </a:r>
          </a:p>
        </p:txBody>
      </p:sp>
      <p:sp>
        <p:nvSpPr>
          <p:cNvPr id="4" name="unit">
            <a:extLst xmlns:a="http://schemas.openxmlformats.org/drawingml/2006/main">
              <a:ext uri="{FF2B5EF4-FFF2-40B4-BE49-F238E27FC236}">
                <a16:creationId xmlns:a16="http://schemas.microsoft.com/office/drawing/2014/main" id="{188422C4-9737-4DF2-BF18-82A29F9DF850}"/>
              </a:ext>
            </a:extLst>
          </p:cNvPr>
          <p:cNvSpPr>
            <a:spLocks xmlns:a="http://schemas.openxmlformats.org/drawingml/2006/main" noGrp="1"/>
          </p:cNvSpPr>
          <p:nvPr/>
        </p:nvSpPr>
        <p:spPr>
          <a:xfrm xmlns:a="http://schemas.openxmlformats.org/drawingml/2006/main">
            <a:off x="685800" y="21621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02A43"/>
                </a:solidFill>
                <a:latin typeface="Arial"/>
                <a:ea typeface="Arial"/>
                <a:cs typeface="Arial"/>
              </a:defRPr>
            </a:defPPr>
          </a:lstStyle>
          <a:p xmlns:a="http://schemas.openxmlformats.org/drawingml/2006/main">
            <a:pPr>
              <a:defRPr sz="2025" b="1">
                <a:solidFill>
                  <a:srgbClr val="102A43"/>
                </a:solidFill>
                <a:latin typeface="Arial"/>
                <a:ea typeface="Arial"/>
                <a:cs typeface="Arial"/>
              </a:defRPr>
            </a:pPr>
            <a:r>
              <a:rPr sz="2025" b="1">
                <a:solidFill>
                  <a:srgbClr val="102A43"/>
                </a:solidFill>
                <a:latin typeface="Arial"/>
                <a:ea typeface="Arial"/>
                <a:cs typeface="Arial"/>
              </a:rPr>
              <a:t>Additional processing time (days)</a:t>
            </a:r>
          </a:p>
        </p:txBody>
      </p:sp>
      <p:graphicFrame>
        <p:nvGraphicFramePr>
          <p:cNvPr id="5" name="Chart">
            <a:extLst xmlns:a="http://schemas.openxmlformats.org/drawingml/2006/main">
              <a:ext uri="{FF2B5EF4-FFF2-40B4-BE49-F238E27FC236}">
                <a16:creationId xmlns:a16="http://schemas.microsoft.com/office/drawing/2014/main" id="{F2CCB583-D196-4E2F-A8DC-8A6B44C632DA}"/>
              </a:ext>
            </a:extLst>
          </p:cNvPr>
          <p:cNvGraphicFramePr/>
          <p:nvPr/>
        </p:nvGraphicFramePr>
        <p:xfrm>
          <a:off xmlns:a="http://schemas.openxmlformats.org/drawingml/2006/main" x="685800" y="2724150"/>
          <a:ext xmlns:a="http://schemas.openxmlformats.org/drawingml/2006/main" cx="7048500" cy="2981325"/>
        </p:xfrm>
        <a:graphic xmlns:a="http://schemas.openxmlformats.org/drawingml/2006/main">
          <a:graphicData uri="http://schemas.openxmlformats.org/drawingml/2006/chart">
            <c:chart xmlns:r="http://schemas.openxmlformats.org/officeDocument/2006/relationships" xmlns:c="http://schemas.openxmlformats.org/drawingml/2006/chart" r:id="R3f5ff0c51c5849ee"/>
          </a:graphicData>
        </a:graphic>
      </p:graphicFrame>
      <p:sp>
        <p:nvSpPr>
          <p:cNvPr id="6" name="gap">
            <a:extLst xmlns:a="http://schemas.openxmlformats.org/drawingml/2006/main">
              <a:ext uri="{FF2B5EF4-FFF2-40B4-BE49-F238E27FC236}">
                <a16:creationId xmlns:a16="http://schemas.microsoft.com/office/drawing/2014/main" id="{084D41B3-2D10-40E8-8232-7C4664DC31FA}"/>
              </a:ext>
            </a:extLst>
          </p:cNvPr>
          <p:cNvSpPr>
            <a:spLocks xmlns:a="http://schemas.openxmlformats.org/drawingml/2006/main" noGrp="1"/>
          </p:cNvSpPr>
          <p:nvPr/>
        </p:nvSpPr>
        <p:spPr>
          <a:xfrm xmlns:a="http://schemas.openxmlformats.org/drawingml/2006/main">
            <a:off x="8401050" y="251460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007F82"/>
                </a:solidFill>
                <a:latin typeface="Arial"/>
                <a:ea typeface="Arial"/>
                <a:cs typeface="Arial"/>
              </a:defRPr>
            </a:defPPr>
          </a:lstStyle>
          <a:p xmlns:a="http://schemas.openxmlformats.org/drawingml/2006/main">
            <a:pPr>
              <a:defRPr sz="5400" b="1">
                <a:solidFill>
                  <a:srgbClr val="007F82"/>
                </a:solidFill>
                <a:latin typeface="Arial"/>
                <a:ea typeface="Arial"/>
                <a:cs typeface="Arial"/>
              </a:defRPr>
            </a:pPr>
            <a:r>
              <a:rPr sz="5400" b="1">
                <a:solidFill>
                  <a:srgbClr val="007F82"/>
                </a:solidFill>
                <a:latin typeface="Arial"/>
                <a:ea typeface="Arial"/>
                <a:cs typeface="Arial"/>
              </a:rPr>
              <a:t>6 days</a:t>
            </a:r>
          </a:p>
        </p:txBody>
      </p:sp>
      <p:sp>
        <p:nvSpPr>
          <p:cNvPr id="7" name="gap-label">
            <a:extLst xmlns:a="http://schemas.openxmlformats.org/drawingml/2006/main">
              <a:ext uri="{FF2B5EF4-FFF2-40B4-BE49-F238E27FC236}">
                <a16:creationId xmlns:a16="http://schemas.microsoft.com/office/drawing/2014/main" id="{AF165C92-F69A-4510-BC86-79F410747461}"/>
              </a:ext>
            </a:extLst>
          </p:cNvPr>
          <p:cNvSpPr>
            <a:spLocks xmlns:a="http://schemas.openxmlformats.org/drawingml/2006/main" noGrp="1"/>
          </p:cNvSpPr>
          <p:nvPr/>
        </p:nvSpPr>
        <p:spPr>
          <a:xfrm xmlns:a="http://schemas.openxmlformats.org/drawingml/2006/main">
            <a:off x="8401050" y="35623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less added delay</a:t>
            </a:r>
          </a:p>
        </p:txBody>
      </p:sp>
      <p:sp>
        <p:nvSpPr>
          <p:cNvPr id="8" name="meaning">
            <a:extLst xmlns:a="http://schemas.openxmlformats.org/drawingml/2006/main">
              <a:ext uri="{FF2B5EF4-FFF2-40B4-BE49-F238E27FC236}">
                <a16:creationId xmlns:a16="http://schemas.microsoft.com/office/drawing/2014/main" id="{257C2C81-4698-42A6-B3E1-6997D720F10E}"/>
              </a:ext>
            </a:extLst>
          </p:cNvPr>
          <p:cNvSpPr>
            <a:spLocks xmlns:a="http://schemas.openxmlformats.org/drawingml/2006/main" noGrp="1"/>
          </p:cNvSpPr>
          <p:nvPr/>
        </p:nvSpPr>
        <p:spPr>
          <a:xfrm xmlns:a="http://schemas.openxmlformats.org/drawingml/2006/main">
            <a:off x="8401050" y="4400550"/>
            <a:ext cx="3143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78"/>
                </a:solidFill>
                <a:latin typeface="Arial"/>
                <a:ea typeface="Arial"/>
                <a:cs typeface="Arial"/>
              </a:defRPr>
            </a:defPPr>
          </a:lstStyle>
          <a:p xmlns:a="http://schemas.openxmlformats.org/drawingml/2006/main">
            <a:pPr>
              <a:defRPr sz="2175" b="0">
                <a:solidFill>
                  <a:srgbClr val="526778"/>
                </a:solidFill>
                <a:latin typeface="Arial"/>
                <a:ea typeface="Arial"/>
                <a:cs typeface="Arial"/>
              </a:defRPr>
            </a:pPr>
            <a:r>
              <a:rPr sz="2175" b="0">
                <a:solidFill>
                  <a:srgbClr val="526778"/>
                </a:solidFill>
                <a:latin typeface="Arial"/>
                <a:ea typeface="Arial"/>
                <a:cs typeface="Arial"/>
              </a:rPr>
              <a:t>Smaller processing</a:t>
            </a:r>
          </a:p>
          <a:p xmlns:a="http://schemas.openxmlformats.org/drawingml/2006/main">
            <a:pPr>
              <a:defRPr sz="2175" b="0">
                <a:solidFill>
                  <a:srgbClr val="526778"/>
                </a:solidFill>
                <a:latin typeface="Arial"/>
                <a:ea typeface="Arial"/>
                <a:cs typeface="Arial"/>
              </a:defRPr>
            </a:pPr>
            <a:r>
              <a:rPr sz="2175" b="0">
                <a:solidFill>
                  <a:srgbClr val="526778"/>
                </a:solidFill>
                <a:latin typeface="Arial"/>
                <a:ea typeface="Arial"/>
                <a:cs typeface="Arial"/>
              </a:rPr>
              <a:t>bottlenecks during</a:t>
            </a:r>
          </a:p>
          <a:p xmlns:a="http://schemas.openxmlformats.org/drawingml/2006/main">
            <a:pPr>
              <a:defRPr sz="2175" b="0">
                <a:solidFill>
                  <a:srgbClr val="526778"/>
                </a:solidFill>
                <a:latin typeface="Arial"/>
                <a:ea typeface="Arial"/>
                <a:cs typeface="Arial"/>
              </a:defRPr>
            </a:pPr>
            <a:r>
              <a:rPr sz="2175" b="0">
                <a:solidFill>
                  <a:srgbClr val="526778"/>
                </a:solidFill>
                <a:latin typeface="Arial"/>
                <a:ea typeface="Arial"/>
                <a:cs typeface="Arial"/>
              </a:rPr>
              <a:t>demand surges</a:t>
            </a:r>
          </a:p>
        </p:txBody>
      </p:sp>
      <p:sp>
        <p:nvSpPr>
          <p:cNvPr id="9" name="source-footer">
            <a:extLst xmlns:a="http://schemas.openxmlformats.org/drawingml/2006/main">
              <a:ext uri="{FF2B5EF4-FFF2-40B4-BE49-F238E27FC236}">
                <a16:creationId xmlns:a16="http://schemas.microsoft.com/office/drawing/2014/main" id="{7668751A-4745-4DCD-AA57-BB54BE36BF66}"/>
              </a:ext>
            </a:extLst>
          </p:cNvPr>
          <p:cNvSpPr>
            <a:spLocks xmlns:a="http://schemas.openxmlformats.org/drawingml/2006/main" noGrp="1"/>
          </p:cNvSpPr>
          <p:nvPr/>
        </p:nvSpPr>
        <p:spPr>
          <a:xfrm xmlns:a="http://schemas.openxmlformats.org/drawingml/2006/main">
            <a:off x="685800" y="61912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Source: Fuster et al. (2018), Section V / Table 6. Bars show extra delay.</a:t>
            </a:r>
          </a:p>
        </p:txBody>
      </p:sp>
    </p:spTree>
    <p:extLst>
      <p:ext uri="{BB962C8B-B14F-4D97-AF65-F5344CB8AC3E}">
        <p14:creationId xmlns:p14="http://schemas.microsoft.com/office/powerpoint/2010/main" val="1439045852"/>
      </p:ext>
    </p:extLst>
  </p:cSld>
</p:sld>
</file>

<file path=ppt/slides/slide6.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94AFAE60-6D96-4F42-9C01-42DB2F0F334C}"/>
              </a:ext>
            </a:extLst>
          </p:cNvPr>
          <p:cNvSpPr>
            <a:spLocks xmlns:a="http://schemas.openxmlformats.org/drawingml/2006/main" noGrp="1"/>
          </p:cNvSpPr>
          <p:nvPr/>
        </p:nvSpPr>
        <p:spPr>
          <a:xfrm xmlns:a="http://schemas.openxmlformats.org/drawingml/2006/main">
            <a:off x="11049000" y="6191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B7CDD8"/>
                </a:solidFill>
                <a:latin typeface="Arial"/>
                <a:ea typeface="Arial"/>
                <a:cs typeface="Arial"/>
              </a:defRPr>
            </a:defPPr>
          </a:lstStyle>
          <a:p xmlns:a="http://schemas.openxmlformats.org/drawingml/2006/main">
            <a:pPr>
              <a:defRPr sz="1425" b="0">
                <a:solidFill>
                  <a:srgbClr val="B7CDD8"/>
                </a:solidFill>
                <a:latin typeface="Arial"/>
                <a:ea typeface="Arial"/>
                <a:cs typeface="Arial"/>
              </a:defRPr>
            </a:pPr>
            <a:r>
              <a:rPr sz="1425" b="0">
                <a:solidFill>
                  <a:srgbClr val="B7CDD8"/>
                </a:solidFill>
                <a:latin typeface="Arial"/>
                <a:ea typeface="Arial"/>
                <a:cs typeface="Arial"/>
              </a:rPr>
              <a:t>06</a:t>
            </a:r>
          </a:p>
        </p:txBody>
      </p:sp>
      <p:sp>
        <p:nvSpPr>
          <p:cNvPr id="2" name="title">
            <a:extLst xmlns:a="http://schemas.openxmlformats.org/drawingml/2006/main">
              <a:ext uri="{FF2B5EF4-FFF2-40B4-BE49-F238E27FC236}">
                <a16:creationId xmlns:a16="http://schemas.microsoft.com/office/drawing/2014/main" id="{B3035029-32ED-4E02-901E-F53A0C4C3261}"/>
              </a:ext>
            </a:extLst>
          </p:cNvPr>
          <p:cNvSpPr>
            <a:spLocks xmlns:a="http://schemas.openxmlformats.org/drawingml/2006/main" noGrp="1"/>
          </p:cNvSpPr>
          <p:nvPr/>
        </p:nvSpPr>
        <p:spPr>
          <a:xfrm xmlns:a="http://schemas.openxmlformats.org/drawingml/2006/main">
            <a:off x="685800" y="5715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Takeaway and limitations</a:t>
            </a:r>
          </a:p>
        </p:txBody>
      </p:sp>
      <p:sp>
        <p:nvSpPr>
          <p:cNvPr id="3" name="takeaway">
            <a:extLst xmlns:a="http://schemas.openxmlformats.org/drawingml/2006/main">
              <a:ext uri="{FF2B5EF4-FFF2-40B4-BE49-F238E27FC236}">
                <a16:creationId xmlns:a16="http://schemas.microsoft.com/office/drawing/2014/main" id="{A276F359-A50E-4865-8B02-598DBEB00DAD}"/>
              </a:ext>
            </a:extLst>
          </p:cNvPr>
          <p:cNvSpPr>
            <a:spLocks xmlns:a="http://schemas.openxmlformats.org/drawingml/2006/main" noGrp="1"/>
          </p:cNvSpPr>
          <p:nvPr/>
        </p:nvSpPr>
        <p:spPr>
          <a:xfrm xmlns:a="http://schemas.openxmlformats.org/drawingml/2006/main">
            <a:off x="685800" y="1733550"/>
            <a:ext cx="108108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Arial"/>
                <a:ea typeface="Arial"/>
                <a:cs typeface="Arial"/>
              </a:defRPr>
            </a:def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Evidence of greater efficiency</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in mortgage origination</a:t>
            </a:r>
          </a:p>
        </p:txBody>
      </p:sp>
      <p:sp>
        <p:nvSpPr>
          <p:cNvPr id="4" name="implication">
            <a:extLst xmlns:a="http://schemas.openxmlformats.org/drawingml/2006/main">
              <a:ext uri="{FF2B5EF4-FFF2-40B4-BE49-F238E27FC236}">
                <a16:creationId xmlns:a16="http://schemas.microsoft.com/office/drawing/2014/main" id="{87CE0C53-40B1-4EF3-B726-DF37B3B61AE8}"/>
              </a:ext>
            </a:extLst>
          </p:cNvPr>
          <p:cNvSpPr>
            <a:spLocks xmlns:a="http://schemas.openxmlformats.org/drawingml/2006/main" noGrp="1"/>
          </p:cNvSpPr>
          <p:nvPr/>
        </p:nvSpPr>
        <p:spPr>
          <a:xfrm xmlns:a="http://schemas.openxmlformats.org/drawingml/2006/main">
            <a:off x="685800" y="33623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B7CDD8"/>
                </a:solidFill>
                <a:latin typeface="Arial"/>
                <a:ea typeface="Arial"/>
                <a:cs typeface="Arial"/>
              </a:defRPr>
            </a:defPPr>
          </a:lstStyle>
          <a:p xmlns:a="http://schemas.openxmlformats.org/drawingml/2006/main">
            <a:pPr>
              <a:defRPr sz="2400" b="0">
                <a:solidFill>
                  <a:srgbClr val="B7CDD8"/>
                </a:solidFill>
                <a:latin typeface="Arial"/>
                <a:ea typeface="Arial"/>
                <a:cs typeface="Arial"/>
              </a:defRPr>
            </a:pPr>
            <a:r>
              <a:rPr sz="2400" b="0">
                <a:solidFill>
                  <a:srgbClr val="B7CDD8"/>
                </a:solidFill>
                <a:latin typeface="Arial"/>
                <a:ea typeface="Arial"/>
                <a:cs typeface="Arial"/>
              </a:rPr>
              <a:t>Digital processing can reduce delays</a:t>
            </a:r>
          </a:p>
          <a:p xmlns:a="http://schemas.openxmlformats.org/drawingml/2006/main">
            <a:pPr>
              <a:defRPr sz="2400" b="0">
                <a:solidFill>
                  <a:srgbClr val="B7CDD8"/>
                </a:solidFill>
                <a:latin typeface="Arial"/>
                <a:ea typeface="Arial"/>
                <a:cs typeface="Arial"/>
              </a:defRPr>
            </a:pPr>
            <a:r>
              <a:rPr sz="2400" b="0">
                <a:solidFill>
                  <a:srgbClr val="B7CDD8"/>
                </a:solidFill>
                <a:latin typeface="Arial"/>
                <a:ea typeface="Arial"/>
                <a:cs typeface="Arial"/>
              </a:rPr>
              <a:t>and ease capacity constraints</a:t>
            </a:r>
          </a:p>
        </p:txBody>
      </p:sp>
      <p:sp>
        <p:nvSpPr>
          <p:cNvPr id="5" name="limits-heading">
            <a:extLst xmlns:a="http://schemas.openxmlformats.org/drawingml/2006/main">
              <a:ext uri="{FF2B5EF4-FFF2-40B4-BE49-F238E27FC236}">
                <a16:creationId xmlns:a16="http://schemas.microsoft.com/office/drawing/2014/main" id="{D2CFB153-38C1-41F7-9175-BF1E80FF5918}"/>
              </a:ext>
            </a:extLst>
          </p:cNvPr>
          <p:cNvSpPr>
            <a:spLocks xmlns:a="http://schemas.openxmlformats.org/drawingml/2006/main" noGrp="1"/>
          </p:cNvSpPr>
          <p:nvPr/>
        </p:nvSpPr>
        <p:spPr>
          <a:xfrm xmlns:a="http://schemas.openxmlformats.org/drawingml/2006/main">
            <a:off x="685800" y="464820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Limits of the evidence</a:t>
            </a:r>
          </a:p>
        </p:txBody>
      </p:sp>
      <p:sp>
        <p:nvSpPr>
          <p:cNvPr id="6" name="limits">
            <a:extLst xmlns:a="http://schemas.openxmlformats.org/drawingml/2006/main">
              <a:ext uri="{FF2B5EF4-FFF2-40B4-BE49-F238E27FC236}">
                <a16:creationId xmlns:a16="http://schemas.microsoft.com/office/drawing/2014/main" id="{2A4640F5-6105-4662-8B02-4D45233A5CC2}"/>
              </a:ext>
            </a:extLst>
          </p:cNvPr>
          <p:cNvSpPr>
            <a:spLocks xmlns:a="http://schemas.openxmlformats.org/drawingml/2006/main" noGrp="1"/>
          </p:cNvSpPr>
          <p:nvPr/>
        </p:nvSpPr>
        <p:spPr>
          <a:xfrm xmlns:a="http://schemas.openxmlformats.org/drawingml/2006/main">
            <a:off x="685800" y="5267325"/>
            <a:ext cx="10810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7CDD8"/>
                </a:solidFill>
                <a:latin typeface="Arial"/>
                <a:ea typeface="Arial"/>
                <a:cs typeface="Arial"/>
              </a:defRPr>
            </a:defPPr>
          </a:lstStyle>
          <a:p xmlns:a="http://schemas.openxmlformats.org/drawingml/2006/main">
            <a:pPr>
              <a:defRPr sz="1875" b="0">
                <a:solidFill>
                  <a:srgbClr val="B7CDD8"/>
                </a:solidFill>
                <a:latin typeface="Arial"/>
                <a:ea typeface="Arial"/>
                <a:cs typeface="Arial"/>
              </a:defRPr>
            </a:pPr>
            <a:r>
              <a:rPr sz="1875" b="0">
                <a:solidFill>
                  <a:srgbClr val="B7CDD8"/>
                </a:solidFill>
                <a:latin typeface="Arial"/>
                <a:ea typeface="Arial"/>
                <a:cs typeface="Arial"/>
              </a:rPr>
              <a:t>Little evidence of reaching borrowers with limited credit access</a:t>
            </a:r>
          </a:p>
          <a:p xmlns:a="http://schemas.openxmlformats.org/drawingml/2006/main">
            <a:pPr>
              <a:defRPr sz="1875" b="0">
                <a:solidFill>
                  <a:srgbClr val="B7CDD8"/>
                </a:solidFill>
                <a:latin typeface="Arial"/>
                <a:ea typeface="Arial"/>
                <a:cs typeface="Arial"/>
              </a:defRPr>
            </a:pPr>
            <a:r>
              <a:rPr sz="1875" b="0">
                <a:solidFill>
                  <a:srgbClr val="B7CDD8"/>
                </a:solidFill>
                <a:latin typeface="Arial"/>
                <a:ea typeface="Arial"/>
                <a:cs typeface="Arial"/>
              </a:rPr>
              <a:t>Historical U.S. data and observational comparisons limit generalization</a:t>
            </a:r>
          </a:p>
        </p:txBody>
      </p:sp>
      <p:sp>
        <p:nvSpPr>
          <p:cNvPr id="7" name="source-footer">
            <a:extLst xmlns:a="http://schemas.openxmlformats.org/drawingml/2006/main">
              <a:ext uri="{FF2B5EF4-FFF2-40B4-BE49-F238E27FC236}">
                <a16:creationId xmlns:a16="http://schemas.microsoft.com/office/drawing/2014/main" id="{DA524AD5-61D6-450D-964C-E998C82918C8}"/>
              </a:ext>
            </a:extLst>
          </p:cNvPr>
          <p:cNvSpPr>
            <a:spLocks xmlns:a="http://schemas.openxmlformats.org/drawingml/2006/main" noGrp="1"/>
          </p:cNvSpPr>
          <p:nvPr/>
        </p:nvSpPr>
        <p:spPr>
          <a:xfrm xmlns:a="http://schemas.openxmlformats.org/drawingml/2006/main">
            <a:off x="685800" y="61912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DD8"/>
                </a:solidFill>
                <a:latin typeface="Arial"/>
                <a:ea typeface="Arial"/>
                <a:cs typeface="Arial"/>
              </a:defRPr>
            </a:defPPr>
          </a:lstStyle>
          <a:p xmlns:a="http://schemas.openxmlformats.org/drawingml/2006/main">
            <a:pPr>
              <a:defRPr sz="1350" b="0">
                <a:solidFill>
                  <a:srgbClr val="B7CDD8"/>
                </a:solidFill>
                <a:latin typeface="Arial"/>
                <a:ea typeface="Arial"/>
                <a:cs typeface="Arial"/>
              </a:defRPr>
            </a:pPr>
            <a:r>
              <a:rPr sz="1350" b="0">
                <a:solidFill>
                  <a:srgbClr val="B7CDD8"/>
                </a:solidFill>
                <a:latin typeface="Arial"/>
                <a:ea typeface="Arial"/>
                <a:cs typeface="Arial"/>
              </a:rPr>
              <a:t>Source: Fuster et al. (2018), Introduction and Sections VI–VIII</a:t>
            </a:r>
          </a:p>
        </p:txBody>
      </p:sp>
    </p:spTree>
    <p:extLst>
      <p:ext uri="{BB962C8B-B14F-4D97-AF65-F5344CB8AC3E}">
        <p14:creationId xmlns:p14="http://schemas.microsoft.com/office/powerpoint/2010/main" val="4524728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2026-10-13T08:50:15.5570000Z</dcterms:created>
  <dcterms:modified xsi:type="dcterms:W3CDTF">2026-10-13T08:50:15.5570000Z</dcterms:modified>
</coreProperties>
</file>