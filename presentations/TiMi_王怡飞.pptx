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86905"/>
  </p:normalViewPr>
  <p:slideViewPr>
    <p:cSldViewPr snapToGrid="0" snapToObjects="1">
      <p:cViewPr varScale="1">
        <p:scale>
          <a:sx n="107" d="100"/>
          <a:sy n="107" d="100"/>
        </p:scale>
        <p:origin x="92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4063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[CUE] Intro · ICLR 2026 · the twist: the LLMs don't trade · ~15 s Hey everyone! Today I'm walking you through an ICLR 2026 paper called "Trade in Minutes!", from Tongji and Microsoft Research Asia. Short version: they built a team of LLM agents for quant trading — but here's the twist: none of those LLMs actually do the trading.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[CUE] 4 problems: bias · noisy inputs · latency/cost (the big one) · rigid rules · ~25 s So first, why do we even need this? Existing LLM trading agents, like FinMem or TradingAgents, have four big issues. They role-play human traders, so they pick up human biases. They lean on news and social media, which is noisy and usually late. And they call the LLM on every single trade, which is slow and pricey — and in a fast market, slow costs you money. Meanwhile, old-school rule-based quant is fast, but it kind of falls apart when the market shifts.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[CUE] Read the headline · LLMs work before going live · only code trades · ~15 s Their fix is actually pretty simple: think slowly offline, trade fast online. All the heavy LLM work — reading the market, building strategies, even writing the code — happens before anything goes live. What actually trades is just plain code running on a CPU, with zero LLM calls. So you get the brains of an LLM without the lag.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[CUE] Main figure · red = offline (stages I &amp; II) · blue = live (stage III) · walk the arrows · ~25 s So how does it actually work? Here's the main figure from the paper. The red part on the left is everything offline, and it has two stages. In the policy stage, one agent scans the whole market for patterns, and another one tailors that to each trading pair. In the optimization stage, one agent writes the bot as code, and another one tests it in simulation and fixes whatever breaks. Then on the right, in blue, the finished bot goes live and runs on its own. Under the hood, they use DeepSeek-V3 for analysis, Qwen-Coder for the code, and DeepSeek-R1 for the math.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[CUE] Highlight of the talk · "verbal" vs math reflection · example: position cap · fix the lowest layer first · ~30 s Most agents do what you might call "verbal reflection" — the LLM basically writes a little essay about what went wrong. TiMi uses math, or let’s say, symbolic reasoning instead. It runs the analyzer, spots the risky moments — say, a position got way too big right before a crash — and turns each one into a hard constraint, like a cap on position size. Then it just solves for the best parameters.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[CUE] 3 numbers left → right · stress “real live trading” · ~15 s For the experiments, they covered three markets — US index futures, major coins and altcoins — across more than two hundred trading pairs. They backtested on 2024 data, and they</a:t>
            </a:r>
            <a:r>
              <a:rPr lang="zh-CN" altLang="en-US" dirty="0"/>
              <a:t> </a:t>
            </a:r>
            <a:r>
              <a:rPr lang="en-US" altLang="zh-CN" dirty="0"/>
              <a:t>also</a:t>
            </a:r>
            <a:r>
              <a:rPr lang="en-US" dirty="0"/>
              <a:t> ran it in live trading from January to April 2025. The results were compared against fifteen baselines: classic quant rules, ML and RL models, and other LLM agents like FinMem and TradingAgents.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[CUE] Original Table 3 · point at the boxed TiMi row · best return + Sharpe everywhere · drawdown not best · stars = estimated · ~25 s Here's the main results. The boxed row at the bottom is TiMi. It made money in all three markets, and it has the best return and Sharpe ratio in every one of them — best on altcoins, at 13.7% annualized with a Sharpe of 0.86.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[CUE] 3 numbers left → right · then the honest caveat · ~20 s And because there's no LLM in the loop, it's fast — about 137 milliseconds per action. It also has a better Sortino ratio than TradingAgents, and it makes more per dollar invested. To be fair, though, it's not a clean sweep: in the 2024 backtest, a plain momentum strategy actually beat it on returns in two of the three markets.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[CUE] Original Table 4 · point at the two boxed rows · 21% → 1% · drawdown doubles · ~20 s This is their ablation study. Look at the two boxed rows. Drop the strategy adaptation agent, and returns hold up okay, but max drawdown nearly doubles, from about 15 to 28 percent. Drop the reflection agent — that's the "prototype bot" row — and returns fall from about 21% to roughly 1%, so the bot basically just breaks even. And if you drop both, you're actually losing money.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[CUE] Say the headline · 3 wins (left) · 3 caveats (right) · thank you · ~20 s So, Let’s wrap things up: the big lesson here is to use LLMs as engineers, not traders. Separating the thinking from the trading kills the latency problem, having the output be code makes it auditable, and the math-based reflection turns mistakes into actual rules.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81100"/>
            <a:ext cx="10566400" cy="530820"/>
          </a:xfrm>
          <a:prstGeom prst="rect">
            <a:avLst/>
          </a:prstGeom>
          <a:noFill/>
          <a:ln/>
        </p:spPr>
        <p:txBody>
          <a:bodyPr wrap="square" lIns="0" tIns="0" rIns="0" bIns="0" rtlCol="0" anchor="t"/>
          <a:lstStyle>
            <a:lvl1pPr marL="0" indent="0" algn="l">
              <a:lnSpc>
                <a:spcPct val="115000"/>
              </a:lnSpc>
              <a:buNone/>
              <a:defRPr lang="en-US" sz="3800" dirty="0">
                <a:solidFill>
                  <a:srgbClr val="14213D"/>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800" dirty="0"/>
          </a:p>
        </p:txBody>
      </p:sp>
      <p:sp>
        <p:nvSpPr>
          <p:cNvPr id="3" name="Text Placeholder 2"/>
          <p:cNvSpPr>
            <a:spLocks noGrp="1"/>
          </p:cNvSpPr>
          <p:nvPr>
            <p:ph type="body" idx="101"/>
          </p:nvPr>
        </p:nvSpPr>
        <p:spPr>
          <a:xfrm>
            <a:off x="812800" y="2016720"/>
            <a:ext cx="10566400" cy="402848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81100"/>
            <a:ext cx="10566400" cy="530820"/>
          </a:xfrm>
          <a:prstGeom prst="rect">
            <a:avLst/>
          </a:prstGeom>
          <a:noFill/>
          <a:ln/>
        </p:spPr>
        <p:txBody>
          <a:bodyPr wrap="square" lIns="0" tIns="0" rIns="0" bIns="0" rtlCol="0" anchor="t"/>
          <a:lstStyle>
            <a:lvl1pPr marL="0" indent="0" algn="l">
              <a:lnSpc>
                <a:spcPct val="115000"/>
              </a:lnSpc>
              <a:buNone/>
              <a:defRPr lang="en-US" sz="3800" dirty="0">
                <a:solidFill>
                  <a:srgbClr val="14213D"/>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800" dirty="0"/>
          </a:p>
        </p:txBody>
      </p:sp>
      <p:sp>
        <p:nvSpPr>
          <p:cNvPr id="3" name="Text Placeholder 2"/>
          <p:cNvSpPr>
            <a:spLocks noGrp="1"/>
          </p:cNvSpPr>
          <p:nvPr>
            <p:ph type="body" idx="101"/>
          </p:nvPr>
        </p:nvSpPr>
        <p:spPr>
          <a:xfrm>
            <a:off x="812800" y="2016720"/>
            <a:ext cx="10566400" cy="402848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08A3C"/>
          </a:solidFill>
          <a:ln/>
        </p:spPr>
      </p:sp>
      <p:sp>
        <p:nvSpPr>
          <p:cNvPr id="3" name="Text 1"/>
          <p:cNvSpPr/>
          <p:nvPr/>
        </p:nvSpPr>
        <p:spPr>
          <a:xfrm>
            <a:off x="812800" y="8128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kern="0" spc="200" dirty="0">
                <a:solidFill>
                  <a:srgbClr val="E08A3C"/>
                </a:solidFill>
                <a:latin typeface="IBM Plex Mono" pitchFamily="49" charset="0"/>
                <a:ea typeface="IBM Plex Mono" pitchFamily="49" charset="-122"/>
                <a:cs typeface="IBM Plex Mono" pitchFamily="49" charset="-120"/>
              </a:rPr>
              <a:t>ICLR 2026 · PAPER PRESENTATION · FINTECH × AI</a:t>
            </a:r>
            <a:endParaRPr lang="en-US" sz="1500" dirty="0"/>
          </a:p>
        </p:txBody>
      </p:sp>
      <p:sp>
        <p:nvSpPr>
          <p:cNvPr id="4" name="Text 2"/>
          <p:cNvSpPr>
            <a:spLocks noGrp="1"/>
          </p:cNvSpPr>
          <p:nvPr>
            <p:ph type="title"/>
          </p:nvPr>
        </p:nvSpPr>
        <p:spPr>
          <a:xfrm>
            <a:off x="812800" y="1937395"/>
            <a:ext cx="10883392" cy="1092200"/>
          </a:xfrm>
          <a:prstGeom prst="rect">
            <a:avLst/>
          </a:prstGeom>
          <a:noFill/>
          <a:ln/>
        </p:spPr>
        <p:txBody>
          <a:bodyPr wrap="square" lIns="0" tIns="0" rIns="0" bIns="0" rtlCol="0" anchor="t">
            <a:normAutofit/>
          </a:bodyPr>
          <a:lstStyle/>
          <a:p>
            <a:pPr marL="0" indent="0" algn="l">
              <a:lnSpc>
                <a:spcPts val="8400"/>
              </a:lnSpc>
              <a:buNone/>
            </a:pPr>
            <a:r>
              <a:rPr lang="en-US" sz="8400" b="1" i="0" kern="0" spc="-150" dirty="0">
                <a:solidFill>
                  <a:srgbClr val="F7F5EF"/>
                </a:solidFill>
                <a:latin typeface="Space Grotesk" pitchFamily="34" charset="0"/>
                <a:ea typeface="Space Grotesk" pitchFamily="34" charset="-122"/>
                <a:cs typeface="Space Grotesk" pitchFamily="34" charset="-120"/>
              </a:rPr>
              <a:t>Trade in Minutes!</a:t>
            </a:r>
            <a:endParaRPr lang="en-US" sz="8400" dirty="0"/>
          </a:p>
        </p:txBody>
      </p:sp>
      <p:sp>
        <p:nvSpPr>
          <p:cNvPr id="5" name="Text 3"/>
          <p:cNvSpPr/>
          <p:nvPr/>
        </p:nvSpPr>
        <p:spPr>
          <a:xfrm>
            <a:off x="812800" y="3207395"/>
            <a:ext cx="9810750" cy="946150"/>
          </a:xfrm>
          <a:prstGeom prst="rect">
            <a:avLst/>
          </a:prstGeom>
          <a:noFill/>
          <a:ln/>
        </p:spPr>
        <p:txBody>
          <a:bodyPr wrap="square" lIns="0" tIns="0" rIns="0" bIns="0" rtlCol="0" anchor="t">
            <a:normAutofit/>
          </a:bodyPr>
          <a:lstStyle/>
          <a:p>
            <a:pPr marL="0" indent="0" algn="l">
              <a:lnSpc>
                <a:spcPts val="3625"/>
              </a:lnSpc>
              <a:buNone/>
            </a:pPr>
            <a:r>
              <a:rPr lang="en-US" sz="2900" dirty="0">
                <a:solidFill>
                  <a:srgbClr val="C9D3E6"/>
                </a:solidFill>
                <a:latin typeface="IBM Plex Sans" pitchFamily="34" charset="0"/>
                <a:ea typeface="IBM Plex Sans" pitchFamily="34" charset="-122"/>
                <a:cs typeface="IBM Plex Sans" pitchFamily="34" charset="-120"/>
              </a:rPr>
              <a:t>Rationality-Driven Agentic System for Quantitative Financial Trading</a:t>
            </a:r>
            <a:endParaRPr lang="en-US" sz="2900" dirty="0"/>
          </a:p>
        </p:txBody>
      </p:sp>
      <p:sp>
        <p:nvSpPr>
          <p:cNvPr id="6" name="Text 4"/>
          <p:cNvSpPr/>
          <p:nvPr/>
        </p:nvSpPr>
        <p:spPr>
          <a:xfrm>
            <a:off x="812800" y="4331345"/>
            <a:ext cx="10883392" cy="34543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9AA8C2"/>
                </a:solidFill>
                <a:latin typeface="IBM Plex Sans" pitchFamily="34" charset="0"/>
                <a:ea typeface="IBM Plex Sans" pitchFamily="34" charset="-122"/>
                <a:cs typeface="IBM Plex Sans" pitchFamily="34" charset="-120"/>
              </a:rPr>
              <a:t>Song et al. · Tongji University &amp; Microsoft Research Asia</a:t>
            </a:r>
            <a:endParaRPr lang="en-US" sz="1800" dirty="0"/>
          </a:p>
        </p:txBody>
      </p:sp>
      <p:sp>
        <p:nvSpPr>
          <p:cNvPr id="7" name="Shape 5"/>
          <p:cNvSpPr/>
          <p:nvPr/>
        </p:nvSpPr>
        <p:spPr>
          <a:xfrm>
            <a:off x="812800" y="5515620"/>
            <a:ext cx="10566400" cy="0"/>
          </a:xfrm>
          <a:prstGeom prst="line">
            <a:avLst/>
          </a:prstGeom>
          <a:noFill/>
          <a:ln w="12700">
            <a:solidFill>
              <a:srgbClr val="34446A"/>
            </a:solidFill>
            <a:prstDash val="solid"/>
          </a:ln>
        </p:spPr>
      </p:sp>
      <p:sp>
        <p:nvSpPr>
          <p:cNvPr id="8" name="Text 6"/>
          <p:cNvSpPr/>
          <p:nvPr/>
        </p:nvSpPr>
        <p:spPr>
          <a:xfrm>
            <a:off x="812800" y="5725170"/>
            <a:ext cx="3204627" cy="345430"/>
          </a:xfrm>
          <a:prstGeom prst="rect">
            <a:avLst/>
          </a:prstGeom>
          <a:noFill/>
          <a:ln/>
        </p:spPr>
        <p:txBody>
          <a:bodyPr wrap="square" lIns="0" tIns="0" rIns="0" bIns="0" rtlCol="0" anchor="t">
            <a:normAutofit fontScale="92500"/>
          </a:bodyPr>
          <a:lstStyle/>
          <a:p>
            <a:pPr marL="0" indent="0" algn="l">
              <a:lnSpc>
                <a:spcPts val="2520"/>
              </a:lnSpc>
              <a:buNone/>
            </a:pPr>
            <a:r>
              <a:rPr lang="en-US" sz="1800" dirty="0">
                <a:solidFill>
                  <a:srgbClr val="9AA8C2"/>
                </a:solidFill>
                <a:latin typeface="IBM Plex Sans" pitchFamily="34" charset="0"/>
                <a:ea typeface="IBM Plex Sans" pitchFamily="34" charset="-122"/>
                <a:cs typeface="IBM Plex Sans" pitchFamily="34" charset="-120"/>
              </a:rPr>
              <a:t>Presenter: ____Yifei Wang____</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kern="0" spc="150" dirty="0">
                <a:solidFill>
                  <a:srgbClr val="A9481A"/>
                </a:solidFill>
                <a:latin typeface="IBM Plex Mono" pitchFamily="49" charset="0"/>
                <a:ea typeface="IBM Plex Mono" pitchFamily="49" charset="-122"/>
                <a:cs typeface="IBM Plex Mono" pitchFamily="49" charset="-120"/>
              </a:rPr>
              <a:t>01 · MOTIVATION</a:t>
            </a:r>
            <a:endParaRPr lang="en-US" sz="1500" dirty="0"/>
          </a:p>
        </p:txBody>
      </p:sp>
      <p:sp>
        <p:nvSpPr>
          <p:cNvPr id="3" name="Text 1"/>
          <p:cNvSpPr>
            <a:spLocks noGrp="1"/>
          </p:cNvSpPr>
          <p:nvPr>
            <p:ph type="title"/>
          </p:nvPr>
        </p:nvSpPr>
        <p:spPr>
          <a:xfrm>
            <a:off x="812800" y="118110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14213D"/>
                </a:solidFill>
                <a:latin typeface="Space Grotesk" pitchFamily="34" charset="0"/>
                <a:ea typeface="Space Grotesk" pitchFamily="34" charset="-122"/>
                <a:cs typeface="Space Grotesk" pitchFamily="34" charset="-120"/>
              </a:rPr>
              <a:t>Where LLM trading agents fall short</a:t>
            </a:r>
            <a:endParaRPr lang="en-US" sz="3800" dirty="0"/>
          </a:p>
        </p:txBody>
      </p:sp>
      <p:sp>
        <p:nvSpPr>
          <p:cNvPr id="4" name="Shape 2"/>
          <p:cNvSpPr/>
          <p:nvPr/>
        </p:nvSpPr>
        <p:spPr>
          <a:xfrm>
            <a:off x="815975" y="1969095"/>
            <a:ext cx="5175250" cy="1830090"/>
          </a:xfrm>
          <a:prstGeom prst="roundRect">
            <a:avLst>
              <a:gd name="adj" fmla="val 3990"/>
            </a:avLst>
          </a:prstGeom>
          <a:solidFill>
            <a:srgbClr val="FFFDF8"/>
          </a:solidFill>
          <a:ln w="6350">
            <a:solidFill>
              <a:srgbClr val="DDD6C6"/>
            </a:solidFill>
            <a:prstDash val="solid"/>
          </a:ln>
        </p:spPr>
      </p:sp>
      <p:sp>
        <p:nvSpPr>
          <p:cNvPr id="5" name="Text 3"/>
          <p:cNvSpPr/>
          <p:nvPr/>
        </p:nvSpPr>
        <p:spPr>
          <a:xfrm>
            <a:off x="1073150" y="2324745"/>
            <a:ext cx="4800727" cy="39112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14213D"/>
                </a:solidFill>
                <a:latin typeface="Space Grotesk" pitchFamily="34" charset="0"/>
                <a:ea typeface="Space Grotesk" pitchFamily="34" charset="-122"/>
                <a:cs typeface="Space Grotesk" pitchFamily="34" charset="-120"/>
              </a:rPr>
              <a:t>Emotional bias</a:t>
            </a:r>
            <a:endParaRPr lang="en-US" sz="2400" dirty="0"/>
          </a:p>
        </p:txBody>
      </p:sp>
      <p:sp>
        <p:nvSpPr>
          <p:cNvPr id="6" name="Text 4"/>
          <p:cNvSpPr/>
          <p:nvPr/>
        </p:nvSpPr>
        <p:spPr>
          <a:xfrm>
            <a:off x="1073150" y="2792065"/>
            <a:ext cx="4800727" cy="676870"/>
          </a:xfrm>
          <a:prstGeom prst="rect">
            <a:avLst/>
          </a:prstGeom>
          <a:noFill/>
          <a:ln/>
        </p:spPr>
        <p:txBody>
          <a:bodyPr wrap="square" lIns="0" tIns="0" rIns="0" bIns="0" rtlCol="0" anchor="t">
            <a:normAutofit/>
          </a:bodyPr>
          <a:lstStyle/>
          <a:p>
            <a:pPr marL="0" indent="0" algn="l">
              <a:lnSpc>
                <a:spcPts val="2565"/>
              </a:lnSpc>
              <a:buNone/>
            </a:pPr>
            <a:r>
              <a:rPr lang="en-US" sz="1900" dirty="0">
                <a:solidFill>
                  <a:srgbClr val="3D4656"/>
                </a:solidFill>
                <a:latin typeface="IBM Plex Sans" pitchFamily="34" charset="0"/>
                <a:ea typeface="IBM Plex Sans" pitchFamily="34" charset="-122"/>
                <a:cs typeface="IBM Plex Sans" pitchFamily="34" charset="-120"/>
              </a:rPr>
              <a:t>Role-playing human traders brings human biases.</a:t>
            </a:r>
            <a:endParaRPr lang="en-US" sz="1900" dirty="0"/>
          </a:p>
        </p:txBody>
      </p:sp>
      <p:sp>
        <p:nvSpPr>
          <p:cNvPr id="7" name="Shape 5"/>
          <p:cNvSpPr/>
          <p:nvPr/>
        </p:nvSpPr>
        <p:spPr>
          <a:xfrm>
            <a:off x="6200775" y="1969095"/>
            <a:ext cx="5175250" cy="1830090"/>
          </a:xfrm>
          <a:prstGeom prst="roundRect">
            <a:avLst>
              <a:gd name="adj" fmla="val 3990"/>
            </a:avLst>
          </a:prstGeom>
          <a:solidFill>
            <a:srgbClr val="FFFDF8"/>
          </a:solidFill>
          <a:ln w="6350">
            <a:solidFill>
              <a:srgbClr val="DDD6C6"/>
            </a:solidFill>
            <a:prstDash val="solid"/>
          </a:ln>
        </p:spPr>
      </p:sp>
      <p:sp>
        <p:nvSpPr>
          <p:cNvPr id="8" name="Text 6"/>
          <p:cNvSpPr/>
          <p:nvPr/>
        </p:nvSpPr>
        <p:spPr>
          <a:xfrm>
            <a:off x="6457950" y="2324745"/>
            <a:ext cx="4800727" cy="39112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14213D"/>
                </a:solidFill>
                <a:latin typeface="Space Grotesk" pitchFamily="34" charset="0"/>
                <a:ea typeface="Space Grotesk" pitchFamily="34" charset="-122"/>
                <a:cs typeface="Space Grotesk" pitchFamily="34" charset="-120"/>
              </a:rPr>
              <a:t>Noisy inputs</a:t>
            </a:r>
            <a:endParaRPr lang="en-US" sz="2400" dirty="0"/>
          </a:p>
        </p:txBody>
      </p:sp>
      <p:sp>
        <p:nvSpPr>
          <p:cNvPr id="9" name="Text 7"/>
          <p:cNvSpPr/>
          <p:nvPr/>
        </p:nvSpPr>
        <p:spPr>
          <a:xfrm>
            <a:off x="6457950" y="2792065"/>
            <a:ext cx="4800727" cy="676870"/>
          </a:xfrm>
          <a:prstGeom prst="rect">
            <a:avLst/>
          </a:prstGeom>
          <a:noFill/>
          <a:ln/>
        </p:spPr>
        <p:txBody>
          <a:bodyPr wrap="square" lIns="0" tIns="0" rIns="0" bIns="0" rtlCol="0" anchor="t">
            <a:normAutofit/>
          </a:bodyPr>
          <a:lstStyle/>
          <a:p>
            <a:pPr marL="0" indent="0" algn="l">
              <a:lnSpc>
                <a:spcPts val="2565"/>
              </a:lnSpc>
              <a:buNone/>
            </a:pPr>
            <a:r>
              <a:rPr lang="en-US" sz="1900" dirty="0">
                <a:solidFill>
                  <a:srgbClr val="3D4656"/>
                </a:solidFill>
                <a:latin typeface="IBM Plex Sans" pitchFamily="34" charset="0"/>
                <a:ea typeface="IBM Plex Sans" pitchFamily="34" charset="-122"/>
                <a:cs typeface="IBM Plex Sans" pitchFamily="34" charset="-120"/>
              </a:rPr>
              <a:t>News and social media are noisy and lag the market.</a:t>
            </a:r>
            <a:endParaRPr lang="en-US" sz="1900" dirty="0"/>
          </a:p>
        </p:txBody>
      </p:sp>
      <p:sp>
        <p:nvSpPr>
          <p:cNvPr id="10" name="Shape 8"/>
          <p:cNvSpPr/>
          <p:nvPr/>
        </p:nvSpPr>
        <p:spPr>
          <a:xfrm>
            <a:off x="815975" y="4008735"/>
            <a:ext cx="5175250" cy="1830090"/>
          </a:xfrm>
          <a:prstGeom prst="roundRect">
            <a:avLst>
              <a:gd name="adj" fmla="val 3990"/>
            </a:avLst>
          </a:prstGeom>
          <a:solidFill>
            <a:srgbClr val="FFFDF8"/>
          </a:solidFill>
          <a:ln w="6350">
            <a:solidFill>
              <a:srgbClr val="DDD6C6"/>
            </a:solidFill>
            <a:prstDash val="solid"/>
          </a:ln>
        </p:spPr>
      </p:sp>
      <p:sp>
        <p:nvSpPr>
          <p:cNvPr id="11" name="Text 9"/>
          <p:cNvSpPr/>
          <p:nvPr/>
        </p:nvSpPr>
        <p:spPr>
          <a:xfrm>
            <a:off x="1073150" y="4364385"/>
            <a:ext cx="4800727" cy="39112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14213D"/>
                </a:solidFill>
                <a:latin typeface="Space Grotesk" pitchFamily="34" charset="0"/>
                <a:ea typeface="Space Grotesk" pitchFamily="34" charset="-122"/>
                <a:cs typeface="Space Grotesk" pitchFamily="34" charset="-120"/>
              </a:rPr>
              <a:t>Latency &amp; cost</a:t>
            </a:r>
            <a:endParaRPr lang="en-US" sz="2400" dirty="0"/>
          </a:p>
        </p:txBody>
      </p:sp>
      <p:sp>
        <p:nvSpPr>
          <p:cNvPr id="12" name="Text 10"/>
          <p:cNvSpPr/>
          <p:nvPr/>
        </p:nvSpPr>
        <p:spPr>
          <a:xfrm>
            <a:off x="1073150" y="4831705"/>
            <a:ext cx="4800727" cy="676870"/>
          </a:xfrm>
          <a:prstGeom prst="rect">
            <a:avLst/>
          </a:prstGeom>
          <a:noFill/>
          <a:ln/>
        </p:spPr>
        <p:txBody>
          <a:bodyPr wrap="square" lIns="0" tIns="0" rIns="0" bIns="0" rtlCol="0" anchor="t">
            <a:normAutofit/>
          </a:bodyPr>
          <a:lstStyle/>
          <a:p>
            <a:pPr marL="0" indent="0" algn="l">
              <a:lnSpc>
                <a:spcPts val="2565"/>
              </a:lnSpc>
              <a:buNone/>
            </a:pPr>
            <a:r>
              <a:rPr lang="en-US" sz="1900" dirty="0">
                <a:solidFill>
                  <a:srgbClr val="3D4656"/>
                </a:solidFill>
                <a:latin typeface="IBM Plex Sans" pitchFamily="34" charset="0"/>
                <a:ea typeface="IBM Plex Sans" pitchFamily="34" charset="-122"/>
                <a:cs typeface="IBM Plex Sans" pitchFamily="34" charset="-120"/>
              </a:rPr>
              <a:t>An LLM call on every trade is slow and expensive.</a:t>
            </a:r>
            <a:endParaRPr lang="en-US" sz="1900" dirty="0"/>
          </a:p>
        </p:txBody>
      </p:sp>
      <p:sp>
        <p:nvSpPr>
          <p:cNvPr id="13" name="Shape 11"/>
          <p:cNvSpPr/>
          <p:nvPr/>
        </p:nvSpPr>
        <p:spPr>
          <a:xfrm>
            <a:off x="6200775" y="4008735"/>
            <a:ext cx="5175250" cy="1830090"/>
          </a:xfrm>
          <a:prstGeom prst="roundRect">
            <a:avLst>
              <a:gd name="adj" fmla="val 3990"/>
            </a:avLst>
          </a:prstGeom>
          <a:solidFill>
            <a:srgbClr val="FFFDF8"/>
          </a:solidFill>
          <a:ln w="6350">
            <a:solidFill>
              <a:srgbClr val="DDD6C6"/>
            </a:solidFill>
            <a:prstDash val="solid"/>
          </a:ln>
        </p:spPr>
      </p:sp>
      <p:sp>
        <p:nvSpPr>
          <p:cNvPr id="14" name="Text 12"/>
          <p:cNvSpPr/>
          <p:nvPr/>
        </p:nvSpPr>
        <p:spPr>
          <a:xfrm>
            <a:off x="6457950" y="4364385"/>
            <a:ext cx="4800727" cy="39112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14213D"/>
                </a:solidFill>
                <a:latin typeface="Space Grotesk" pitchFamily="34" charset="0"/>
                <a:ea typeface="Space Grotesk" pitchFamily="34" charset="-122"/>
                <a:cs typeface="Space Grotesk" pitchFamily="34" charset="-120"/>
              </a:rPr>
              <a:t>Rigid rules</a:t>
            </a:r>
            <a:endParaRPr lang="en-US" sz="2400" dirty="0"/>
          </a:p>
        </p:txBody>
      </p:sp>
      <p:sp>
        <p:nvSpPr>
          <p:cNvPr id="15" name="Text 13"/>
          <p:cNvSpPr/>
          <p:nvPr/>
        </p:nvSpPr>
        <p:spPr>
          <a:xfrm>
            <a:off x="6457950" y="4831705"/>
            <a:ext cx="4800727" cy="676870"/>
          </a:xfrm>
          <a:prstGeom prst="rect">
            <a:avLst/>
          </a:prstGeom>
          <a:noFill/>
          <a:ln/>
        </p:spPr>
        <p:txBody>
          <a:bodyPr wrap="square" lIns="0" tIns="0" rIns="0" bIns="0" rtlCol="0" anchor="t">
            <a:normAutofit/>
          </a:bodyPr>
          <a:lstStyle/>
          <a:p>
            <a:pPr marL="0" indent="0" algn="l">
              <a:lnSpc>
                <a:spcPts val="2565"/>
              </a:lnSpc>
              <a:buNone/>
            </a:pPr>
            <a:r>
              <a:rPr lang="en-US" sz="1900" dirty="0">
                <a:solidFill>
                  <a:srgbClr val="3D4656"/>
                </a:solidFill>
                <a:latin typeface="IBM Plex Sans" pitchFamily="34" charset="0"/>
                <a:ea typeface="IBM Plex Sans" pitchFamily="34" charset="-122"/>
                <a:cs typeface="IBM Plex Sans" pitchFamily="34" charset="-120"/>
              </a:rPr>
              <a:t>Classic quant is fast but breaks when markets shift.</a:t>
            </a:r>
            <a:endParaRPr lang="en-US" sz="1900" dirty="0"/>
          </a:p>
        </p:txBody>
      </p:sp>
      <p:sp>
        <p:nvSpPr>
          <p:cNvPr id="16" name="Text 14"/>
          <p:cNvSpPr/>
          <p:nvPr/>
        </p:nvSpPr>
        <p:spPr>
          <a:xfrm>
            <a:off x="812800" y="6220470"/>
            <a:ext cx="78486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7280"/>
                </a:solidFill>
                <a:latin typeface="IBM Plex Sans" pitchFamily="34" charset="0"/>
                <a:ea typeface="IBM Plex Sans" pitchFamily="34" charset="-122"/>
                <a:cs typeface="IBM Plex Sans" pitchFamily="34" charset="-120"/>
              </a:rPr>
              <a:t>TiMi · ICLR 2026</a:t>
            </a:r>
            <a:endParaRPr lang="en-US" sz="1300" dirty="0"/>
          </a:p>
        </p:txBody>
      </p:sp>
      <p:sp>
        <p:nvSpPr>
          <p:cNvPr id="17" name="Text 15"/>
          <p:cNvSpPr/>
          <p:nvPr/>
        </p:nvSpPr>
        <p:spPr>
          <a:xfrm>
            <a:off x="10058400" y="6220470"/>
            <a:ext cx="1320800" cy="25653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6B7280"/>
                </a:solidFill>
                <a:latin typeface="IBM Plex Mono" pitchFamily="49" charset="0"/>
                <a:ea typeface="IBM Plex Mono" pitchFamily="49" charset="-122"/>
                <a:cs typeface="IBM Plex Mono" pitchFamily="49"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08A3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kern="0" spc="150" dirty="0">
                <a:solidFill>
                  <a:srgbClr val="14213D"/>
                </a:solidFill>
                <a:latin typeface="IBM Plex Mono" pitchFamily="49" charset="0"/>
                <a:ea typeface="IBM Plex Mono" pitchFamily="49" charset="-122"/>
                <a:cs typeface="IBM Plex Mono" pitchFamily="49" charset="-120"/>
              </a:rPr>
              <a:t>02 · CORE IDEA</a:t>
            </a:r>
            <a:endParaRPr lang="en-US" sz="1500" dirty="0"/>
          </a:p>
        </p:txBody>
      </p:sp>
      <p:sp>
        <p:nvSpPr>
          <p:cNvPr id="3" name="Text 1"/>
          <p:cNvSpPr>
            <a:spLocks noGrp="1"/>
          </p:cNvSpPr>
          <p:nvPr>
            <p:ph type="title"/>
          </p:nvPr>
        </p:nvSpPr>
        <p:spPr>
          <a:xfrm>
            <a:off x="812800" y="1903809"/>
            <a:ext cx="10883392" cy="1572220"/>
          </a:xfrm>
          <a:prstGeom prst="rect">
            <a:avLst/>
          </a:prstGeom>
          <a:noFill/>
          <a:ln/>
        </p:spPr>
        <p:txBody>
          <a:bodyPr wrap="square" lIns="0" tIns="0" rIns="0" bIns="0" rtlCol="0" anchor="t">
            <a:normAutofit/>
          </a:bodyPr>
          <a:lstStyle/>
          <a:p>
            <a:pPr marL="0" indent="0" algn="l">
              <a:lnSpc>
                <a:spcPts val="6090"/>
              </a:lnSpc>
              <a:buNone/>
            </a:pPr>
            <a:r>
              <a:rPr lang="en-US" sz="5800" b="1" i="0" kern="0" spc="-100" dirty="0">
                <a:solidFill>
                  <a:srgbClr val="14213D"/>
                </a:solidFill>
                <a:latin typeface="Space Grotesk" pitchFamily="34" charset="0"/>
                <a:ea typeface="Space Grotesk" pitchFamily="34" charset="-122"/>
                <a:cs typeface="Space Grotesk" pitchFamily="34" charset="-120"/>
              </a:rPr>
              <a:t>Think slowly offline.</a:t>
            </a:r>
            <a:endParaRPr lang="en-US" sz="5800" dirty="0"/>
          </a:p>
          <a:p>
            <a:pPr marL="0" indent="0" algn="l">
              <a:lnSpc>
                <a:spcPts val="6090"/>
              </a:lnSpc>
              <a:buNone/>
            </a:pPr>
            <a:r>
              <a:rPr lang="en-US" sz="5800" b="1" i="0" kern="0" spc="-100" dirty="0">
                <a:solidFill>
                  <a:srgbClr val="14213D"/>
                </a:solidFill>
                <a:latin typeface="Space Grotesk" pitchFamily="34" charset="0"/>
                <a:ea typeface="Space Grotesk" pitchFamily="34" charset="-122"/>
                <a:cs typeface="Space Grotesk" pitchFamily="34" charset="-120"/>
              </a:rPr>
              <a:t>Trade fast online.</a:t>
            </a:r>
            <a:endParaRPr lang="en-US" sz="5800" dirty="0"/>
          </a:p>
        </p:txBody>
      </p:sp>
      <p:sp>
        <p:nvSpPr>
          <p:cNvPr id="4" name="Shape 2"/>
          <p:cNvSpPr/>
          <p:nvPr/>
        </p:nvSpPr>
        <p:spPr>
          <a:xfrm>
            <a:off x="812800" y="4274939"/>
            <a:ext cx="4648200" cy="1567061"/>
          </a:xfrm>
          <a:prstGeom prst="roundRect">
            <a:avLst>
              <a:gd name="adj" fmla="val 6483"/>
            </a:avLst>
          </a:prstGeom>
          <a:solidFill>
            <a:srgbClr val="14213D"/>
          </a:solidFill>
          <a:ln/>
        </p:spPr>
      </p:sp>
      <p:sp>
        <p:nvSpPr>
          <p:cNvPr id="5" name="Text 3"/>
          <p:cNvSpPr/>
          <p:nvPr/>
        </p:nvSpPr>
        <p:spPr>
          <a:xfrm>
            <a:off x="1066800" y="4528939"/>
            <a:ext cx="4264406" cy="39112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F7F5EF"/>
                </a:solidFill>
                <a:latin typeface="Space Grotesk" pitchFamily="34" charset="0"/>
                <a:ea typeface="Space Grotesk" pitchFamily="34" charset="-122"/>
                <a:cs typeface="Space Grotesk" pitchFamily="34" charset="-120"/>
              </a:rPr>
              <a:t>LLM agents · offline</a:t>
            </a:r>
            <a:endParaRPr lang="en-US" sz="2400" dirty="0"/>
          </a:p>
        </p:txBody>
      </p:sp>
      <p:sp>
        <p:nvSpPr>
          <p:cNvPr id="6" name="Text 4"/>
          <p:cNvSpPr/>
          <p:nvPr/>
        </p:nvSpPr>
        <p:spPr>
          <a:xfrm>
            <a:off x="1066800" y="4970859"/>
            <a:ext cx="4264406" cy="642541"/>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C9D3E6"/>
                </a:solidFill>
                <a:latin typeface="IBM Plex Sans" pitchFamily="34" charset="0"/>
                <a:ea typeface="IBM Plex Sans" pitchFamily="34" charset="-122"/>
                <a:cs typeface="IBM Plex Sans" pitchFamily="34" charset="-120"/>
              </a:rPr>
              <a:t>Analyze markets, design strategies, write the bot's code.</a:t>
            </a:r>
            <a:endParaRPr lang="en-US" sz="1800" dirty="0"/>
          </a:p>
        </p:txBody>
      </p:sp>
      <p:pic>
        <p:nvPicPr>
          <p:cNvPr id="7" name="Image 0" descr="arrow-right"/>
          <p:cNvPicPr>
            <a:picLocks noChangeAspect="1"/>
          </p:cNvPicPr>
          <p:nvPr/>
        </p:nvPicPr>
        <p:blipFill>
          <a:blip r:embed="rId3"/>
          <a:srcRect/>
          <a:stretch/>
        </p:blipFill>
        <p:spPr>
          <a:xfrm>
            <a:off x="5715000" y="4855270"/>
            <a:ext cx="762000" cy="406400"/>
          </a:xfrm>
          <a:prstGeom prst="rect">
            <a:avLst/>
          </a:prstGeom>
        </p:spPr>
      </p:pic>
      <p:sp>
        <p:nvSpPr>
          <p:cNvPr id="8" name="Shape 5"/>
          <p:cNvSpPr/>
          <p:nvPr/>
        </p:nvSpPr>
        <p:spPr>
          <a:xfrm>
            <a:off x="6731000" y="4274939"/>
            <a:ext cx="4648200" cy="1567061"/>
          </a:xfrm>
          <a:prstGeom prst="roundRect">
            <a:avLst>
              <a:gd name="adj" fmla="val 6483"/>
            </a:avLst>
          </a:prstGeom>
          <a:solidFill>
            <a:srgbClr val="F7F5EF"/>
          </a:solidFill>
          <a:ln/>
        </p:spPr>
      </p:sp>
      <p:sp>
        <p:nvSpPr>
          <p:cNvPr id="9" name="Text 6"/>
          <p:cNvSpPr/>
          <p:nvPr/>
        </p:nvSpPr>
        <p:spPr>
          <a:xfrm>
            <a:off x="6985000" y="4528939"/>
            <a:ext cx="4264406" cy="391120"/>
          </a:xfrm>
          <a:prstGeom prst="rect">
            <a:avLst/>
          </a:prstGeom>
          <a:noFill/>
          <a:ln/>
        </p:spPr>
        <p:txBody>
          <a:bodyPr wrap="square" lIns="0" tIns="0" rIns="0" bIns="0" rtlCol="0" anchor="t">
            <a:normAutofit/>
          </a:bodyPr>
          <a:lstStyle/>
          <a:p>
            <a:pPr marL="0" indent="0" algn="l">
              <a:lnSpc>
                <a:spcPts val="2880"/>
              </a:lnSpc>
              <a:buNone/>
            </a:pPr>
            <a:r>
              <a:rPr lang="en-US" sz="2400" b="1" dirty="0">
                <a:solidFill>
                  <a:srgbClr val="14213D"/>
                </a:solidFill>
                <a:latin typeface="Space Grotesk" pitchFamily="34" charset="0"/>
                <a:ea typeface="Space Grotesk" pitchFamily="34" charset="-122"/>
                <a:cs typeface="Space Grotesk" pitchFamily="34" charset="-120"/>
              </a:rPr>
              <a:t>Code bot · live</a:t>
            </a:r>
            <a:endParaRPr lang="en-US" sz="2400" dirty="0"/>
          </a:p>
        </p:txBody>
      </p:sp>
      <p:sp>
        <p:nvSpPr>
          <p:cNvPr id="10" name="Text 7"/>
          <p:cNvSpPr/>
          <p:nvPr/>
        </p:nvSpPr>
        <p:spPr>
          <a:xfrm>
            <a:off x="6985000" y="4970859"/>
            <a:ext cx="4264406" cy="642541"/>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3D4656"/>
                </a:solidFill>
                <a:latin typeface="IBM Plex Sans" pitchFamily="34" charset="0"/>
                <a:ea typeface="IBM Plex Sans" pitchFamily="34" charset="-122"/>
                <a:cs typeface="IBM Plex Sans" pitchFamily="34" charset="-120"/>
              </a:rPr>
              <a:t>Plain code on a CPU. Zero LLM calls at runtime.</a:t>
            </a:r>
            <a:endParaRPr lang="en-US" sz="1800" dirty="0"/>
          </a:p>
        </p:txBody>
      </p:sp>
      <p:sp>
        <p:nvSpPr>
          <p:cNvPr id="11" name="Text 8"/>
          <p:cNvSpPr/>
          <p:nvPr/>
        </p:nvSpPr>
        <p:spPr>
          <a:xfrm>
            <a:off x="812800" y="6220470"/>
            <a:ext cx="78486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IBM Plex Sans" pitchFamily="34" charset="0"/>
                <a:ea typeface="IBM Plex Sans" pitchFamily="34" charset="-122"/>
                <a:cs typeface="IBM Plex Sans" pitchFamily="34" charset="-120"/>
              </a:rPr>
              <a:t>TiMi · ICLR 2026</a:t>
            </a:r>
            <a:endParaRPr lang="en-US" sz="1300" dirty="0"/>
          </a:p>
        </p:txBody>
      </p:sp>
      <p:sp>
        <p:nvSpPr>
          <p:cNvPr id="12" name="Text 9"/>
          <p:cNvSpPr/>
          <p:nvPr/>
        </p:nvSpPr>
        <p:spPr>
          <a:xfrm>
            <a:off x="10058400" y="6220470"/>
            <a:ext cx="1320800" cy="25653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14213D"/>
                </a:solidFill>
                <a:latin typeface="IBM Plex Mono" pitchFamily="49" charset="0"/>
                <a:ea typeface="IBM Plex Mono" pitchFamily="49" charset="-122"/>
                <a:cs typeface="IBM Plex Mono" pitchFamily="49"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kern="0" spc="150" dirty="0">
                <a:solidFill>
                  <a:srgbClr val="A9481A"/>
                </a:solidFill>
                <a:latin typeface="IBM Plex Mono" pitchFamily="49" charset="0"/>
                <a:ea typeface="IBM Plex Mono" pitchFamily="49" charset="-122"/>
                <a:cs typeface="IBM Plex Mono" pitchFamily="49" charset="-120"/>
              </a:rPr>
              <a:t>03 · ARCHITECTURE</a:t>
            </a:r>
            <a:endParaRPr lang="en-US" sz="1500" dirty="0"/>
          </a:p>
        </p:txBody>
      </p:sp>
      <p:sp>
        <p:nvSpPr>
          <p:cNvPr id="3" name="Text 1"/>
          <p:cNvSpPr>
            <a:spLocks noGrp="1"/>
          </p:cNvSpPr>
          <p:nvPr>
            <p:ph type="title"/>
          </p:nvPr>
        </p:nvSpPr>
        <p:spPr>
          <a:xfrm>
            <a:off x="812800" y="118110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14213D"/>
                </a:solidFill>
                <a:latin typeface="Space Grotesk" pitchFamily="34" charset="0"/>
                <a:ea typeface="Space Grotesk" pitchFamily="34" charset="-122"/>
                <a:cs typeface="Space Grotesk" pitchFamily="34" charset="-120"/>
              </a:rPr>
              <a:t>Policy → optimization → deployment</a:t>
            </a:r>
            <a:endParaRPr lang="en-US" sz="3800" dirty="0"/>
          </a:p>
        </p:txBody>
      </p:sp>
      <p:sp>
        <p:nvSpPr>
          <p:cNvPr id="4" name="Shape 2"/>
          <p:cNvSpPr/>
          <p:nvPr/>
        </p:nvSpPr>
        <p:spPr>
          <a:xfrm>
            <a:off x="815975" y="1918295"/>
            <a:ext cx="10560050" cy="3920530"/>
          </a:xfrm>
          <a:prstGeom prst="roundRect">
            <a:avLst>
              <a:gd name="adj" fmla="val 1863"/>
            </a:avLst>
          </a:prstGeom>
          <a:solidFill>
            <a:srgbClr val="FFFFFF"/>
          </a:solidFill>
          <a:ln w="6350">
            <a:solidFill>
              <a:srgbClr val="DDD6C6"/>
            </a:solidFill>
            <a:prstDash val="solid"/>
          </a:ln>
        </p:spPr>
      </p:sp>
      <p:pic>
        <p:nvPicPr>
          <p:cNvPr id="5" name="Image 0" descr="Figure 1 of the TiMi paper: offline policy and optimization stages with four agents, and a live deployment stage running the tuned trading bot"/>
          <p:cNvPicPr>
            <a:picLocks noChangeAspect="1"/>
          </p:cNvPicPr>
          <p:nvPr/>
        </p:nvPicPr>
        <p:blipFill>
          <a:blip r:embed="rId3"/>
          <a:srcRect l="-2" r="-2"/>
          <a:stretch/>
        </p:blipFill>
        <p:spPr>
          <a:xfrm>
            <a:off x="1651000" y="1964035"/>
            <a:ext cx="8890000" cy="3829050"/>
          </a:xfrm>
          <a:prstGeom prst="rect">
            <a:avLst/>
          </a:prstGeom>
        </p:spPr>
      </p:pic>
      <p:sp>
        <p:nvSpPr>
          <p:cNvPr id="6" name="Text 3"/>
          <p:cNvSpPr/>
          <p:nvPr/>
        </p:nvSpPr>
        <p:spPr>
          <a:xfrm>
            <a:off x="812800" y="6220470"/>
            <a:ext cx="941832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7280"/>
                </a:solidFill>
                <a:latin typeface="IBM Plex Sans" pitchFamily="34" charset="0"/>
                <a:ea typeface="IBM Plex Sans" pitchFamily="34" charset="-122"/>
                <a:cs typeface="IBM Plex Sans" pitchFamily="34" charset="-120"/>
              </a:rPr>
              <a:t>Figure 1, Song et al. (ICLR 2026) · Backbones: DeepSeek-V3 · Qwen2.5-Coder-32B · DeepSeek-R1</a:t>
            </a:r>
            <a:endParaRPr lang="en-US" sz="1300" dirty="0"/>
          </a:p>
        </p:txBody>
      </p:sp>
      <p:sp>
        <p:nvSpPr>
          <p:cNvPr id="7" name="Text 4"/>
          <p:cNvSpPr/>
          <p:nvPr/>
        </p:nvSpPr>
        <p:spPr>
          <a:xfrm>
            <a:off x="10566400" y="6220470"/>
            <a:ext cx="812800" cy="25653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6B7280"/>
                </a:solidFill>
                <a:latin typeface="IBM Plex Mono" pitchFamily="49" charset="0"/>
                <a:ea typeface="IBM Plex Mono" pitchFamily="49" charset="-122"/>
                <a:cs typeface="IBM Plex Mono" pitchFamily="49"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8D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kern="0" spc="150" dirty="0">
                <a:solidFill>
                  <a:srgbClr val="A9481A"/>
                </a:solidFill>
                <a:latin typeface="IBM Plex Mono" pitchFamily="49" charset="0"/>
                <a:ea typeface="IBM Plex Mono" pitchFamily="49" charset="-122"/>
                <a:cs typeface="IBM Plex Mono" pitchFamily="49" charset="-120"/>
              </a:rPr>
              <a:t>04 · KEY MECHANISM</a:t>
            </a:r>
            <a:endParaRPr lang="en-US" sz="1500" dirty="0"/>
          </a:p>
        </p:txBody>
      </p:sp>
      <p:sp>
        <p:nvSpPr>
          <p:cNvPr id="3" name="Text 1"/>
          <p:cNvSpPr>
            <a:spLocks noGrp="1"/>
          </p:cNvSpPr>
          <p:nvPr>
            <p:ph type="title"/>
          </p:nvPr>
        </p:nvSpPr>
        <p:spPr>
          <a:xfrm>
            <a:off x="812800" y="118110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14213D"/>
                </a:solidFill>
                <a:latin typeface="Space Grotesk" pitchFamily="34" charset="0"/>
                <a:ea typeface="Space Grotesk" pitchFamily="34" charset="-122"/>
                <a:cs typeface="Space Grotesk" pitchFamily="34" charset="-120"/>
              </a:rPr>
              <a:t>Reflection in math, not words</a:t>
            </a:r>
            <a:endParaRPr lang="en-US" sz="3800" dirty="0"/>
          </a:p>
        </p:txBody>
      </p:sp>
      <p:sp>
        <p:nvSpPr>
          <p:cNvPr id="4" name="Shape 2"/>
          <p:cNvSpPr/>
          <p:nvPr/>
        </p:nvSpPr>
        <p:spPr>
          <a:xfrm>
            <a:off x="812800" y="1965920"/>
            <a:ext cx="6604000" cy="892820"/>
          </a:xfrm>
          <a:prstGeom prst="roundRect">
            <a:avLst>
              <a:gd name="adj" fmla="val 8535"/>
            </a:avLst>
          </a:prstGeom>
          <a:solidFill>
            <a:srgbClr val="FFFDF8"/>
          </a:solidFill>
          <a:ln/>
        </p:spPr>
      </p:sp>
      <p:sp>
        <p:nvSpPr>
          <p:cNvPr id="5" name="Text 3"/>
          <p:cNvSpPr/>
          <p:nvPr/>
        </p:nvSpPr>
        <p:spPr>
          <a:xfrm>
            <a:off x="1016000" y="2216745"/>
            <a:ext cx="3556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A9481A"/>
                </a:solidFill>
                <a:latin typeface="IBM Plex Mono" pitchFamily="49" charset="0"/>
                <a:ea typeface="IBM Plex Mono" pitchFamily="49" charset="-122"/>
                <a:cs typeface="IBM Plex Mono" pitchFamily="49" charset="-120"/>
              </a:rPr>
              <a:t>1</a:t>
            </a:r>
            <a:endParaRPr lang="en-US" sz="2200" dirty="0"/>
          </a:p>
        </p:txBody>
      </p:sp>
      <p:sp>
        <p:nvSpPr>
          <p:cNvPr id="6" name="Text 4"/>
          <p:cNvSpPr/>
          <p:nvPr/>
        </p:nvSpPr>
        <p:spPr>
          <a:xfrm>
            <a:off x="1498600" y="2238970"/>
            <a:ext cx="5886450" cy="372070"/>
          </a:xfrm>
          <a:prstGeom prst="rect">
            <a:avLst/>
          </a:prstGeom>
          <a:noFill/>
          <a:ln/>
        </p:spPr>
        <p:txBody>
          <a:bodyPr wrap="square" lIns="0" tIns="0" rIns="0" bIns="0" rtlCol="0" anchor="t">
            <a:normAutofit/>
          </a:bodyPr>
          <a:lstStyle/>
          <a:p>
            <a:pPr marL="0" indent="0" algn="l">
              <a:lnSpc>
                <a:spcPts val="2730"/>
              </a:lnSpc>
              <a:buNone/>
            </a:pPr>
            <a:r>
              <a:rPr lang="en-US" sz="2100" dirty="0">
                <a:solidFill>
                  <a:srgbClr val="14213D"/>
                </a:solidFill>
                <a:latin typeface="IBM Plex Sans" pitchFamily="34" charset="0"/>
                <a:ea typeface="IBM Plex Sans" pitchFamily="34" charset="-122"/>
                <a:cs typeface="IBM Plex Sans" pitchFamily="34" charset="-120"/>
              </a:rPr>
              <a:t>Simulate the bot → feedback </a:t>
            </a:r>
            <a:r>
              <a:rPr lang="en-US" sz="2100" i="1" dirty="0">
                <a:solidFill>
                  <a:srgbClr val="14213D"/>
                </a:solidFill>
                <a:latin typeface="IBM Plex Sans" pitchFamily="34" charset="0"/>
                <a:ea typeface="IBM Plex Sans" pitchFamily="34" charset="-122"/>
                <a:cs typeface="IBM Plex Sans" pitchFamily="34" charset="-120"/>
              </a:rPr>
              <a:t>F</a:t>
            </a:r>
            <a:endParaRPr lang="en-US" sz="2100" dirty="0"/>
          </a:p>
        </p:txBody>
      </p:sp>
      <p:sp>
        <p:nvSpPr>
          <p:cNvPr id="7" name="Shape 5"/>
          <p:cNvSpPr/>
          <p:nvPr/>
        </p:nvSpPr>
        <p:spPr>
          <a:xfrm>
            <a:off x="812800" y="2960340"/>
            <a:ext cx="6604000" cy="892820"/>
          </a:xfrm>
          <a:prstGeom prst="roundRect">
            <a:avLst>
              <a:gd name="adj" fmla="val 8535"/>
            </a:avLst>
          </a:prstGeom>
          <a:solidFill>
            <a:srgbClr val="FFFDF8"/>
          </a:solidFill>
          <a:ln/>
        </p:spPr>
      </p:sp>
      <p:sp>
        <p:nvSpPr>
          <p:cNvPr id="8" name="Text 6"/>
          <p:cNvSpPr/>
          <p:nvPr/>
        </p:nvSpPr>
        <p:spPr>
          <a:xfrm>
            <a:off x="1016000" y="3211165"/>
            <a:ext cx="3556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A9481A"/>
                </a:solidFill>
                <a:latin typeface="IBM Plex Mono" pitchFamily="49" charset="0"/>
                <a:ea typeface="IBM Plex Mono" pitchFamily="49" charset="-122"/>
                <a:cs typeface="IBM Plex Mono" pitchFamily="49" charset="-120"/>
              </a:rPr>
              <a:t>2</a:t>
            </a:r>
            <a:endParaRPr lang="en-US" sz="2200" dirty="0"/>
          </a:p>
        </p:txBody>
      </p:sp>
      <p:sp>
        <p:nvSpPr>
          <p:cNvPr id="9" name="Text 7"/>
          <p:cNvSpPr/>
          <p:nvPr/>
        </p:nvSpPr>
        <p:spPr>
          <a:xfrm>
            <a:off x="1498600" y="3233390"/>
            <a:ext cx="5886450" cy="372070"/>
          </a:xfrm>
          <a:prstGeom prst="rect">
            <a:avLst/>
          </a:prstGeom>
          <a:noFill/>
          <a:ln/>
        </p:spPr>
        <p:txBody>
          <a:bodyPr wrap="square" lIns="0" tIns="0" rIns="0" bIns="0" rtlCol="0" anchor="t">
            <a:normAutofit/>
          </a:bodyPr>
          <a:lstStyle/>
          <a:p>
            <a:pPr marL="0" indent="0" algn="l">
              <a:lnSpc>
                <a:spcPts val="2730"/>
              </a:lnSpc>
              <a:buNone/>
            </a:pPr>
            <a:r>
              <a:rPr lang="en-US" sz="2100" dirty="0">
                <a:solidFill>
                  <a:srgbClr val="14213D"/>
                </a:solidFill>
                <a:latin typeface="IBM Plex Sans" pitchFamily="34" charset="0"/>
                <a:ea typeface="IBM Plex Sans" pitchFamily="34" charset="-122"/>
                <a:cs typeface="IBM Plex Sans" pitchFamily="34" charset="-120"/>
              </a:rPr>
              <a:t>Diagnose risks: </a:t>
            </a:r>
            <a:r>
              <a:rPr lang="en-US" sz="2100" dirty="0">
                <a:solidFill>
                  <a:srgbClr val="A9481A"/>
                </a:solidFill>
                <a:latin typeface="IBM Plex Sans" pitchFamily="34" charset="0"/>
                <a:ea typeface="IBM Plex Sans" pitchFamily="34" charset="-122"/>
                <a:cs typeface="IBM Plex Sans" pitchFamily="34" charset="-120"/>
              </a:rPr>
              <a:t>R = γ(F)</a:t>
            </a:r>
            <a:endParaRPr lang="en-US" sz="2100" dirty="0"/>
          </a:p>
        </p:txBody>
      </p:sp>
      <p:sp>
        <p:nvSpPr>
          <p:cNvPr id="10" name="Shape 8"/>
          <p:cNvSpPr/>
          <p:nvPr/>
        </p:nvSpPr>
        <p:spPr>
          <a:xfrm>
            <a:off x="812800" y="3954760"/>
            <a:ext cx="6604000" cy="892820"/>
          </a:xfrm>
          <a:prstGeom prst="roundRect">
            <a:avLst>
              <a:gd name="adj" fmla="val 8535"/>
            </a:avLst>
          </a:prstGeom>
          <a:solidFill>
            <a:srgbClr val="FFFDF8"/>
          </a:solidFill>
          <a:ln/>
        </p:spPr>
      </p:sp>
      <p:sp>
        <p:nvSpPr>
          <p:cNvPr id="11" name="Text 9"/>
          <p:cNvSpPr/>
          <p:nvPr/>
        </p:nvSpPr>
        <p:spPr>
          <a:xfrm>
            <a:off x="1016000" y="4205585"/>
            <a:ext cx="3556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A9481A"/>
                </a:solidFill>
                <a:latin typeface="IBM Plex Mono" pitchFamily="49" charset="0"/>
                <a:ea typeface="IBM Plex Mono" pitchFamily="49" charset="-122"/>
                <a:cs typeface="IBM Plex Mono" pitchFamily="49" charset="-120"/>
              </a:rPr>
              <a:t>3</a:t>
            </a:r>
            <a:endParaRPr lang="en-US" sz="2200" dirty="0"/>
          </a:p>
        </p:txBody>
      </p:sp>
      <p:sp>
        <p:nvSpPr>
          <p:cNvPr id="12" name="Text 10"/>
          <p:cNvSpPr/>
          <p:nvPr/>
        </p:nvSpPr>
        <p:spPr>
          <a:xfrm>
            <a:off x="1498600" y="4227810"/>
            <a:ext cx="5886450" cy="372070"/>
          </a:xfrm>
          <a:prstGeom prst="rect">
            <a:avLst/>
          </a:prstGeom>
          <a:noFill/>
          <a:ln/>
        </p:spPr>
        <p:txBody>
          <a:bodyPr wrap="square" lIns="0" tIns="0" rIns="0" bIns="0" rtlCol="0" anchor="t">
            <a:normAutofit/>
          </a:bodyPr>
          <a:lstStyle/>
          <a:p>
            <a:pPr marL="0" indent="0" algn="l">
              <a:lnSpc>
                <a:spcPts val="2730"/>
              </a:lnSpc>
              <a:buNone/>
            </a:pPr>
            <a:r>
              <a:rPr lang="en-US" sz="2100" dirty="0">
                <a:solidFill>
                  <a:srgbClr val="14213D"/>
                </a:solidFill>
                <a:latin typeface="IBM Plex Sans" pitchFamily="34" charset="0"/>
                <a:ea typeface="IBM Plex Sans" pitchFamily="34" charset="-122"/>
                <a:cs typeface="IBM Plex Sans" pitchFamily="34" charset="-120"/>
              </a:rPr>
              <a:t>Risk → constraint </a:t>
            </a:r>
            <a:r>
              <a:rPr lang="en-US" sz="2100" dirty="0">
                <a:solidFill>
                  <a:srgbClr val="A9481A"/>
                </a:solidFill>
                <a:latin typeface="IBM Plex Sans" pitchFamily="34" charset="0"/>
                <a:ea typeface="IBM Plex Sans" pitchFamily="34" charset="-122"/>
                <a:cs typeface="IBM Plex Sans" pitchFamily="34" charset="-120"/>
              </a:rPr>
              <a:t>A(R)·Θ ≤ b(R)</a:t>
            </a:r>
            <a:endParaRPr lang="en-US" sz="2100" dirty="0"/>
          </a:p>
        </p:txBody>
      </p:sp>
      <p:sp>
        <p:nvSpPr>
          <p:cNvPr id="13" name="Shape 11"/>
          <p:cNvSpPr/>
          <p:nvPr/>
        </p:nvSpPr>
        <p:spPr>
          <a:xfrm>
            <a:off x="812800" y="4949180"/>
            <a:ext cx="6604000" cy="892820"/>
          </a:xfrm>
          <a:prstGeom prst="roundRect">
            <a:avLst>
              <a:gd name="adj" fmla="val 8535"/>
            </a:avLst>
          </a:prstGeom>
          <a:solidFill>
            <a:srgbClr val="FFFDF8"/>
          </a:solidFill>
          <a:ln/>
        </p:spPr>
      </p:sp>
      <p:sp>
        <p:nvSpPr>
          <p:cNvPr id="14" name="Text 12"/>
          <p:cNvSpPr/>
          <p:nvPr/>
        </p:nvSpPr>
        <p:spPr>
          <a:xfrm>
            <a:off x="1016000" y="5200005"/>
            <a:ext cx="3556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A9481A"/>
                </a:solidFill>
                <a:latin typeface="IBM Plex Mono" pitchFamily="49" charset="0"/>
                <a:ea typeface="IBM Plex Mono" pitchFamily="49" charset="-122"/>
                <a:cs typeface="IBM Plex Mono" pitchFamily="49" charset="-120"/>
              </a:rPr>
              <a:t>4</a:t>
            </a:r>
            <a:endParaRPr lang="en-US" sz="2200" dirty="0"/>
          </a:p>
        </p:txBody>
      </p:sp>
      <p:sp>
        <p:nvSpPr>
          <p:cNvPr id="15" name="Text 13"/>
          <p:cNvSpPr/>
          <p:nvPr/>
        </p:nvSpPr>
        <p:spPr>
          <a:xfrm>
            <a:off x="1498600" y="5222230"/>
            <a:ext cx="5886450" cy="372070"/>
          </a:xfrm>
          <a:prstGeom prst="rect">
            <a:avLst/>
          </a:prstGeom>
          <a:noFill/>
          <a:ln/>
        </p:spPr>
        <p:txBody>
          <a:bodyPr wrap="square" lIns="0" tIns="0" rIns="0" bIns="0" rtlCol="0" anchor="t">
            <a:normAutofit/>
          </a:bodyPr>
          <a:lstStyle/>
          <a:p>
            <a:pPr marL="0" indent="0" algn="l">
              <a:lnSpc>
                <a:spcPts val="2730"/>
              </a:lnSpc>
              <a:buNone/>
            </a:pPr>
            <a:r>
              <a:rPr lang="en-US" sz="2100" dirty="0">
                <a:solidFill>
                  <a:srgbClr val="14213D"/>
                </a:solidFill>
                <a:latin typeface="IBM Plex Sans" pitchFamily="34" charset="0"/>
                <a:ea typeface="IBM Plex Sans" pitchFamily="34" charset="-122"/>
                <a:cs typeface="IBM Plex Sans" pitchFamily="34" charset="-120"/>
              </a:rPr>
              <a:t>Solve for the best parameters Θ</a:t>
            </a:r>
            <a:endParaRPr lang="en-US" sz="2100" dirty="0"/>
          </a:p>
        </p:txBody>
      </p:sp>
      <p:sp>
        <p:nvSpPr>
          <p:cNvPr id="16" name="Shape 14"/>
          <p:cNvSpPr/>
          <p:nvPr/>
        </p:nvSpPr>
        <p:spPr>
          <a:xfrm>
            <a:off x="7670800" y="1965920"/>
            <a:ext cx="3708400" cy="3876080"/>
          </a:xfrm>
          <a:prstGeom prst="roundRect">
            <a:avLst>
              <a:gd name="adj" fmla="val 2055"/>
            </a:avLst>
          </a:prstGeom>
          <a:solidFill>
            <a:srgbClr val="14213D"/>
          </a:solidFill>
          <a:ln/>
        </p:spPr>
      </p:sp>
      <p:sp>
        <p:nvSpPr>
          <p:cNvPr id="17" name="Text 15"/>
          <p:cNvSpPr/>
          <p:nvPr/>
        </p:nvSpPr>
        <p:spPr>
          <a:xfrm>
            <a:off x="7874000" y="2169120"/>
            <a:ext cx="3401060"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F7F5EF"/>
                </a:solidFill>
                <a:latin typeface="Space Grotesk" pitchFamily="34" charset="0"/>
                <a:ea typeface="Space Grotesk" pitchFamily="34" charset="-122"/>
                <a:cs typeface="Space Grotesk" pitchFamily="34" charset="-120"/>
              </a:rPr>
              <a:t>Minimal intervention</a:t>
            </a:r>
            <a:endParaRPr lang="en-US" sz="2200" dirty="0"/>
          </a:p>
        </p:txBody>
      </p:sp>
      <p:sp>
        <p:nvSpPr>
          <p:cNvPr id="18" name="Text 16"/>
          <p:cNvSpPr/>
          <p:nvPr/>
        </p:nvSpPr>
        <p:spPr>
          <a:xfrm>
            <a:off x="7874000" y="2820789"/>
            <a:ext cx="3401060"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C9D3E6"/>
                </a:solidFill>
                <a:latin typeface="IBM Plex Sans" pitchFamily="34" charset="0"/>
                <a:ea typeface="IBM Plex Sans" pitchFamily="34" charset="-122"/>
                <a:cs typeface="IBM Plex Sans" pitchFamily="34" charset="-120"/>
              </a:rPr>
              <a:t>Fix the lowest layer that works</a:t>
            </a:r>
            <a:endParaRPr lang="en-US" sz="1500" dirty="0"/>
          </a:p>
        </p:txBody>
      </p:sp>
      <p:sp>
        <p:nvSpPr>
          <p:cNvPr id="19" name="Text 17"/>
          <p:cNvSpPr/>
          <p:nvPr/>
        </p:nvSpPr>
        <p:spPr>
          <a:xfrm>
            <a:off x="7874000" y="3408363"/>
            <a:ext cx="3302000" cy="523230"/>
          </a:xfrm>
          <a:prstGeom prst="roundRect">
            <a:avLst>
              <a:gd name="adj" fmla="val 9709"/>
            </a:avLst>
          </a:prstGeom>
          <a:solidFill>
            <a:srgbClr val="24345A"/>
          </a:solidFill>
          <a:ln/>
        </p:spPr>
        <p:txBody>
          <a:bodyPr wrap="square" lIns="137521" tIns="86721" rIns="47605" bIns="61321" rtlCol="0" anchor="t">
            <a:normAutofit/>
          </a:bodyPr>
          <a:lstStyle/>
          <a:p>
            <a:pPr marL="0" indent="0" algn="l">
              <a:lnSpc>
                <a:spcPts val="2520"/>
              </a:lnSpc>
              <a:buNone/>
            </a:pPr>
            <a:r>
              <a:rPr lang="en-US" sz="1800" b="1" dirty="0">
                <a:solidFill>
                  <a:srgbClr val="F7F5EF"/>
                </a:solidFill>
                <a:latin typeface="IBM Plex Sans" pitchFamily="34" charset="0"/>
                <a:ea typeface="IBM Plex Sans" pitchFamily="34" charset="-122"/>
                <a:cs typeface="IBM Plex Sans" pitchFamily="34" charset="-120"/>
              </a:rPr>
              <a:t>① Parameter</a:t>
            </a:r>
            <a:r>
              <a:rPr lang="en-US" sz="1800" dirty="0">
                <a:solidFill>
                  <a:srgbClr val="F7F5EF"/>
                </a:solidFill>
                <a:latin typeface="IBM Plex Sans" pitchFamily="34" charset="0"/>
                <a:ea typeface="IBM Plex Sans" pitchFamily="34" charset="-122"/>
                <a:cs typeface="IBM Plex Sans" pitchFamily="34" charset="-120"/>
              </a:rPr>
              <a:t> · tune</a:t>
            </a:r>
            <a:endParaRPr lang="en-US" sz="1800" dirty="0"/>
          </a:p>
        </p:txBody>
      </p:sp>
      <p:sp>
        <p:nvSpPr>
          <p:cNvPr id="20" name="Text 18"/>
          <p:cNvSpPr/>
          <p:nvPr/>
        </p:nvSpPr>
        <p:spPr>
          <a:xfrm>
            <a:off x="7874000" y="4261941"/>
            <a:ext cx="3302000" cy="523230"/>
          </a:xfrm>
          <a:prstGeom prst="roundRect">
            <a:avLst>
              <a:gd name="adj" fmla="val 9709"/>
            </a:avLst>
          </a:prstGeom>
          <a:solidFill>
            <a:srgbClr val="24345A"/>
          </a:solidFill>
          <a:ln/>
        </p:spPr>
        <p:txBody>
          <a:bodyPr wrap="square" lIns="137521" tIns="86721" rIns="47605" bIns="61321" rtlCol="0" anchor="t">
            <a:normAutofit/>
          </a:bodyPr>
          <a:lstStyle/>
          <a:p>
            <a:pPr marL="0" indent="0" algn="l">
              <a:lnSpc>
                <a:spcPts val="2520"/>
              </a:lnSpc>
              <a:buNone/>
            </a:pPr>
            <a:r>
              <a:rPr lang="en-US" sz="1800" b="1" dirty="0">
                <a:solidFill>
                  <a:srgbClr val="F7F5EF"/>
                </a:solidFill>
                <a:latin typeface="IBM Plex Sans" pitchFamily="34" charset="0"/>
                <a:ea typeface="IBM Plex Sans" pitchFamily="34" charset="-122"/>
                <a:cs typeface="IBM Plex Sans" pitchFamily="34" charset="-120"/>
              </a:rPr>
              <a:t>② Function</a:t>
            </a:r>
            <a:r>
              <a:rPr lang="en-US" sz="1800" dirty="0">
                <a:solidFill>
                  <a:srgbClr val="F7F5EF"/>
                </a:solidFill>
                <a:latin typeface="IBM Plex Sans" pitchFamily="34" charset="0"/>
                <a:ea typeface="IBM Plex Sans" pitchFamily="34" charset="-122"/>
                <a:cs typeface="IBM Plex Sans" pitchFamily="34" charset="-120"/>
              </a:rPr>
              <a:t> · swap</a:t>
            </a:r>
            <a:endParaRPr lang="en-US" sz="1800" dirty="0"/>
          </a:p>
        </p:txBody>
      </p:sp>
      <p:sp>
        <p:nvSpPr>
          <p:cNvPr id="21" name="Text 19"/>
          <p:cNvSpPr/>
          <p:nvPr/>
        </p:nvSpPr>
        <p:spPr>
          <a:xfrm>
            <a:off x="7874000" y="5115570"/>
            <a:ext cx="3302000" cy="523230"/>
          </a:xfrm>
          <a:prstGeom prst="roundRect">
            <a:avLst>
              <a:gd name="adj" fmla="val 9709"/>
            </a:avLst>
          </a:prstGeom>
          <a:solidFill>
            <a:srgbClr val="24345A"/>
          </a:solidFill>
          <a:ln/>
        </p:spPr>
        <p:txBody>
          <a:bodyPr wrap="square" lIns="137521" tIns="86721" rIns="47605" bIns="61321" rtlCol="0" anchor="t">
            <a:normAutofit/>
          </a:bodyPr>
          <a:lstStyle/>
          <a:p>
            <a:pPr marL="0" indent="0" algn="l">
              <a:lnSpc>
                <a:spcPts val="2520"/>
              </a:lnSpc>
              <a:buNone/>
            </a:pPr>
            <a:r>
              <a:rPr lang="en-US" sz="1800" b="1" dirty="0">
                <a:solidFill>
                  <a:srgbClr val="F7F5EF"/>
                </a:solidFill>
                <a:latin typeface="IBM Plex Sans" pitchFamily="34" charset="0"/>
                <a:ea typeface="IBM Plex Sans" pitchFamily="34" charset="-122"/>
                <a:cs typeface="IBM Plex Sans" pitchFamily="34" charset="-120"/>
              </a:rPr>
              <a:t>③ Strategy</a:t>
            </a:r>
            <a:r>
              <a:rPr lang="en-US" sz="1800" dirty="0">
                <a:solidFill>
                  <a:srgbClr val="F7F5EF"/>
                </a:solidFill>
                <a:latin typeface="IBM Plex Sans" pitchFamily="34" charset="0"/>
                <a:ea typeface="IBM Plex Sans" pitchFamily="34" charset="-122"/>
                <a:cs typeface="IBM Plex Sans" pitchFamily="34" charset="-120"/>
              </a:rPr>
              <a:t> · rebuild</a:t>
            </a:r>
            <a:endParaRPr lang="en-US" sz="1800" dirty="0"/>
          </a:p>
        </p:txBody>
      </p:sp>
      <p:sp>
        <p:nvSpPr>
          <p:cNvPr id="22" name="Text 20"/>
          <p:cNvSpPr/>
          <p:nvPr/>
        </p:nvSpPr>
        <p:spPr>
          <a:xfrm>
            <a:off x="812800" y="6220470"/>
            <a:ext cx="78486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7280"/>
                </a:solidFill>
                <a:latin typeface="IBM Plex Sans" pitchFamily="34" charset="0"/>
                <a:ea typeface="IBM Plex Sans" pitchFamily="34" charset="-122"/>
                <a:cs typeface="IBM Plex Sans" pitchFamily="34" charset="-120"/>
              </a:rPr>
              <a:t>TiMi · ICLR 2026</a:t>
            </a:r>
            <a:endParaRPr lang="en-US" sz="1300" dirty="0"/>
          </a:p>
        </p:txBody>
      </p:sp>
      <p:sp>
        <p:nvSpPr>
          <p:cNvPr id="23" name="Text 21"/>
          <p:cNvSpPr/>
          <p:nvPr/>
        </p:nvSpPr>
        <p:spPr>
          <a:xfrm>
            <a:off x="10058400" y="6220470"/>
            <a:ext cx="1320800" cy="25653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6B7280"/>
                </a:solidFill>
                <a:latin typeface="IBM Plex Mono" pitchFamily="49" charset="0"/>
                <a:ea typeface="IBM Plex Mono" pitchFamily="49" charset="-122"/>
                <a:cs typeface="IBM Plex Mono" pitchFamily="49"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kern="0" spc="150" dirty="0">
                <a:solidFill>
                  <a:srgbClr val="A9481A"/>
                </a:solidFill>
                <a:latin typeface="IBM Plex Mono" pitchFamily="49" charset="0"/>
                <a:ea typeface="IBM Plex Mono" pitchFamily="49" charset="-122"/>
                <a:cs typeface="IBM Plex Mono" pitchFamily="49" charset="-120"/>
              </a:rPr>
              <a:t>05 · EXPERIMENTAL SETUP</a:t>
            </a:r>
            <a:endParaRPr lang="en-US" sz="1500" dirty="0"/>
          </a:p>
        </p:txBody>
      </p:sp>
      <p:sp>
        <p:nvSpPr>
          <p:cNvPr id="3" name="Text 1"/>
          <p:cNvSpPr>
            <a:spLocks noGrp="1"/>
          </p:cNvSpPr>
          <p:nvPr>
            <p:ph type="title"/>
          </p:nvPr>
        </p:nvSpPr>
        <p:spPr>
          <a:xfrm>
            <a:off x="812800" y="118110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14213D"/>
                </a:solidFill>
                <a:latin typeface="Space Grotesk" pitchFamily="34" charset="0"/>
                <a:ea typeface="Space Grotesk" pitchFamily="34" charset="-122"/>
                <a:cs typeface="Space Grotesk" pitchFamily="34" charset="-120"/>
              </a:rPr>
              <a:t>Stocks + crypto, backtest + live</a:t>
            </a:r>
            <a:endParaRPr lang="en-US" sz="3800" dirty="0"/>
          </a:p>
        </p:txBody>
      </p:sp>
      <p:sp>
        <p:nvSpPr>
          <p:cNvPr id="4" name="Shape 2"/>
          <p:cNvSpPr/>
          <p:nvPr/>
        </p:nvSpPr>
        <p:spPr>
          <a:xfrm>
            <a:off x="812800" y="2084189"/>
            <a:ext cx="3318917" cy="0"/>
          </a:xfrm>
          <a:prstGeom prst="line">
            <a:avLst/>
          </a:prstGeom>
          <a:noFill/>
          <a:ln w="25400">
            <a:solidFill>
              <a:srgbClr val="14213D"/>
            </a:solidFill>
            <a:prstDash val="solid"/>
          </a:ln>
        </p:spPr>
      </p:sp>
      <p:sp>
        <p:nvSpPr>
          <p:cNvPr id="5" name="Text 3"/>
          <p:cNvSpPr/>
          <p:nvPr/>
        </p:nvSpPr>
        <p:spPr>
          <a:xfrm>
            <a:off x="812800" y="2249289"/>
            <a:ext cx="3418484" cy="736600"/>
          </a:xfrm>
          <a:prstGeom prst="rect">
            <a:avLst/>
          </a:prstGeom>
          <a:noFill/>
          <a:ln/>
        </p:spPr>
        <p:txBody>
          <a:bodyPr wrap="square" lIns="0" tIns="0" rIns="0" bIns="0" rtlCol="0" anchor="t">
            <a:normAutofit/>
          </a:bodyPr>
          <a:lstStyle/>
          <a:p>
            <a:pPr marL="0" indent="0" algn="l">
              <a:lnSpc>
                <a:spcPts val="5600"/>
              </a:lnSpc>
              <a:buNone/>
            </a:pPr>
            <a:r>
              <a:rPr lang="en-US" sz="5600" b="1" dirty="0">
                <a:solidFill>
                  <a:srgbClr val="14213D"/>
                </a:solidFill>
                <a:latin typeface="Space Grotesk" pitchFamily="34" charset="0"/>
                <a:ea typeface="Space Grotesk" pitchFamily="34" charset="-122"/>
                <a:cs typeface="Space Grotesk" pitchFamily="34" charset="-120"/>
              </a:rPr>
              <a:t>3</a:t>
            </a:r>
            <a:endParaRPr lang="en-US" sz="5600" dirty="0"/>
          </a:p>
        </p:txBody>
      </p:sp>
      <p:sp>
        <p:nvSpPr>
          <p:cNvPr id="6" name="Text 4"/>
          <p:cNvSpPr/>
          <p:nvPr/>
        </p:nvSpPr>
        <p:spPr>
          <a:xfrm>
            <a:off x="812800" y="3011289"/>
            <a:ext cx="3418484" cy="6197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3D4656"/>
                </a:solidFill>
                <a:latin typeface="IBM Plex Sans" pitchFamily="34" charset="0"/>
                <a:ea typeface="IBM Plex Sans" pitchFamily="34" charset="-122"/>
                <a:cs typeface="IBM Plex Sans" pitchFamily="34" charset="-120"/>
              </a:rPr>
              <a:t>markets: index futures, major coins, altcoins</a:t>
            </a:r>
            <a:endParaRPr lang="en-US" sz="1800" dirty="0"/>
          </a:p>
        </p:txBody>
      </p:sp>
      <p:sp>
        <p:nvSpPr>
          <p:cNvPr id="7" name="Shape 5"/>
          <p:cNvSpPr/>
          <p:nvPr/>
        </p:nvSpPr>
        <p:spPr>
          <a:xfrm>
            <a:off x="4436517" y="2084189"/>
            <a:ext cx="3318966" cy="0"/>
          </a:xfrm>
          <a:prstGeom prst="line">
            <a:avLst/>
          </a:prstGeom>
          <a:noFill/>
          <a:ln w="25400">
            <a:solidFill>
              <a:srgbClr val="14213D"/>
            </a:solidFill>
            <a:prstDash val="solid"/>
          </a:ln>
        </p:spPr>
      </p:sp>
      <p:sp>
        <p:nvSpPr>
          <p:cNvPr id="8" name="Text 6"/>
          <p:cNvSpPr/>
          <p:nvPr/>
        </p:nvSpPr>
        <p:spPr>
          <a:xfrm>
            <a:off x="4436517" y="2249289"/>
            <a:ext cx="3418535" cy="736600"/>
          </a:xfrm>
          <a:prstGeom prst="rect">
            <a:avLst/>
          </a:prstGeom>
          <a:noFill/>
          <a:ln/>
        </p:spPr>
        <p:txBody>
          <a:bodyPr wrap="square" lIns="0" tIns="0" rIns="0" bIns="0" rtlCol="0" anchor="t">
            <a:normAutofit/>
          </a:bodyPr>
          <a:lstStyle/>
          <a:p>
            <a:pPr marL="0" indent="0" algn="l">
              <a:lnSpc>
                <a:spcPts val="5600"/>
              </a:lnSpc>
              <a:buNone/>
            </a:pPr>
            <a:r>
              <a:rPr lang="en-US" sz="5600" b="1" dirty="0">
                <a:solidFill>
                  <a:srgbClr val="14213D"/>
                </a:solidFill>
                <a:latin typeface="Space Grotesk" pitchFamily="34" charset="0"/>
                <a:ea typeface="Space Grotesk" pitchFamily="34" charset="-122"/>
                <a:cs typeface="Space Grotesk" pitchFamily="34" charset="-120"/>
              </a:rPr>
              <a:t>200+</a:t>
            </a:r>
            <a:endParaRPr lang="en-US" sz="5600" dirty="0"/>
          </a:p>
        </p:txBody>
      </p:sp>
      <p:sp>
        <p:nvSpPr>
          <p:cNvPr id="9" name="Text 7"/>
          <p:cNvSpPr/>
          <p:nvPr/>
        </p:nvSpPr>
        <p:spPr>
          <a:xfrm>
            <a:off x="4436517" y="3011289"/>
            <a:ext cx="3418535"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3D4656"/>
                </a:solidFill>
                <a:latin typeface="IBM Plex Sans" pitchFamily="34" charset="0"/>
                <a:ea typeface="IBM Plex Sans" pitchFamily="34" charset="-122"/>
                <a:cs typeface="IBM Plex Sans" pitchFamily="34" charset="-120"/>
              </a:rPr>
              <a:t>trading pairs; 213 live at once</a:t>
            </a:r>
            <a:endParaRPr lang="en-US" sz="1800" dirty="0"/>
          </a:p>
        </p:txBody>
      </p:sp>
      <p:sp>
        <p:nvSpPr>
          <p:cNvPr id="10" name="Shape 8"/>
          <p:cNvSpPr/>
          <p:nvPr/>
        </p:nvSpPr>
        <p:spPr>
          <a:xfrm>
            <a:off x="8060283" y="2084189"/>
            <a:ext cx="3318917" cy="0"/>
          </a:xfrm>
          <a:prstGeom prst="line">
            <a:avLst/>
          </a:prstGeom>
          <a:noFill/>
          <a:ln w="25400">
            <a:solidFill>
              <a:srgbClr val="14213D"/>
            </a:solidFill>
            <a:prstDash val="solid"/>
          </a:ln>
        </p:spPr>
      </p:sp>
      <p:sp>
        <p:nvSpPr>
          <p:cNvPr id="11" name="Text 9"/>
          <p:cNvSpPr/>
          <p:nvPr/>
        </p:nvSpPr>
        <p:spPr>
          <a:xfrm>
            <a:off x="8060283" y="2249289"/>
            <a:ext cx="3418484" cy="736600"/>
          </a:xfrm>
          <a:prstGeom prst="rect">
            <a:avLst/>
          </a:prstGeom>
          <a:noFill/>
          <a:ln/>
        </p:spPr>
        <p:txBody>
          <a:bodyPr wrap="square" lIns="0" tIns="0" rIns="0" bIns="0" rtlCol="0" anchor="t">
            <a:normAutofit/>
          </a:bodyPr>
          <a:lstStyle/>
          <a:p>
            <a:pPr marL="0" indent="0" algn="l">
              <a:lnSpc>
                <a:spcPts val="5600"/>
              </a:lnSpc>
              <a:buNone/>
            </a:pPr>
            <a:r>
              <a:rPr lang="en-US" sz="5600" b="1" dirty="0">
                <a:solidFill>
                  <a:srgbClr val="14213D"/>
                </a:solidFill>
                <a:latin typeface="Space Grotesk" pitchFamily="34" charset="0"/>
                <a:ea typeface="Space Grotesk" pitchFamily="34" charset="-122"/>
                <a:cs typeface="Space Grotesk" pitchFamily="34" charset="-120"/>
              </a:rPr>
              <a:t>15</a:t>
            </a:r>
            <a:endParaRPr lang="en-US" sz="5600" dirty="0"/>
          </a:p>
        </p:txBody>
      </p:sp>
      <p:sp>
        <p:nvSpPr>
          <p:cNvPr id="12" name="Text 10"/>
          <p:cNvSpPr/>
          <p:nvPr/>
        </p:nvSpPr>
        <p:spPr>
          <a:xfrm>
            <a:off x="8060283" y="3011289"/>
            <a:ext cx="3418484"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3D4656"/>
                </a:solidFill>
                <a:latin typeface="IBM Plex Sans" pitchFamily="34" charset="0"/>
                <a:ea typeface="IBM Plex Sans" pitchFamily="34" charset="-122"/>
                <a:cs typeface="IBM Plex Sans" pitchFamily="34" charset="-120"/>
              </a:rPr>
              <a:t>baselines in three families</a:t>
            </a:r>
            <a:endParaRPr lang="en-US" sz="1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5500" y="3977878"/>
          <a:ext cx="10553700" cy="1864120"/>
        </p:xfrm>
        <a:graphic>
          <a:graphicData uri="http://schemas.openxmlformats.org/drawingml/2006/table">
            <a:tbl>
              <a:tblPr/>
              <a:tblGrid>
                <a:gridCol w="2321814">
                  <a:extLst>
                    <a:ext uri="{9D8B030D-6E8A-4147-A177-3AD203B41FA5}">
                      <a16:colId xmlns:a16="http://schemas.microsoft.com/office/drawing/2014/main" val="20000"/>
                    </a:ext>
                  </a:extLst>
                </a:gridCol>
                <a:gridCol w="8231886">
                  <a:extLst>
                    <a:ext uri="{9D8B030D-6E8A-4147-A177-3AD203B41FA5}">
                      <a16:colId xmlns:a16="http://schemas.microsoft.com/office/drawing/2014/main" val="20001"/>
                    </a:ext>
                  </a:extLst>
                </a:gridCol>
              </a:tblGrid>
              <a:tr h="466030">
                <a:tc>
                  <a:txBody>
                    <a:bodyPr/>
                    <a:lstStyle/>
                    <a:p>
                      <a:pPr marL="0" indent="0">
                        <a:lnSpc>
                          <a:spcPts val="2380"/>
                        </a:lnSpc>
                        <a:buNone/>
                      </a:pPr>
                      <a:r>
                        <a:rPr lang="en-US" sz="1700" b="1" dirty="0">
                          <a:solidFill>
                            <a:srgbClr val="14213D"/>
                          </a:solidFill>
                          <a:latin typeface="IBM Plex Sans" pitchFamily="34" charset="0"/>
                          <a:ea typeface="IBM Plex Sans" pitchFamily="34" charset="-122"/>
                          <a:cs typeface="IBM Plex Sans" pitchFamily="34" charset="-120"/>
                        </a:rPr>
                        <a:t>Family</a:t>
                      </a:r>
                      <a:endParaRPr lang="en-US" sz="1700" dirty="0">
                        <a:latin typeface="IBM Plex Sans" charset="0"/>
                        <a:ea typeface="IBM Plex Sans" charset="0"/>
                        <a:cs typeface="IBM Plex Sans" charset="0"/>
                      </a:endParaRPr>
                    </a:p>
                  </a:txBody>
                  <a:tcPr marL="75565" marR="75565" marT="75565" marB="75565">
                    <a:lnL w="12700" cap="flat" cmpd="sng" algn="ctr">
                      <a:solidFill>
                        <a:srgbClr val="C5C4BF"/>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tc>
                  <a:txBody>
                    <a:bodyPr/>
                    <a:lstStyle/>
                    <a:p>
                      <a:pPr marL="0" indent="0">
                        <a:lnSpc>
                          <a:spcPts val="2380"/>
                        </a:lnSpc>
                        <a:buNone/>
                      </a:pPr>
                      <a:r>
                        <a:rPr lang="en-US" sz="1700" b="1" dirty="0">
                          <a:solidFill>
                            <a:srgbClr val="14213D"/>
                          </a:solidFill>
                          <a:latin typeface="IBM Plex Sans" pitchFamily="34" charset="0"/>
                          <a:ea typeface="IBM Plex Sans" pitchFamily="34" charset="-122"/>
                          <a:cs typeface="IBM Plex Sans" pitchFamily="34" charset="-120"/>
                        </a:rPr>
                        <a:t>Baselines</a:t>
                      </a:r>
                      <a:endParaRPr lang="en-US" sz="1700" dirty="0">
                        <a:latin typeface="IBM Plex Sans" charset="0"/>
                        <a:ea typeface="IBM Plex Sans" charset="0"/>
                        <a:cs typeface="IBM Plex Sans" charset="0"/>
                      </a:endParaRPr>
                    </a:p>
                  </a:txBody>
                  <a:tcPr marL="75565" marR="75565" marT="75565" marB="75565">
                    <a:lnL w="12700" cap="flat" cmpd="sng" algn="ctr">
                      <a:solidFill>
                        <a:srgbClr val="B7B5B1"/>
                      </a:solidFill>
                      <a:prstDash val="solid"/>
                      <a:round/>
                      <a:headEnd type="none" w="med" len="med"/>
                      <a:tailEnd type="none" w="med" len="med"/>
                    </a:lnL>
                    <a:lnR w="12700" cap="flat" cmpd="sng" algn="ctr">
                      <a:solidFill>
                        <a:srgbClr val="B7B5B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7B5B1"/>
                      </a:solidFill>
                      <a:prstDash val="solid"/>
                      <a:round/>
                      <a:headEnd type="none" w="med" len="med"/>
                      <a:tailEnd type="none" w="med" len="med"/>
                    </a:lnB>
                    <a:solidFill>
                      <a:srgbClr val="E5E3DD"/>
                    </a:solidFill>
                  </a:tcPr>
                </a:tc>
                <a:extLst>
                  <a:ext uri="{0D108BD9-81ED-4DB2-BD59-A6C34878D82A}">
                    <a16:rowId xmlns:a16="http://schemas.microsoft.com/office/drawing/2014/main" val="10000"/>
                  </a:ext>
                </a:extLst>
              </a:tr>
              <a:tr h="466030">
                <a:tc>
                  <a:txBody>
                    <a:bodyPr/>
                    <a:lstStyle/>
                    <a:p>
                      <a:pPr marL="0" indent="0">
                        <a:lnSpc>
                          <a:spcPts val="2380"/>
                        </a:lnSpc>
                        <a:buNone/>
                      </a:pPr>
                      <a:r>
                        <a:rPr lang="en-US" sz="1700" dirty="0">
                          <a:solidFill>
                            <a:srgbClr val="14213D"/>
                          </a:solidFill>
                          <a:latin typeface="IBM Plex Sans" pitchFamily="34" charset="0"/>
                          <a:ea typeface="IBM Plex Sans" pitchFamily="34" charset="-122"/>
                          <a:cs typeface="IBM Plex Sans" pitchFamily="34" charset="-120"/>
                        </a:rPr>
                        <a:t>Quant rules</a:t>
                      </a:r>
                      <a:endParaRPr lang="en-US" sz="1700" dirty="0">
                        <a:latin typeface="IBM Plex Sans" charset="0"/>
                        <a:ea typeface="IBM Plex Sans" charset="0"/>
                        <a:cs typeface="IBM Plex Sans" charset="0"/>
                      </a:endParaRPr>
                    </a:p>
                  </a:txBody>
                  <a:tcPr marL="75565" marR="75565" marT="75565" marB="7556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380"/>
                        </a:lnSpc>
                        <a:buNone/>
                      </a:pPr>
                      <a:r>
                        <a:rPr lang="en-US" sz="1700" dirty="0">
                          <a:solidFill>
                            <a:srgbClr val="14213D"/>
                          </a:solidFill>
                          <a:latin typeface="IBM Plex Sans" pitchFamily="34" charset="0"/>
                          <a:ea typeface="IBM Plex Sans" pitchFamily="34" charset="-122"/>
                          <a:cs typeface="IBM Plex Sans" pitchFamily="34" charset="-120"/>
                        </a:rPr>
                        <a:t>MACD, Momentum, Grid, Pairs, ETF&amp;PCA, TSMOM, OFI</a:t>
                      </a:r>
                      <a:endParaRPr lang="en-US" sz="1700" dirty="0">
                        <a:latin typeface="IBM Plex Sans" charset="0"/>
                        <a:ea typeface="IBM Plex Sans" charset="0"/>
                        <a:cs typeface="IBM Plex Sans" charset="0"/>
                      </a:endParaRPr>
                    </a:p>
                  </a:txBody>
                  <a:tcPr marL="75565" marR="75565" marT="75565" marB="7556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7B5B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1"/>
                  </a:ext>
                </a:extLst>
              </a:tr>
              <a:tr h="466030">
                <a:tc>
                  <a:txBody>
                    <a:bodyPr/>
                    <a:lstStyle/>
                    <a:p>
                      <a:pPr marL="0" indent="0">
                        <a:lnSpc>
                          <a:spcPts val="2380"/>
                        </a:lnSpc>
                        <a:buNone/>
                      </a:pPr>
                      <a:r>
                        <a:rPr lang="en-US" sz="1700" dirty="0">
                          <a:solidFill>
                            <a:srgbClr val="14213D"/>
                          </a:solidFill>
                          <a:latin typeface="IBM Plex Sans" pitchFamily="34" charset="0"/>
                          <a:ea typeface="IBM Plex Sans" pitchFamily="34" charset="-122"/>
                          <a:cs typeface="IBM Plex Sans" pitchFamily="34" charset="-120"/>
                        </a:rPr>
                        <a:t>ML / RL</a:t>
                      </a:r>
                      <a:endParaRPr lang="en-US" sz="1700" dirty="0">
                        <a:latin typeface="IBM Plex Sans" charset="0"/>
                        <a:ea typeface="IBM Plex Sans" charset="0"/>
                        <a:cs typeface="IBM Plex Sans" charset="0"/>
                      </a:endParaRPr>
                    </a:p>
                  </a:txBody>
                  <a:tcPr marL="75565" marR="75565" marT="75565" marB="7556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380"/>
                        </a:lnSpc>
                        <a:buNone/>
                      </a:pPr>
                      <a:r>
                        <a:rPr lang="en-US" sz="1700" dirty="0">
                          <a:solidFill>
                            <a:srgbClr val="14213D"/>
                          </a:solidFill>
                          <a:latin typeface="IBM Plex Sans" pitchFamily="34" charset="0"/>
                          <a:ea typeface="IBM Plex Sans" pitchFamily="34" charset="-122"/>
                          <a:cs typeface="IBM Plex Sans" pitchFamily="34" charset="-120"/>
                        </a:rPr>
                        <a:t>LSTM, Autoformer, PatchTST, DQN, DDPG</a:t>
                      </a:r>
                      <a:endParaRPr lang="en-US" sz="1700" dirty="0">
                        <a:latin typeface="IBM Plex Sans" charset="0"/>
                        <a:ea typeface="IBM Plex Sans" charset="0"/>
                        <a:cs typeface="IBM Plex Sans" charset="0"/>
                      </a:endParaRPr>
                    </a:p>
                  </a:txBody>
                  <a:tcPr marL="75565" marR="75565" marT="75565" marB="7556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2"/>
                  </a:ext>
                </a:extLst>
              </a:tr>
              <a:tr h="466030">
                <a:tc>
                  <a:txBody>
                    <a:bodyPr/>
                    <a:lstStyle/>
                    <a:p>
                      <a:pPr marL="0" indent="0">
                        <a:lnSpc>
                          <a:spcPts val="2380"/>
                        </a:lnSpc>
                        <a:buNone/>
                      </a:pPr>
                      <a:r>
                        <a:rPr lang="en-US" sz="1700" dirty="0">
                          <a:solidFill>
                            <a:srgbClr val="14213D"/>
                          </a:solidFill>
                          <a:latin typeface="IBM Plex Sans" pitchFamily="34" charset="0"/>
                          <a:ea typeface="IBM Plex Sans" pitchFamily="34" charset="-122"/>
                          <a:cs typeface="IBM Plex Sans" pitchFamily="34" charset="-120"/>
                        </a:rPr>
                        <a:t>LLM agents</a:t>
                      </a:r>
                      <a:endParaRPr lang="en-US" sz="1700" dirty="0">
                        <a:latin typeface="IBM Plex Sans" charset="0"/>
                        <a:ea typeface="IBM Plex Sans" charset="0"/>
                        <a:cs typeface="IBM Plex Sans" charset="0"/>
                      </a:endParaRPr>
                    </a:p>
                  </a:txBody>
                  <a:tcPr marL="75565" marR="75565" marT="75565" marB="7556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marL="0" indent="0">
                        <a:lnSpc>
                          <a:spcPts val="2380"/>
                        </a:lnSpc>
                        <a:buNone/>
                      </a:pPr>
                      <a:r>
                        <a:rPr lang="en-US" sz="1700" dirty="0">
                          <a:solidFill>
                            <a:srgbClr val="14213D"/>
                          </a:solidFill>
                          <a:latin typeface="IBM Plex Sans" pitchFamily="34" charset="0"/>
                          <a:ea typeface="IBM Plex Sans" pitchFamily="34" charset="-122"/>
                          <a:cs typeface="IBM Plex Sans" pitchFamily="34" charset="-120"/>
                        </a:rPr>
                        <a:t>FinGPT, FinMem, TradingAgents</a:t>
                      </a:r>
                      <a:endParaRPr lang="en-US" sz="1700" dirty="0">
                        <a:latin typeface="IBM Plex Sans" charset="0"/>
                        <a:ea typeface="IBM Plex Sans" charset="0"/>
                        <a:cs typeface="IBM Plex Sans" charset="0"/>
                      </a:endParaRPr>
                    </a:p>
                  </a:txBody>
                  <a:tcPr marL="75565" marR="75565" marT="75565" marB="75565">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4" name="Text 11"/>
          <p:cNvSpPr/>
          <p:nvPr/>
        </p:nvSpPr>
        <p:spPr>
          <a:xfrm>
            <a:off x="812800" y="6220470"/>
            <a:ext cx="78486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7280"/>
                </a:solidFill>
                <a:latin typeface="IBM Plex Sans" pitchFamily="34" charset="0"/>
                <a:ea typeface="IBM Plex Sans" pitchFamily="34" charset="-122"/>
                <a:cs typeface="IBM Plex Sans" pitchFamily="34" charset="-120"/>
              </a:rPr>
              <a:t>Backtest: 2024 · Live trading: Jan–Apr 2025</a:t>
            </a:r>
            <a:endParaRPr lang="en-US" sz="1300" dirty="0"/>
          </a:p>
        </p:txBody>
      </p:sp>
      <p:sp>
        <p:nvSpPr>
          <p:cNvPr id="15" name="Text 12"/>
          <p:cNvSpPr/>
          <p:nvPr/>
        </p:nvSpPr>
        <p:spPr>
          <a:xfrm>
            <a:off x="10058400" y="6220470"/>
            <a:ext cx="1320800" cy="25653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6B7280"/>
                </a:solidFill>
                <a:latin typeface="IBM Plex Mono" pitchFamily="49" charset="0"/>
                <a:ea typeface="IBM Plex Mono" pitchFamily="49" charset="-122"/>
                <a:cs typeface="IBM Plex Mono" pitchFamily="49"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kern="0" spc="150" dirty="0">
                <a:solidFill>
                  <a:srgbClr val="A9481A"/>
                </a:solidFill>
                <a:latin typeface="IBM Plex Mono" pitchFamily="49" charset="0"/>
                <a:ea typeface="IBM Plex Mono" pitchFamily="49" charset="-122"/>
                <a:cs typeface="IBM Plex Mono" pitchFamily="49" charset="-120"/>
              </a:rPr>
              <a:t>06 · RESULTS</a:t>
            </a:r>
            <a:endParaRPr lang="en-US" sz="1500" dirty="0"/>
          </a:p>
        </p:txBody>
      </p:sp>
      <p:sp>
        <p:nvSpPr>
          <p:cNvPr id="3" name="Text 1"/>
          <p:cNvSpPr>
            <a:spLocks noGrp="1"/>
          </p:cNvSpPr>
          <p:nvPr>
            <p:ph type="title"/>
          </p:nvPr>
        </p:nvSpPr>
        <p:spPr>
          <a:xfrm>
            <a:off x="812800" y="118110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14213D"/>
                </a:solidFill>
                <a:latin typeface="Space Grotesk" pitchFamily="34" charset="0"/>
                <a:ea typeface="Space Grotesk" pitchFamily="34" charset="-122"/>
                <a:cs typeface="Space Grotesk" pitchFamily="34" charset="-120"/>
              </a:rPr>
              <a:t>Live trading, Jan–Apr 2025</a:t>
            </a:r>
            <a:endParaRPr lang="en-US" sz="3800" dirty="0"/>
          </a:p>
        </p:txBody>
      </p:sp>
      <p:sp>
        <p:nvSpPr>
          <p:cNvPr id="4" name="Shape 2"/>
          <p:cNvSpPr/>
          <p:nvPr/>
        </p:nvSpPr>
        <p:spPr>
          <a:xfrm>
            <a:off x="812800" y="1915120"/>
            <a:ext cx="7620000" cy="3898900"/>
          </a:xfrm>
          <a:prstGeom prst="rect">
            <a:avLst/>
          </a:prstGeom>
          <a:solidFill>
            <a:srgbClr val="FFFFFF"/>
          </a:solidFill>
          <a:ln/>
        </p:spPr>
      </p:sp>
      <p:pic>
        <p:nvPicPr>
          <p:cNvPr id="5" name="Image 0" descr="Table 3 of the TiMi paper: live trading comparison of 16 methods across U.S. stock index futures, mainstream coin futures and altcoin futures"/>
          <p:cNvPicPr>
            <a:picLocks noChangeAspect="1"/>
          </p:cNvPicPr>
          <p:nvPr/>
        </p:nvPicPr>
        <p:blipFill>
          <a:blip r:embed="rId3"/>
          <a:srcRect t="-32" b="-32"/>
          <a:stretch/>
        </p:blipFill>
        <p:spPr>
          <a:xfrm>
            <a:off x="812800" y="1915120"/>
            <a:ext cx="7620000" cy="3898900"/>
          </a:xfrm>
          <a:prstGeom prst="rect">
            <a:avLst/>
          </a:prstGeom>
        </p:spPr>
      </p:pic>
      <p:sp>
        <p:nvSpPr>
          <p:cNvPr id="6" name="Shape 3"/>
          <p:cNvSpPr/>
          <p:nvPr/>
        </p:nvSpPr>
        <p:spPr>
          <a:xfrm>
            <a:off x="825500" y="5572720"/>
            <a:ext cx="7594600" cy="228600"/>
          </a:xfrm>
          <a:prstGeom prst="roundRect">
            <a:avLst>
              <a:gd name="adj" fmla="val 11111"/>
            </a:avLst>
          </a:prstGeom>
          <a:noFill/>
          <a:ln w="25400">
            <a:solidFill>
              <a:srgbClr val="E08A3C"/>
            </a:solidFill>
            <a:prstDash val="solid"/>
          </a:ln>
        </p:spPr>
      </p:sp>
      <p:sp>
        <p:nvSpPr>
          <p:cNvPr id="7" name="Shape 4"/>
          <p:cNvSpPr/>
          <p:nvPr/>
        </p:nvSpPr>
        <p:spPr>
          <a:xfrm>
            <a:off x="8686800" y="1915120"/>
            <a:ext cx="2692400" cy="1215827"/>
          </a:xfrm>
          <a:prstGeom prst="roundRect">
            <a:avLst>
              <a:gd name="adj" fmla="val 6267"/>
            </a:avLst>
          </a:prstGeom>
          <a:solidFill>
            <a:srgbClr val="14213D"/>
          </a:solidFill>
          <a:ln/>
        </p:spPr>
      </p:sp>
      <p:sp>
        <p:nvSpPr>
          <p:cNvPr id="8" name="Text 5"/>
          <p:cNvSpPr/>
          <p:nvPr/>
        </p:nvSpPr>
        <p:spPr>
          <a:xfrm>
            <a:off x="8864600" y="2117923"/>
            <a:ext cx="2406904"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B27A"/>
                </a:solidFill>
                <a:latin typeface="IBM Plex Mono" pitchFamily="49" charset="0"/>
                <a:ea typeface="IBM Plex Mono" pitchFamily="49" charset="-122"/>
                <a:cs typeface="IBM Plex Mono" pitchFamily="49" charset="-120"/>
              </a:rPr>
              <a:t>BEST</a:t>
            </a:r>
            <a:endParaRPr lang="en-US" sz="1300" dirty="0"/>
          </a:p>
        </p:txBody>
      </p:sp>
      <p:sp>
        <p:nvSpPr>
          <p:cNvPr id="9" name="Text 6"/>
          <p:cNvSpPr/>
          <p:nvPr/>
        </p:nvSpPr>
        <p:spPr>
          <a:xfrm>
            <a:off x="8864600" y="2399854"/>
            <a:ext cx="2406904" cy="553641"/>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F7F5EF"/>
                </a:solidFill>
                <a:latin typeface="IBM Plex Sans" pitchFamily="34" charset="0"/>
                <a:ea typeface="IBM Plex Sans" pitchFamily="34" charset="-122"/>
                <a:cs typeface="IBM Plex Sans" pitchFamily="34" charset="-120"/>
              </a:rPr>
              <a:t>Return and Sharpe in all 3 markets</a:t>
            </a:r>
            <a:endParaRPr lang="en-US" sz="1600" dirty="0"/>
          </a:p>
        </p:txBody>
      </p:sp>
      <p:sp>
        <p:nvSpPr>
          <p:cNvPr id="10" name="Shape 7"/>
          <p:cNvSpPr/>
          <p:nvPr/>
        </p:nvSpPr>
        <p:spPr>
          <a:xfrm>
            <a:off x="8689975" y="3261122"/>
            <a:ext cx="2686050" cy="1222177"/>
          </a:xfrm>
          <a:prstGeom prst="roundRect">
            <a:avLst>
              <a:gd name="adj" fmla="val 5975"/>
            </a:avLst>
          </a:prstGeom>
          <a:solidFill>
            <a:srgbClr val="FFFDF8"/>
          </a:solidFill>
          <a:ln w="6350">
            <a:solidFill>
              <a:srgbClr val="DDD6C6"/>
            </a:solidFill>
            <a:prstDash val="solid"/>
          </a:ln>
        </p:spPr>
      </p:sp>
      <p:sp>
        <p:nvSpPr>
          <p:cNvPr id="11" name="Text 8"/>
          <p:cNvSpPr/>
          <p:nvPr/>
        </p:nvSpPr>
        <p:spPr>
          <a:xfrm>
            <a:off x="8870950" y="3467100"/>
            <a:ext cx="2393823"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9481A"/>
                </a:solidFill>
                <a:latin typeface="IBM Plex Mono" pitchFamily="49" charset="0"/>
                <a:ea typeface="IBM Plex Mono" pitchFamily="49" charset="-122"/>
                <a:cs typeface="IBM Plex Mono" pitchFamily="49" charset="-120"/>
              </a:rPr>
              <a:t>NOT BEST</a:t>
            </a:r>
            <a:endParaRPr lang="en-US" sz="1300" dirty="0"/>
          </a:p>
        </p:txBody>
      </p:sp>
      <p:sp>
        <p:nvSpPr>
          <p:cNvPr id="12" name="Text 9"/>
          <p:cNvSpPr/>
          <p:nvPr/>
        </p:nvSpPr>
        <p:spPr>
          <a:xfrm>
            <a:off x="8870950" y="3749030"/>
            <a:ext cx="2393823" cy="553641"/>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4213D"/>
                </a:solidFill>
                <a:latin typeface="IBM Plex Sans" pitchFamily="34" charset="0"/>
                <a:ea typeface="IBM Plex Sans" pitchFamily="34" charset="-122"/>
                <a:cs typeface="IBM Plex Sans" pitchFamily="34" charset="-120"/>
              </a:rPr>
              <a:t>Max drawdown, e.g. 32.8% on altcoins</a:t>
            </a:r>
            <a:endParaRPr lang="en-US" sz="1600" dirty="0"/>
          </a:p>
        </p:txBody>
      </p:sp>
      <p:sp>
        <p:nvSpPr>
          <p:cNvPr id="13" name="Shape 10"/>
          <p:cNvSpPr/>
          <p:nvPr/>
        </p:nvSpPr>
        <p:spPr>
          <a:xfrm>
            <a:off x="8689975" y="4616648"/>
            <a:ext cx="2686050" cy="1222177"/>
          </a:xfrm>
          <a:prstGeom prst="roundRect">
            <a:avLst>
              <a:gd name="adj" fmla="val 5975"/>
            </a:avLst>
          </a:prstGeom>
          <a:solidFill>
            <a:srgbClr val="FFFDF8"/>
          </a:solidFill>
          <a:ln w="6350">
            <a:solidFill>
              <a:srgbClr val="DDD6C6"/>
            </a:solidFill>
            <a:prstDash val="solid"/>
          </a:ln>
        </p:spPr>
      </p:sp>
      <p:sp>
        <p:nvSpPr>
          <p:cNvPr id="14" name="Text 11"/>
          <p:cNvSpPr/>
          <p:nvPr/>
        </p:nvSpPr>
        <p:spPr>
          <a:xfrm>
            <a:off x="8870950" y="4822627"/>
            <a:ext cx="2393823"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7280"/>
                </a:solidFill>
                <a:latin typeface="IBM Plex Mono" pitchFamily="49" charset="0"/>
                <a:ea typeface="IBM Plex Mono" pitchFamily="49" charset="-122"/>
                <a:cs typeface="IBM Plex Mono" pitchFamily="49" charset="-120"/>
              </a:rPr>
              <a:t>NOTE</a:t>
            </a:r>
            <a:endParaRPr lang="en-US" sz="1300" dirty="0"/>
          </a:p>
        </p:txBody>
      </p:sp>
      <p:sp>
        <p:nvSpPr>
          <p:cNvPr id="15" name="Text 12"/>
          <p:cNvSpPr/>
          <p:nvPr/>
        </p:nvSpPr>
        <p:spPr>
          <a:xfrm>
            <a:off x="8870950" y="5104557"/>
            <a:ext cx="2393823" cy="553641"/>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14213D"/>
                </a:solidFill>
                <a:latin typeface="IBM Plex Sans" pitchFamily="34" charset="0"/>
                <a:ea typeface="IBM Plex Sans" pitchFamily="34" charset="-122"/>
                <a:cs typeface="IBM Plex Sans" pitchFamily="34" charset="-120"/>
              </a:rPr>
              <a:t>* = baseline estimated from partial runs</a:t>
            </a:r>
            <a:endParaRPr lang="en-US" sz="1600" dirty="0"/>
          </a:p>
        </p:txBody>
      </p:sp>
      <p:sp>
        <p:nvSpPr>
          <p:cNvPr id="16" name="Text 13"/>
          <p:cNvSpPr/>
          <p:nvPr/>
        </p:nvSpPr>
        <p:spPr>
          <a:xfrm>
            <a:off x="812800" y="6220470"/>
            <a:ext cx="850265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7280"/>
                </a:solidFill>
                <a:latin typeface="IBM Plex Sans" pitchFamily="34" charset="0"/>
                <a:ea typeface="IBM Plex Sans" pitchFamily="34" charset="-122"/>
                <a:cs typeface="IBM Plex Sans" pitchFamily="34" charset="-120"/>
              </a:rPr>
              <a:t>Table 3, Song et al. (ICLR 2026) · ARR = annualized return · SR = Sharpe · MDD = max drawdown</a:t>
            </a:r>
            <a:endParaRPr lang="en-US" sz="1300" dirty="0"/>
          </a:p>
        </p:txBody>
      </p:sp>
      <p:sp>
        <p:nvSpPr>
          <p:cNvPr id="17" name="Text 14"/>
          <p:cNvSpPr/>
          <p:nvPr/>
        </p:nvSpPr>
        <p:spPr>
          <a:xfrm>
            <a:off x="10566400" y="6220470"/>
            <a:ext cx="812800" cy="25653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6B7280"/>
                </a:solidFill>
                <a:latin typeface="IBM Plex Mono" pitchFamily="49" charset="0"/>
                <a:ea typeface="IBM Plex Mono" pitchFamily="49" charset="-122"/>
                <a:cs typeface="IBM Plex Mono" pitchFamily="49" charset="-120"/>
              </a:rPr>
              <a:t>07</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kern="0" spc="150" dirty="0">
                <a:solidFill>
                  <a:srgbClr val="A9481A"/>
                </a:solidFill>
                <a:latin typeface="IBM Plex Mono" pitchFamily="49" charset="0"/>
                <a:ea typeface="IBM Plex Mono" pitchFamily="49" charset="-122"/>
                <a:cs typeface="IBM Plex Mono" pitchFamily="49" charset="-120"/>
              </a:rPr>
              <a:t>07 · EFFICIENCY</a:t>
            </a:r>
            <a:endParaRPr lang="en-US" sz="1500" dirty="0"/>
          </a:p>
        </p:txBody>
      </p:sp>
      <p:sp>
        <p:nvSpPr>
          <p:cNvPr id="3" name="Text 1"/>
          <p:cNvSpPr>
            <a:spLocks noGrp="1"/>
          </p:cNvSpPr>
          <p:nvPr>
            <p:ph type="title"/>
          </p:nvPr>
        </p:nvSpPr>
        <p:spPr>
          <a:xfrm>
            <a:off x="812800" y="118110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14213D"/>
                </a:solidFill>
                <a:latin typeface="Space Grotesk" pitchFamily="34" charset="0"/>
                <a:ea typeface="Space Grotesk" pitchFamily="34" charset="-122"/>
                <a:cs typeface="Space Grotesk" pitchFamily="34" charset="-120"/>
              </a:rPr>
              <a:t>Fast and capital-efficient</a:t>
            </a:r>
            <a:endParaRPr lang="en-US" sz="3800" dirty="0"/>
          </a:p>
        </p:txBody>
      </p:sp>
      <p:sp>
        <p:nvSpPr>
          <p:cNvPr id="4" name="Shape 2"/>
          <p:cNvSpPr/>
          <p:nvPr/>
        </p:nvSpPr>
        <p:spPr>
          <a:xfrm>
            <a:off x="812800" y="1965920"/>
            <a:ext cx="3386634" cy="2988370"/>
          </a:xfrm>
          <a:prstGeom prst="roundRect">
            <a:avLst>
              <a:gd name="adj" fmla="val 3400"/>
            </a:avLst>
          </a:prstGeom>
          <a:solidFill>
            <a:srgbClr val="14213D"/>
          </a:solidFill>
          <a:ln/>
        </p:spPr>
      </p:sp>
      <p:sp>
        <p:nvSpPr>
          <p:cNvPr id="5" name="Text 3"/>
          <p:cNvSpPr/>
          <p:nvPr/>
        </p:nvSpPr>
        <p:spPr>
          <a:xfrm>
            <a:off x="1066800" y="2742555"/>
            <a:ext cx="2964993" cy="711200"/>
          </a:xfrm>
          <a:prstGeom prst="rect">
            <a:avLst/>
          </a:prstGeom>
          <a:noFill/>
          <a:ln/>
        </p:spPr>
        <p:txBody>
          <a:bodyPr wrap="square" lIns="0" tIns="0" rIns="0" bIns="0" rtlCol="0" anchor="t">
            <a:normAutofit/>
          </a:bodyPr>
          <a:lstStyle/>
          <a:p>
            <a:pPr marL="0" indent="0" algn="l">
              <a:lnSpc>
                <a:spcPts val="5400"/>
              </a:lnSpc>
              <a:buNone/>
            </a:pPr>
            <a:r>
              <a:rPr lang="en-US" sz="5400" b="1" dirty="0">
                <a:solidFill>
                  <a:srgbClr val="F2B27A"/>
                </a:solidFill>
                <a:latin typeface="Space Grotesk" pitchFamily="34" charset="0"/>
                <a:ea typeface="Space Grotesk" pitchFamily="34" charset="-122"/>
                <a:cs typeface="Space Grotesk" pitchFamily="34" charset="-120"/>
              </a:rPr>
              <a:t>137 ms</a:t>
            </a:r>
            <a:endParaRPr lang="en-US" sz="5400" dirty="0"/>
          </a:p>
        </p:txBody>
      </p:sp>
      <p:sp>
        <p:nvSpPr>
          <p:cNvPr id="6" name="Text 4"/>
          <p:cNvSpPr/>
          <p:nvPr/>
        </p:nvSpPr>
        <p:spPr>
          <a:xfrm>
            <a:off x="1066800" y="3529955"/>
            <a:ext cx="2964993"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E3E8F2"/>
                </a:solidFill>
                <a:latin typeface="IBM Plex Sans" pitchFamily="34" charset="0"/>
                <a:ea typeface="IBM Plex Sans" pitchFamily="34" charset="-122"/>
                <a:cs typeface="IBM Plex Sans" pitchFamily="34" charset="-120"/>
              </a:rPr>
              <a:t>average latency per action</a:t>
            </a:r>
            <a:endParaRPr lang="en-US" sz="1800" dirty="0"/>
          </a:p>
        </p:txBody>
      </p:sp>
      <p:sp>
        <p:nvSpPr>
          <p:cNvPr id="7" name="Text 5"/>
          <p:cNvSpPr/>
          <p:nvPr/>
        </p:nvSpPr>
        <p:spPr>
          <a:xfrm>
            <a:off x="1066800" y="3928715"/>
            <a:ext cx="2964993"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9AA8C2"/>
                </a:solidFill>
                <a:latin typeface="IBM Plex Sans" pitchFamily="34" charset="0"/>
                <a:ea typeface="IBM Plex Sans" pitchFamily="34" charset="-122"/>
                <a:cs typeface="IBM Plex Sans" pitchFamily="34" charset="-120"/>
              </a:rPr>
              <a:t>P99: 185 ms</a:t>
            </a:r>
            <a:endParaRPr lang="en-US" sz="1400" dirty="0"/>
          </a:p>
        </p:txBody>
      </p:sp>
      <p:sp>
        <p:nvSpPr>
          <p:cNvPr id="8" name="Shape 6"/>
          <p:cNvSpPr/>
          <p:nvPr/>
        </p:nvSpPr>
        <p:spPr>
          <a:xfrm>
            <a:off x="4402634" y="1965920"/>
            <a:ext cx="3386683" cy="2988370"/>
          </a:xfrm>
          <a:prstGeom prst="roundRect">
            <a:avLst>
              <a:gd name="adj" fmla="val 3400"/>
            </a:avLst>
          </a:prstGeom>
          <a:solidFill>
            <a:srgbClr val="14213D"/>
          </a:solidFill>
          <a:ln/>
        </p:spPr>
      </p:sp>
      <p:sp>
        <p:nvSpPr>
          <p:cNvPr id="9" name="Text 7"/>
          <p:cNvSpPr/>
          <p:nvPr/>
        </p:nvSpPr>
        <p:spPr>
          <a:xfrm>
            <a:off x="4656634" y="2742555"/>
            <a:ext cx="2965044" cy="711200"/>
          </a:xfrm>
          <a:prstGeom prst="rect">
            <a:avLst/>
          </a:prstGeom>
          <a:noFill/>
          <a:ln/>
        </p:spPr>
        <p:txBody>
          <a:bodyPr wrap="square" lIns="0" tIns="0" rIns="0" bIns="0" rtlCol="0" anchor="t">
            <a:normAutofit/>
          </a:bodyPr>
          <a:lstStyle/>
          <a:p>
            <a:pPr marL="0" indent="0" algn="l">
              <a:lnSpc>
                <a:spcPts val="5400"/>
              </a:lnSpc>
              <a:buNone/>
            </a:pPr>
            <a:r>
              <a:rPr lang="en-US" sz="5400" b="1" dirty="0">
                <a:solidFill>
                  <a:srgbClr val="F2B27A"/>
                </a:solidFill>
                <a:latin typeface="Space Grotesk" pitchFamily="34" charset="0"/>
                <a:ea typeface="Space Grotesk" pitchFamily="34" charset="-122"/>
                <a:cs typeface="Space Grotesk" pitchFamily="34" charset="-120"/>
              </a:rPr>
              <a:t>0.91</a:t>
            </a:r>
            <a:endParaRPr lang="en-US" sz="5400" dirty="0"/>
          </a:p>
        </p:txBody>
      </p:sp>
      <p:sp>
        <p:nvSpPr>
          <p:cNvPr id="10" name="Text 8"/>
          <p:cNvSpPr/>
          <p:nvPr/>
        </p:nvSpPr>
        <p:spPr>
          <a:xfrm>
            <a:off x="4656634" y="3529955"/>
            <a:ext cx="2965044" cy="32256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E3E8F2"/>
                </a:solidFill>
                <a:latin typeface="IBM Plex Sans" pitchFamily="34" charset="0"/>
                <a:ea typeface="IBM Plex Sans" pitchFamily="34" charset="-122"/>
                <a:cs typeface="IBM Plex Sans" pitchFamily="34" charset="-120"/>
              </a:rPr>
              <a:t>Sortino ratio on altcoins</a:t>
            </a:r>
            <a:endParaRPr lang="en-US" sz="1800" dirty="0"/>
          </a:p>
        </p:txBody>
      </p:sp>
      <p:sp>
        <p:nvSpPr>
          <p:cNvPr id="11" name="Text 9"/>
          <p:cNvSpPr/>
          <p:nvPr/>
        </p:nvSpPr>
        <p:spPr>
          <a:xfrm>
            <a:off x="4656634" y="3928715"/>
            <a:ext cx="2965044"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9AA8C2"/>
                </a:solidFill>
                <a:latin typeface="IBM Plex Sans" pitchFamily="34" charset="0"/>
                <a:ea typeface="IBM Plex Sans" pitchFamily="34" charset="-122"/>
                <a:cs typeface="IBM Plex Sans" pitchFamily="34" charset="-120"/>
              </a:rPr>
              <a:t>TradingAgents: 0.58</a:t>
            </a:r>
            <a:endParaRPr lang="en-US" sz="1400" dirty="0"/>
          </a:p>
        </p:txBody>
      </p:sp>
      <p:sp>
        <p:nvSpPr>
          <p:cNvPr id="12" name="Shape 10"/>
          <p:cNvSpPr/>
          <p:nvPr/>
        </p:nvSpPr>
        <p:spPr>
          <a:xfrm>
            <a:off x="7992517" y="1965920"/>
            <a:ext cx="3386683" cy="2988370"/>
          </a:xfrm>
          <a:prstGeom prst="roundRect">
            <a:avLst>
              <a:gd name="adj" fmla="val 3400"/>
            </a:avLst>
          </a:prstGeom>
          <a:solidFill>
            <a:srgbClr val="14213D"/>
          </a:solidFill>
          <a:ln/>
        </p:spPr>
      </p:sp>
      <p:sp>
        <p:nvSpPr>
          <p:cNvPr id="13" name="Text 11"/>
          <p:cNvSpPr/>
          <p:nvPr/>
        </p:nvSpPr>
        <p:spPr>
          <a:xfrm>
            <a:off x="8246517" y="2593975"/>
            <a:ext cx="2965044" cy="711200"/>
          </a:xfrm>
          <a:prstGeom prst="rect">
            <a:avLst/>
          </a:prstGeom>
          <a:noFill/>
          <a:ln/>
        </p:spPr>
        <p:txBody>
          <a:bodyPr wrap="square" lIns="0" tIns="0" rIns="0" bIns="0" rtlCol="0" anchor="t">
            <a:normAutofit/>
          </a:bodyPr>
          <a:lstStyle/>
          <a:p>
            <a:pPr marL="0" indent="0" algn="l">
              <a:lnSpc>
                <a:spcPts val="5400"/>
              </a:lnSpc>
              <a:buNone/>
            </a:pPr>
            <a:r>
              <a:rPr lang="en-US" sz="5400" b="1" dirty="0">
                <a:solidFill>
                  <a:srgbClr val="F2B27A"/>
                </a:solidFill>
                <a:latin typeface="Space Grotesk" pitchFamily="34" charset="0"/>
                <a:ea typeface="Space Grotesk" pitchFamily="34" charset="-122"/>
                <a:cs typeface="Space Grotesk" pitchFamily="34" charset="-120"/>
              </a:rPr>
              <a:t>1.53</a:t>
            </a:r>
            <a:endParaRPr lang="en-US" sz="5400" dirty="0"/>
          </a:p>
        </p:txBody>
      </p:sp>
      <p:sp>
        <p:nvSpPr>
          <p:cNvPr id="14" name="Text 12"/>
          <p:cNvSpPr/>
          <p:nvPr/>
        </p:nvSpPr>
        <p:spPr>
          <a:xfrm>
            <a:off x="8246517" y="3381375"/>
            <a:ext cx="2965044" cy="61972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E3E8F2"/>
                </a:solidFill>
                <a:latin typeface="IBM Plex Sans" pitchFamily="34" charset="0"/>
                <a:ea typeface="IBM Plex Sans" pitchFamily="34" charset="-122"/>
                <a:cs typeface="IBM Plex Sans" pitchFamily="34" charset="-120"/>
              </a:rPr>
              <a:t>profit/loss per unit of capital</a:t>
            </a:r>
            <a:endParaRPr lang="en-US" sz="1800" dirty="0"/>
          </a:p>
        </p:txBody>
      </p:sp>
      <p:sp>
        <p:nvSpPr>
          <p:cNvPr id="15" name="Text 13"/>
          <p:cNvSpPr/>
          <p:nvPr/>
        </p:nvSpPr>
        <p:spPr>
          <a:xfrm>
            <a:off x="8246517" y="4077295"/>
            <a:ext cx="2965044"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9AA8C2"/>
                </a:solidFill>
                <a:latin typeface="IBM Plex Sans" pitchFamily="34" charset="0"/>
                <a:ea typeface="IBM Plex Sans" pitchFamily="34" charset="-122"/>
                <a:cs typeface="IBM Plex Sans" pitchFamily="34" charset="-120"/>
              </a:rPr>
              <a:t>TradingAgents: 1.32</a:t>
            </a:r>
            <a:endParaRPr lang="en-US" sz="1400" dirty="0"/>
          </a:p>
        </p:txBody>
      </p:sp>
      <p:sp>
        <p:nvSpPr>
          <p:cNvPr id="16" name="Shape 14"/>
          <p:cNvSpPr/>
          <p:nvPr/>
        </p:nvSpPr>
        <p:spPr>
          <a:xfrm>
            <a:off x="831850" y="5208290"/>
            <a:ext cx="0" cy="633710"/>
          </a:xfrm>
          <a:prstGeom prst="line">
            <a:avLst/>
          </a:prstGeom>
          <a:noFill/>
          <a:ln w="38100">
            <a:solidFill>
              <a:srgbClr val="9AA3B2"/>
            </a:solidFill>
            <a:prstDash val="solid"/>
          </a:ln>
        </p:spPr>
      </p:sp>
      <p:sp>
        <p:nvSpPr>
          <p:cNvPr id="17" name="Text 15"/>
          <p:cNvSpPr/>
          <p:nvPr/>
        </p:nvSpPr>
        <p:spPr>
          <a:xfrm>
            <a:off x="1003300" y="5233690"/>
            <a:ext cx="10687177" cy="608310"/>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3D4656"/>
                </a:solidFill>
                <a:latin typeface="IBM Plex Sans" pitchFamily="34" charset="0"/>
                <a:ea typeface="IBM Plex Sans" pitchFamily="34" charset="-122"/>
                <a:cs typeface="IBM Plex Sans" pitchFamily="34" charset="-120"/>
              </a:rPr>
              <a:t>Not a clean sweep: in the 2024 backtest, plain momentum (TSMOM) beat TiMi's return in two of three markets.</a:t>
            </a:r>
            <a:endParaRPr lang="en-US" sz="1700" dirty="0"/>
          </a:p>
        </p:txBody>
      </p:sp>
      <p:sp>
        <p:nvSpPr>
          <p:cNvPr id="18" name="Text 16"/>
          <p:cNvSpPr/>
          <p:nvPr/>
        </p:nvSpPr>
        <p:spPr>
          <a:xfrm>
            <a:off x="812800" y="6220470"/>
            <a:ext cx="850265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7280"/>
                </a:solidFill>
                <a:latin typeface="IBM Plex Sans" pitchFamily="34" charset="0"/>
                <a:ea typeface="IBM Plex Sans" pitchFamily="34" charset="-122"/>
                <a:cs typeface="IBM Plex Sans" pitchFamily="34" charset="-120"/>
              </a:rPr>
              <a:t>Song et al. (ICLR 2026): Tables 1, 2, 5 and Section 4.2</a:t>
            </a:r>
            <a:endParaRPr lang="en-US" sz="1300" dirty="0"/>
          </a:p>
        </p:txBody>
      </p:sp>
      <p:sp>
        <p:nvSpPr>
          <p:cNvPr id="19" name="Text 17"/>
          <p:cNvSpPr/>
          <p:nvPr/>
        </p:nvSpPr>
        <p:spPr>
          <a:xfrm>
            <a:off x="10566400" y="6220470"/>
            <a:ext cx="812800" cy="25653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6B7280"/>
                </a:solidFill>
                <a:latin typeface="IBM Plex Mono" pitchFamily="49" charset="0"/>
                <a:ea typeface="IBM Plex Mono" pitchFamily="49" charset="-122"/>
                <a:cs typeface="IBM Plex Mono" pitchFamily="49" charset="-120"/>
              </a:rPr>
              <a:t>08</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CE8D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kern="0" spc="150" dirty="0">
                <a:solidFill>
                  <a:srgbClr val="A9481A"/>
                </a:solidFill>
                <a:latin typeface="IBM Plex Mono" pitchFamily="49" charset="0"/>
                <a:ea typeface="IBM Plex Mono" pitchFamily="49" charset="-122"/>
                <a:cs typeface="IBM Plex Mono" pitchFamily="49" charset="-120"/>
              </a:rPr>
              <a:t>08 · ABLATION</a:t>
            </a:r>
            <a:endParaRPr lang="en-US" sz="1500" dirty="0"/>
          </a:p>
        </p:txBody>
      </p:sp>
      <p:sp>
        <p:nvSpPr>
          <p:cNvPr id="3" name="Text 1"/>
          <p:cNvSpPr>
            <a:spLocks noGrp="1"/>
          </p:cNvSpPr>
          <p:nvPr>
            <p:ph type="title"/>
          </p:nvPr>
        </p:nvSpPr>
        <p:spPr>
          <a:xfrm>
            <a:off x="812800" y="118110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14213D"/>
                </a:solidFill>
                <a:latin typeface="Space Grotesk" pitchFamily="34" charset="0"/>
                <a:ea typeface="Space Grotesk" pitchFamily="34" charset="-122"/>
                <a:cs typeface="Space Grotesk" pitchFamily="34" charset="-120"/>
              </a:rPr>
              <a:t>Every agent earns its place</a:t>
            </a:r>
            <a:endParaRPr lang="en-US" sz="3800" dirty="0"/>
          </a:p>
        </p:txBody>
      </p:sp>
      <p:sp>
        <p:nvSpPr>
          <p:cNvPr id="4" name="Shape 2"/>
          <p:cNvSpPr/>
          <p:nvPr/>
        </p:nvSpPr>
        <p:spPr>
          <a:xfrm>
            <a:off x="812800" y="1940520"/>
            <a:ext cx="10566400" cy="2419350"/>
          </a:xfrm>
          <a:prstGeom prst="roundRect">
            <a:avLst>
              <a:gd name="adj" fmla="val 3150"/>
            </a:avLst>
          </a:prstGeom>
          <a:solidFill>
            <a:srgbClr val="FFFFFF"/>
          </a:solidFill>
          <a:ln/>
        </p:spPr>
      </p:sp>
      <p:pic>
        <p:nvPicPr>
          <p:cNvPr id="5" name="Image 0" descr="Table 4 of the TiMi paper: component-wise ablation in the 2024 crypto market, showing full TiMi, two reflection variants, and versions without the adaptation agent, the reflection agent, or both"/>
          <p:cNvPicPr>
            <a:picLocks noChangeAspect="1"/>
          </p:cNvPicPr>
          <p:nvPr/>
        </p:nvPicPr>
        <p:blipFill>
          <a:blip r:embed="rId3"/>
          <a:srcRect t="-55" b="-55"/>
          <a:stretch/>
        </p:blipFill>
        <p:spPr>
          <a:xfrm>
            <a:off x="1016000" y="2042120"/>
            <a:ext cx="10160000" cy="2216150"/>
          </a:xfrm>
          <a:prstGeom prst="rect">
            <a:avLst/>
          </a:prstGeom>
        </p:spPr>
      </p:pic>
      <p:sp>
        <p:nvSpPr>
          <p:cNvPr id="6" name="Shape 3"/>
          <p:cNvSpPr/>
          <p:nvPr/>
        </p:nvSpPr>
        <p:spPr>
          <a:xfrm>
            <a:off x="1028700" y="3451820"/>
            <a:ext cx="10134600" cy="457200"/>
          </a:xfrm>
          <a:prstGeom prst="roundRect">
            <a:avLst>
              <a:gd name="adj" fmla="val 5556"/>
            </a:avLst>
          </a:prstGeom>
          <a:noFill/>
          <a:ln w="25400">
            <a:solidFill>
              <a:srgbClr val="E08A3C"/>
            </a:solidFill>
            <a:prstDash val="solid"/>
          </a:ln>
        </p:spPr>
      </p:sp>
      <p:sp>
        <p:nvSpPr>
          <p:cNvPr id="7" name="Shape 4"/>
          <p:cNvSpPr/>
          <p:nvPr/>
        </p:nvSpPr>
        <p:spPr>
          <a:xfrm>
            <a:off x="812800" y="4588470"/>
            <a:ext cx="5181600" cy="1253530"/>
          </a:xfrm>
          <a:prstGeom prst="roundRect">
            <a:avLst>
              <a:gd name="adj" fmla="val 6079"/>
            </a:avLst>
          </a:prstGeom>
          <a:solidFill>
            <a:srgbClr val="FFFDF8"/>
          </a:solidFill>
          <a:ln/>
        </p:spPr>
      </p:sp>
      <p:sp>
        <p:nvSpPr>
          <p:cNvPr id="8" name="Shape 5"/>
          <p:cNvSpPr/>
          <p:nvPr/>
        </p:nvSpPr>
        <p:spPr>
          <a:xfrm>
            <a:off x="812800" y="4588470"/>
            <a:ext cx="5181600" cy="1253530"/>
          </a:xfrm>
          <a:custGeom>
            <a:avLst/>
            <a:gdLst/>
            <a:ahLst/>
            <a:cxnLst/>
            <a:rect l="l" t="t" r="r" b="b"/>
            <a:pathLst>
              <a:path w="5181600" h="1253530">
                <a:moveTo>
                  <a:pt x="76200" y="1253530"/>
                </a:moveTo>
                <a:lnTo>
                  <a:pt x="76200" y="1253530"/>
                </a:lnTo>
                <a:arcTo wR="76200" hR="76200" stAng="5400000" swAng="5400000"/>
                <a:lnTo>
                  <a:pt x="0" y="76200"/>
                </a:lnTo>
                <a:arcTo wR="76200" hR="76200" stAng="10800000" swAng="5400000"/>
                <a:lnTo>
                  <a:pt x="76200" y="0"/>
                </a:lnTo>
                <a:arcTo wR="25400" hR="76200" stAng="16200000" swAng="-5400000"/>
                <a:lnTo>
                  <a:pt x="50800" y="1177330"/>
                </a:lnTo>
                <a:arcTo wR="25400" hR="76200" stAng="10800000" swAng="-5400000"/>
                <a:close/>
              </a:path>
            </a:pathLst>
          </a:custGeom>
          <a:solidFill>
            <a:srgbClr val="E08A3C"/>
          </a:solidFill>
          <a:ln/>
        </p:spPr>
      </p:sp>
      <p:sp>
        <p:nvSpPr>
          <p:cNvPr id="9" name="Text 6"/>
          <p:cNvSpPr/>
          <p:nvPr/>
        </p:nvSpPr>
        <p:spPr>
          <a:xfrm>
            <a:off x="1092200" y="4869160"/>
            <a:ext cx="4813808"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No Reflection → no return</a:t>
            </a:r>
            <a:endParaRPr lang="en-US" sz="2200" dirty="0"/>
          </a:p>
        </p:txBody>
      </p:sp>
      <p:sp>
        <p:nvSpPr>
          <p:cNvPr id="10" name="Text 7"/>
          <p:cNvSpPr/>
          <p:nvPr/>
        </p:nvSpPr>
        <p:spPr>
          <a:xfrm>
            <a:off x="1092200" y="5280620"/>
            <a:ext cx="4813808" cy="306040"/>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3D4656"/>
                </a:solidFill>
                <a:latin typeface="IBM Plex Sans" pitchFamily="34" charset="0"/>
                <a:ea typeface="IBM Plex Sans" pitchFamily="34" charset="-122"/>
                <a:cs typeface="IBM Plex Sans" pitchFamily="34" charset="-120"/>
              </a:rPr>
              <a:t>Return 20.9% → 1.1%</a:t>
            </a:r>
            <a:endParaRPr lang="en-US" sz="1700" dirty="0"/>
          </a:p>
        </p:txBody>
      </p:sp>
      <p:sp>
        <p:nvSpPr>
          <p:cNvPr id="11" name="Shape 8"/>
          <p:cNvSpPr/>
          <p:nvPr/>
        </p:nvSpPr>
        <p:spPr>
          <a:xfrm>
            <a:off x="6197600" y="4588470"/>
            <a:ext cx="5181600" cy="1253530"/>
          </a:xfrm>
          <a:prstGeom prst="roundRect">
            <a:avLst>
              <a:gd name="adj" fmla="val 6079"/>
            </a:avLst>
          </a:prstGeom>
          <a:solidFill>
            <a:srgbClr val="FFFDF8"/>
          </a:solidFill>
          <a:ln/>
        </p:spPr>
      </p:sp>
      <p:sp>
        <p:nvSpPr>
          <p:cNvPr id="12" name="Shape 9"/>
          <p:cNvSpPr/>
          <p:nvPr/>
        </p:nvSpPr>
        <p:spPr>
          <a:xfrm>
            <a:off x="6197600" y="4588470"/>
            <a:ext cx="5181600" cy="1253530"/>
          </a:xfrm>
          <a:custGeom>
            <a:avLst/>
            <a:gdLst/>
            <a:ahLst/>
            <a:cxnLst/>
            <a:rect l="l" t="t" r="r" b="b"/>
            <a:pathLst>
              <a:path w="5181600" h="1253530">
                <a:moveTo>
                  <a:pt x="76200" y="1253530"/>
                </a:moveTo>
                <a:lnTo>
                  <a:pt x="76200" y="1253530"/>
                </a:lnTo>
                <a:arcTo wR="76200" hR="76200" stAng="5400000" swAng="5400000"/>
                <a:lnTo>
                  <a:pt x="0" y="76200"/>
                </a:lnTo>
                <a:arcTo wR="76200" hR="76200" stAng="10800000" swAng="5400000"/>
                <a:lnTo>
                  <a:pt x="76200" y="0"/>
                </a:lnTo>
                <a:arcTo wR="25400" hR="76200" stAng="16200000" swAng="-5400000"/>
                <a:lnTo>
                  <a:pt x="50800" y="1177330"/>
                </a:lnTo>
                <a:arcTo wR="25400" hR="76200" stAng="10800000" swAng="-5400000"/>
                <a:close/>
              </a:path>
            </a:pathLst>
          </a:custGeom>
          <a:solidFill>
            <a:srgbClr val="2F5DA8"/>
          </a:solidFill>
          <a:ln/>
        </p:spPr>
      </p:sp>
      <p:sp>
        <p:nvSpPr>
          <p:cNvPr id="13" name="Text 10"/>
          <p:cNvSpPr/>
          <p:nvPr/>
        </p:nvSpPr>
        <p:spPr>
          <a:xfrm>
            <a:off x="6477000" y="4869160"/>
            <a:ext cx="4813808"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4213D"/>
                </a:solidFill>
                <a:latin typeface="Space Grotesk" pitchFamily="34" charset="0"/>
                <a:ea typeface="Space Grotesk" pitchFamily="34" charset="-122"/>
                <a:cs typeface="Space Grotesk" pitchFamily="34" charset="-120"/>
              </a:rPr>
              <a:t>No Adaptation → 2× risk</a:t>
            </a:r>
            <a:endParaRPr lang="en-US" sz="2200" dirty="0"/>
          </a:p>
        </p:txBody>
      </p:sp>
      <p:sp>
        <p:nvSpPr>
          <p:cNvPr id="14" name="Text 11"/>
          <p:cNvSpPr/>
          <p:nvPr/>
        </p:nvSpPr>
        <p:spPr>
          <a:xfrm>
            <a:off x="6477000" y="5280620"/>
            <a:ext cx="4813808" cy="306040"/>
          </a:xfrm>
          <a:prstGeom prst="rect">
            <a:avLst/>
          </a:prstGeom>
          <a:noFill/>
          <a:ln/>
        </p:spPr>
        <p:txBody>
          <a:bodyPr wrap="square" lIns="0" tIns="0" rIns="0" bIns="0" rtlCol="0" anchor="t">
            <a:normAutofit/>
          </a:bodyPr>
          <a:lstStyle/>
          <a:p>
            <a:pPr marL="0" indent="0" algn="l">
              <a:lnSpc>
                <a:spcPts val="2210"/>
              </a:lnSpc>
              <a:buNone/>
            </a:pPr>
            <a:r>
              <a:rPr lang="en-US" sz="1700" dirty="0">
                <a:solidFill>
                  <a:srgbClr val="3D4656"/>
                </a:solidFill>
                <a:latin typeface="IBM Plex Sans" pitchFamily="34" charset="0"/>
                <a:ea typeface="IBM Plex Sans" pitchFamily="34" charset="-122"/>
                <a:cs typeface="IBM Plex Sans" pitchFamily="34" charset="-120"/>
              </a:rPr>
              <a:t>Max drawdown 15.3% → 28.4%</a:t>
            </a:r>
            <a:endParaRPr lang="en-US" sz="1700" dirty="0"/>
          </a:p>
        </p:txBody>
      </p:sp>
      <p:sp>
        <p:nvSpPr>
          <p:cNvPr id="15" name="Text 12"/>
          <p:cNvSpPr/>
          <p:nvPr/>
        </p:nvSpPr>
        <p:spPr>
          <a:xfrm>
            <a:off x="812800" y="6220470"/>
            <a:ext cx="850265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7280"/>
                </a:solidFill>
                <a:latin typeface="IBM Plex Sans" pitchFamily="34" charset="0"/>
                <a:ea typeface="IBM Plex Sans" pitchFamily="34" charset="-122"/>
                <a:cs typeface="IBM Plex Sans" pitchFamily="34" charset="-120"/>
              </a:rPr>
              <a:t>Table 4, Song et al. (ICLR 2026) · A_sa = Strategy Adaptation · A_fr = Feedback Reflection</a:t>
            </a:r>
            <a:endParaRPr lang="en-US" sz="1300" dirty="0"/>
          </a:p>
        </p:txBody>
      </p:sp>
      <p:sp>
        <p:nvSpPr>
          <p:cNvPr id="16" name="Text 13"/>
          <p:cNvSpPr/>
          <p:nvPr/>
        </p:nvSpPr>
        <p:spPr>
          <a:xfrm>
            <a:off x="10566400" y="6220470"/>
            <a:ext cx="812800" cy="25653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6B7280"/>
                </a:solidFill>
                <a:latin typeface="IBM Plex Mono" pitchFamily="49" charset="0"/>
                <a:ea typeface="IBM Plex Mono" pitchFamily="49" charset="-122"/>
                <a:cs typeface="IBM Plex Mono" pitchFamily="49" charset="-120"/>
              </a:rPr>
              <a:t>09</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kern="0" spc="150" dirty="0">
                <a:solidFill>
                  <a:srgbClr val="E08A3C"/>
                </a:solidFill>
                <a:latin typeface="IBM Plex Mono" pitchFamily="49" charset="0"/>
                <a:ea typeface="IBM Plex Mono" pitchFamily="49" charset="-122"/>
                <a:cs typeface="IBM Plex Mono" pitchFamily="49" charset="-120"/>
              </a:rPr>
              <a:t>09 · TAKEAWAYS</a:t>
            </a:r>
            <a:endParaRPr lang="en-US" sz="1500" dirty="0"/>
          </a:p>
        </p:txBody>
      </p:sp>
      <p:sp>
        <p:nvSpPr>
          <p:cNvPr id="3" name="Text 1"/>
          <p:cNvSpPr>
            <a:spLocks noGrp="1"/>
          </p:cNvSpPr>
          <p:nvPr>
            <p:ph type="title"/>
          </p:nvPr>
        </p:nvSpPr>
        <p:spPr>
          <a:xfrm>
            <a:off x="812800" y="1181100"/>
            <a:ext cx="10883392" cy="556220"/>
          </a:xfrm>
          <a:prstGeom prst="rect">
            <a:avLst/>
          </a:prstGeom>
          <a:noFill/>
          <a:ln/>
        </p:spPr>
        <p:txBody>
          <a:bodyPr wrap="square" lIns="0" tIns="0" rIns="0" bIns="0" rtlCol="0" anchor="t">
            <a:normAutofit/>
          </a:bodyPr>
          <a:lstStyle/>
          <a:p>
            <a:pPr marL="0" indent="0" algn="l">
              <a:lnSpc>
                <a:spcPts val="4180"/>
              </a:lnSpc>
              <a:buNone/>
            </a:pPr>
            <a:r>
              <a:rPr lang="en-US" sz="3800" b="1" i="0" dirty="0">
                <a:solidFill>
                  <a:srgbClr val="F7F5EF"/>
                </a:solidFill>
                <a:latin typeface="Space Grotesk" pitchFamily="34" charset="0"/>
                <a:ea typeface="Space Grotesk" pitchFamily="34" charset="-122"/>
                <a:cs typeface="Space Grotesk" pitchFamily="34" charset="-120"/>
              </a:rPr>
              <a:t>LLMs as engineers, not traders</a:t>
            </a:r>
            <a:endParaRPr lang="en-US" sz="3800" dirty="0"/>
          </a:p>
        </p:txBody>
      </p:sp>
      <p:sp>
        <p:nvSpPr>
          <p:cNvPr id="4" name="Text 2"/>
          <p:cNvSpPr/>
          <p:nvPr/>
        </p:nvSpPr>
        <p:spPr>
          <a:xfrm>
            <a:off x="812800" y="1965920"/>
            <a:ext cx="5284724"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2B27A"/>
                </a:solidFill>
                <a:latin typeface="IBM Plex Mono" pitchFamily="49" charset="0"/>
                <a:ea typeface="IBM Plex Mono" pitchFamily="49" charset="-122"/>
                <a:cs typeface="IBM Plex Mono" pitchFamily="49" charset="-120"/>
              </a:rPr>
              <a:t>WHAT WORKS</a:t>
            </a:r>
            <a:endParaRPr lang="en-US" sz="1600" dirty="0"/>
          </a:p>
        </p:txBody>
      </p:sp>
      <p:sp>
        <p:nvSpPr>
          <p:cNvPr id="5" name="Text 3"/>
          <p:cNvSpPr/>
          <p:nvPr/>
        </p:nvSpPr>
        <p:spPr>
          <a:xfrm>
            <a:off x="812800" y="2377380"/>
            <a:ext cx="5130800" cy="1070173"/>
          </a:xfrm>
          <a:prstGeom prst="roundRect">
            <a:avLst>
              <a:gd name="adj" fmla="val 5934"/>
            </a:avLst>
          </a:prstGeom>
          <a:solidFill>
            <a:srgbClr val="1E2E52"/>
          </a:solidFill>
          <a:ln/>
        </p:spPr>
        <p:txBody>
          <a:bodyPr wrap="square" lIns="197301" tIns="83001" rIns="17088" bIns="83001" rtlCol="0" anchor="ctr">
            <a:normAutofit/>
          </a:bodyPr>
          <a:lstStyle/>
          <a:p>
            <a:pPr marL="0" indent="0" algn="l">
              <a:lnSpc>
                <a:spcPts val="2600"/>
              </a:lnSpc>
              <a:buNone/>
            </a:pPr>
            <a:r>
              <a:rPr lang="en-US" sz="2000" b="1" dirty="0">
                <a:solidFill>
                  <a:srgbClr val="F7F5EF"/>
                </a:solidFill>
                <a:latin typeface="IBM Plex Sans" pitchFamily="34" charset="0"/>
                <a:ea typeface="IBM Plex Sans" pitchFamily="34" charset="-122"/>
                <a:cs typeface="IBM Plex Sans" pitchFamily="34" charset="-120"/>
              </a:rPr>
              <a:t>Decoupling</a:t>
            </a:r>
            <a:r>
              <a:rPr lang="en-US" sz="2000" dirty="0">
                <a:solidFill>
                  <a:srgbClr val="F7F5EF"/>
                </a:solidFill>
                <a:latin typeface="IBM Plex Sans" pitchFamily="34" charset="0"/>
                <a:ea typeface="IBM Plex Sans" pitchFamily="34" charset="-122"/>
                <a:cs typeface="IBM Plex Sans" pitchFamily="34" charset="-120"/>
              </a:rPr>
              <a:t> kills live latency</a:t>
            </a:r>
            <a:endParaRPr lang="en-US" sz="2000" dirty="0"/>
          </a:p>
        </p:txBody>
      </p:sp>
      <p:sp>
        <p:nvSpPr>
          <p:cNvPr id="6" name="Shape 4"/>
          <p:cNvSpPr/>
          <p:nvPr/>
        </p:nvSpPr>
        <p:spPr>
          <a:xfrm>
            <a:off x="812800" y="2377380"/>
            <a:ext cx="5130800" cy="1070173"/>
          </a:xfrm>
          <a:custGeom>
            <a:avLst/>
            <a:gdLst/>
            <a:ahLst/>
            <a:cxnLst/>
            <a:rect l="l" t="t" r="r" b="b"/>
            <a:pathLst>
              <a:path w="5130800" h="1070173">
                <a:moveTo>
                  <a:pt x="63500" y="1070173"/>
                </a:moveTo>
                <a:lnTo>
                  <a:pt x="63500" y="1070173"/>
                </a:lnTo>
                <a:arcTo wR="63500" hR="63500" stAng="5400000" swAng="5400000"/>
                <a:lnTo>
                  <a:pt x="0" y="63500"/>
                </a:lnTo>
                <a:arcTo wR="63500" hR="63500" stAng="10800000" swAng="5400000"/>
                <a:lnTo>
                  <a:pt x="63500" y="0"/>
                </a:lnTo>
                <a:arcTo wR="25400" hR="63500" stAng="16200000" swAng="-5400000"/>
                <a:lnTo>
                  <a:pt x="38100" y="1006673"/>
                </a:lnTo>
                <a:arcTo wR="25400" hR="63500" stAng="10800000" swAng="-5400000"/>
                <a:close/>
              </a:path>
            </a:pathLst>
          </a:custGeom>
          <a:solidFill>
            <a:srgbClr val="E08A3C"/>
          </a:solidFill>
          <a:ln/>
        </p:spPr>
      </p:sp>
      <p:sp>
        <p:nvSpPr>
          <p:cNvPr id="7" name="Text 5"/>
          <p:cNvSpPr/>
          <p:nvPr/>
        </p:nvSpPr>
        <p:spPr>
          <a:xfrm>
            <a:off x="812800" y="3574554"/>
            <a:ext cx="5130800" cy="1070223"/>
          </a:xfrm>
          <a:prstGeom prst="roundRect">
            <a:avLst>
              <a:gd name="adj" fmla="val 5933"/>
            </a:avLst>
          </a:prstGeom>
          <a:solidFill>
            <a:srgbClr val="1E2E52"/>
          </a:solidFill>
          <a:ln/>
        </p:spPr>
        <p:txBody>
          <a:bodyPr wrap="square" lIns="197301" tIns="83001" rIns="17088" bIns="83001" rtlCol="0" anchor="ctr">
            <a:normAutofit/>
          </a:bodyPr>
          <a:lstStyle/>
          <a:p>
            <a:pPr marL="0" indent="0" algn="l">
              <a:lnSpc>
                <a:spcPts val="2600"/>
              </a:lnSpc>
              <a:buNone/>
            </a:pPr>
            <a:r>
              <a:rPr lang="en-US" sz="2000" b="1" dirty="0">
                <a:solidFill>
                  <a:srgbClr val="F7F5EF"/>
                </a:solidFill>
                <a:latin typeface="IBM Plex Sans" pitchFamily="34" charset="0"/>
                <a:ea typeface="IBM Plex Sans" pitchFamily="34" charset="-122"/>
                <a:cs typeface="IBM Plex Sans" pitchFamily="34" charset="-120"/>
              </a:rPr>
              <a:t>Code output</a:t>
            </a:r>
            <a:r>
              <a:rPr lang="en-US" sz="2000" dirty="0">
                <a:solidFill>
                  <a:srgbClr val="F7F5EF"/>
                </a:solidFill>
                <a:latin typeface="IBM Plex Sans" pitchFamily="34" charset="0"/>
                <a:ea typeface="IBM Plex Sans" pitchFamily="34" charset="-122"/>
                <a:cs typeface="IBM Plex Sans" pitchFamily="34" charset="-120"/>
              </a:rPr>
              <a:t> is auditable</a:t>
            </a:r>
            <a:endParaRPr lang="en-US" sz="2000" dirty="0"/>
          </a:p>
        </p:txBody>
      </p:sp>
      <p:sp>
        <p:nvSpPr>
          <p:cNvPr id="8" name="Shape 6"/>
          <p:cNvSpPr/>
          <p:nvPr/>
        </p:nvSpPr>
        <p:spPr>
          <a:xfrm>
            <a:off x="812800" y="3574554"/>
            <a:ext cx="5130800" cy="1070223"/>
          </a:xfrm>
          <a:custGeom>
            <a:avLst/>
            <a:gdLst/>
            <a:ahLst/>
            <a:cxnLst/>
            <a:rect l="l" t="t" r="r" b="b"/>
            <a:pathLst>
              <a:path w="5130800" h="1070223">
                <a:moveTo>
                  <a:pt x="63500" y="1070223"/>
                </a:moveTo>
                <a:lnTo>
                  <a:pt x="63500" y="1070223"/>
                </a:lnTo>
                <a:arcTo wR="63500" hR="63500" stAng="5400000" swAng="5400000"/>
                <a:lnTo>
                  <a:pt x="0" y="63500"/>
                </a:lnTo>
                <a:arcTo wR="63500" hR="63500" stAng="10800000" swAng="5400000"/>
                <a:lnTo>
                  <a:pt x="63500" y="0"/>
                </a:lnTo>
                <a:arcTo wR="25400" hR="63500" stAng="16200000" swAng="-5400000"/>
                <a:lnTo>
                  <a:pt x="38100" y="1006723"/>
                </a:lnTo>
                <a:arcTo wR="25400" hR="63500" stAng="10800000" swAng="-5400000"/>
                <a:close/>
              </a:path>
            </a:pathLst>
          </a:custGeom>
          <a:solidFill>
            <a:srgbClr val="E08A3C"/>
          </a:solidFill>
          <a:ln/>
        </p:spPr>
      </p:sp>
      <p:sp>
        <p:nvSpPr>
          <p:cNvPr id="9" name="Text 7"/>
          <p:cNvSpPr/>
          <p:nvPr/>
        </p:nvSpPr>
        <p:spPr>
          <a:xfrm>
            <a:off x="812800" y="4771777"/>
            <a:ext cx="5130800" cy="1070223"/>
          </a:xfrm>
          <a:prstGeom prst="roundRect">
            <a:avLst>
              <a:gd name="adj" fmla="val 5933"/>
            </a:avLst>
          </a:prstGeom>
          <a:solidFill>
            <a:srgbClr val="1E2E52"/>
          </a:solidFill>
          <a:ln/>
        </p:spPr>
        <p:txBody>
          <a:bodyPr wrap="square" lIns="197301" tIns="83001" rIns="17088" bIns="83001" rtlCol="0" anchor="ctr">
            <a:normAutofit/>
          </a:bodyPr>
          <a:lstStyle/>
          <a:p>
            <a:pPr marL="0" indent="0" algn="l">
              <a:lnSpc>
                <a:spcPts val="2600"/>
              </a:lnSpc>
              <a:buNone/>
            </a:pPr>
            <a:r>
              <a:rPr lang="en-US" sz="2000" b="1" dirty="0">
                <a:solidFill>
                  <a:srgbClr val="F7F5EF"/>
                </a:solidFill>
                <a:latin typeface="IBM Plex Sans" pitchFamily="34" charset="0"/>
                <a:ea typeface="IBM Plex Sans" pitchFamily="34" charset="-122"/>
                <a:cs typeface="IBM Plex Sans" pitchFamily="34" charset="-120"/>
              </a:rPr>
              <a:t>Math reflection</a:t>
            </a:r>
            <a:r>
              <a:rPr lang="en-US" sz="2000" dirty="0">
                <a:solidFill>
                  <a:srgbClr val="F7F5EF"/>
                </a:solidFill>
                <a:latin typeface="IBM Plex Sans" pitchFamily="34" charset="0"/>
                <a:ea typeface="IBM Plex Sans" pitchFamily="34" charset="-122"/>
                <a:cs typeface="IBM Plex Sans" pitchFamily="34" charset="-120"/>
              </a:rPr>
              <a:t> → rules</a:t>
            </a:r>
            <a:endParaRPr lang="en-US" sz="2000" dirty="0"/>
          </a:p>
        </p:txBody>
      </p:sp>
      <p:sp>
        <p:nvSpPr>
          <p:cNvPr id="10" name="Shape 8"/>
          <p:cNvSpPr/>
          <p:nvPr/>
        </p:nvSpPr>
        <p:spPr>
          <a:xfrm>
            <a:off x="812800" y="4771777"/>
            <a:ext cx="5130800" cy="1070223"/>
          </a:xfrm>
          <a:custGeom>
            <a:avLst/>
            <a:gdLst/>
            <a:ahLst/>
            <a:cxnLst/>
            <a:rect l="l" t="t" r="r" b="b"/>
            <a:pathLst>
              <a:path w="5130800" h="1070223">
                <a:moveTo>
                  <a:pt x="63500" y="1070223"/>
                </a:moveTo>
                <a:lnTo>
                  <a:pt x="63500" y="1070223"/>
                </a:lnTo>
                <a:arcTo wR="63500" hR="63500" stAng="5400000" swAng="5400000"/>
                <a:lnTo>
                  <a:pt x="0" y="63500"/>
                </a:lnTo>
                <a:arcTo wR="63500" hR="63500" stAng="10800000" swAng="5400000"/>
                <a:lnTo>
                  <a:pt x="63500" y="0"/>
                </a:lnTo>
                <a:arcTo wR="25400" hR="63500" stAng="16200000" swAng="-5400000"/>
                <a:lnTo>
                  <a:pt x="38100" y="1006723"/>
                </a:lnTo>
                <a:arcTo wR="25400" hR="63500" stAng="10800000" swAng="-5400000"/>
                <a:close/>
              </a:path>
            </a:pathLst>
          </a:custGeom>
          <a:solidFill>
            <a:srgbClr val="E08A3C"/>
          </a:solidFill>
          <a:ln/>
        </p:spPr>
      </p:sp>
      <p:sp>
        <p:nvSpPr>
          <p:cNvPr id="11" name="Text 9"/>
          <p:cNvSpPr/>
          <p:nvPr/>
        </p:nvSpPr>
        <p:spPr>
          <a:xfrm>
            <a:off x="6248400" y="1965920"/>
            <a:ext cx="5284724"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2B27A"/>
                </a:solidFill>
                <a:latin typeface="IBM Plex Mono" pitchFamily="49" charset="0"/>
                <a:ea typeface="IBM Plex Mono" pitchFamily="49" charset="-122"/>
                <a:cs typeface="IBM Plex Mono" pitchFamily="49" charset="-120"/>
              </a:rPr>
              <a:t>CAVEATS</a:t>
            </a:r>
            <a:endParaRPr lang="en-US" sz="1600" dirty="0"/>
          </a:p>
        </p:txBody>
      </p:sp>
      <p:sp>
        <p:nvSpPr>
          <p:cNvPr id="12" name="Text 10"/>
          <p:cNvSpPr/>
          <p:nvPr/>
        </p:nvSpPr>
        <p:spPr>
          <a:xfrm>
            <a:off x="6248400" y="2377380"/>
            <a:ext cx="5130800" cy="1070173"/>
          </a:xfrm>
          <a:prstGeom prst="roundRect">
            <a:avLst>
              <a:gd name="adj" fmla="val 5934"/>
            </a:avLst>
          </a:prstGeom>
          <a:solidFill>
            <a:srgbClr val="1E2E52"/>
          </a:solidFill>
          <a:ln/>
        </p:spPr>
        <p:txBody>
          <a:bodyPr wrap="square" lIns="197301" tIns="83001" rIns="17088" bIns="83001" rtlCol="0" anchor="ctr">
            <a:normAutofit/>
          </a:bodyPr>
          <a:lstStyle/>
          <a:p>
            <a:pPr marL="0" indent="0" algn="l">
              <a:lnSpc>
                <a:spcPts val="2600"/>
              </a:lnSpc>
              <a:buNone/>
            </a:pPr>
            <a:r>
              <a:rPr lang="en-US" sz="2000" dirty="0">
                <a:solidFill>
                  <a:srgbClr val="F7F5EF"/>
                </a:solidFill>
                <a:latin typeface="IBM Plex Sans" pitchFamily="34" charset="0"/>
                <a:ea typeface="IBM Plex Sans" pitchFamily="34" charset="-122"/>
                <a:cs typeface="IBM Plex Sans" pitchFamily="34" charset="-120"/>
              </a:rPr>
              <a:t>Only 4 months of live data</a:t>
            </a:r>
            <a:endParaRPr lang="en-US" sz="2000" dirty="0"/>
          </a:p>
        </p:txBody>
      </p:sp>
      <p:sp>
        <p:nvSpPr>
          <p:cNvPr id="13" name="Shape 11"/>
          <p:cNvSpPr/>
          <p:nvPr/>
        </p:nvSpPr>
        <p:spPr>
          <a:xfrm>
            <a:off x="6248400" y="2377380"/>
            <a:ext cx="5130800" cy="1070173"/>
          </a:xfrm>
          <a:custGeom>
            <a:avLst/>
            <a:gdLst/>
            <a:ahLst/>
            <a:cxnLst/>
            <a:rect l="l" t="t" r="r" b="b"/>
            <a:pathLst>
              <a:path w="5130800" h="1070173">
                <a:moveTo>
                  <a:pt x="63500" y="1070173"/>
                </a:moveTo>
                <a:lnTo>
                  <a:pt x="63500" y="1070173"/>
                </a:lnTo>
                <a:arcTo wR="63500" hR="63500" stAng="5400000" swAng="5400000"/>
                <a:lnTo>
                  <a:pt x="0" y="63500"/>
                </a:lnTo>
                <a:arcTo wR="63500" hR="63500" stAng="10800000" swAng="5400000"/>
                <a:lnTo>
                  <a:pt x="63500" y="0"/>
                </a:lnTo>
                <a:arcTo wR="25400" hR="63500" stAng="16200000" swAng="-5400000"/>
                <a:lnTo>
                  <a:pt x="38100" y="1006673"/>
                </a:lnTo>
                <a:arcTo wR="25400" hR="63500" stAng="10800000" swAng="-5400000"/>
                <a:close/>
              </a:path>
            </a:pathLst>
          </a:custGeom>
          <a:solidFill>
            <a:srgbClr val="9AA8C2"/>
          </a:solidFill>
          <a:ln/>
        </p:spPr>
      </p:sp>
      <p:sp>
        <p:nvSpPr>
          <p:cNvPr id="14" name="Text 12"/>
          <p:cNvSpPr/>
          <p:nvPr/>
        </p:nvSpPr>
        <p:spPr>
          <a:xfrm>
            <a:off x="6248400" y="3574554"/>
            <a:ext cx="5130800" cy="1070223"/>
          </a:xfrm>
          <a:prstGeom prst="roundRect">
            <a:avLst>
              <a:gd name="adj" fmla="val 5933"/>
            </a:avLst>
          </a:prstGeom>
          <a:solidFill>
            <a:srgbClr val="1E2E52"/>
          </a:solidFill>
          <a:ln/>
        </p:spPr>
        <p:txBody>
          <a:bodyPr wrap="square" lIns="197301" tIns="83001" rIns="17088" bIns="83001" rtlCol="0" anchor="ctr">
            <a:normAutofit/>
          </a:bodyPr>
          <a:lstStyle/>
          <a:p>
            <a:pPr marL="0" indent="0" algn="l">
              <a:lnSpc>
                <a:spcPts val="2600"/>
              </a:lnSpc>
              <a:buNone/>
            </a:pPr>
            <a:r>
              <a:rPr lang="en-US" sz="2000" dirty="0">
                <a:solidFill>
                  <a:srgbClr val="F7F5EF"/>
                </a:solidFill>
                <a:latin typeface="IBM Plex Sans" pitchFamily="34" charset="0"/>
                <a:ea typeface="IBM Plex Sans" pitchFamily="34" charset="-122"/>
                <a:cs typeface="IBM Plex Sans" pitchFamily="34" charset="-120"/>
              </a:rPr>
              <a:t>Some baselines estimated</a:t>
            </a:r>
            <a:endParaRPr lang="en-US" sz="2000" dirty="0"/>
          </a:p>
        </p:txBody>
      </p:sp>
      <p:sp>
        <p:nvSpPr>
          <p:cNvPr id="15" name="Shape 13"/>
          <p:cNvSpPr/>
          <p:nvPr/>
        </p:nvSpPr>
        <p:spPr>
          <a:xfrm>
            <a:off x="6248400" y="3574554"/>
            <a:ext cx="5130800" cy="1070223"/>
          </a:xfrm>
          <a:custGeom>
            <a:avLst/>
            <a:gdLst/>
            <a:ahLst/>
            <a:cxnLst/>
            <a:rect l="l" t="t" r="r" b="b"/>
            <a:pathLst>
              <a:path w="5130800" h="1070223">
                <a:moveTo>
                  <a:pt x="63500" y="1070223"/>
                </a:moveTo>
                <a:lnTo>
                  <a:pt x="63500" y="1070223"/>
                </a:lnTo>
                <a:arcTo wR="63500" hR="63500" stAng="5400000" swAng="5400000"/>
                <a:lnTo>
                  <a:pt x="0" y="63500"/>
                </a:lnTo>
                <a:arcTo wR="63500" hR="63500" stAng="10800000" swAng="5400000"/>
                <a:lnTo>
                  <a:pt x="63500" y="0"/>
                </a:lnTo>
                <a:arcTo wR="25400" hR="63500" stAng="16200000" swAng="-5400000"/>
                <a:lnTo>
                  <a:pt x="38100" y="1006723"/>
                </a:lnTo>
                <a:arcTo wR="25400" hR="63500" stAng="10800000" swAng="-5400000"/>
                <a:close/>
              </a:path>
            </a:pathLst>
          </a:custGeom>
          <a:solidFill>
            <a:srgbClr val="9AA8C2"/>
          </a:solidFill>
          <a:ln/>
        </p:spPr>
      </p:sp>
      <p:sp>
        <p:nvSpPr>
          <p:cNvPr id="16" name="Text 14"/>
          <p:cNvSpPr/>
          <p:nvPr/>
        </p:nvSpPr>
        <p:spPr>
          <a:xfrm>
            <a:off x="6248400" y="4771777"/>
            <a:ext cx="5130800" cy="1070223"/>
          </a:xfrm>
          <a:prstGeom prst="roundRect">
            <a:avLst>
              <a:gd name="adj" fmla="val 5933"/>
            </a:avLst>
          </a:prstGeom>
          <a:solidFill>
            <a:srgbClr val="1E2E52"/>
          </a:solidFill>
          <a:ln/>
        </p:spPr>
        <p:txBody>
          <a:bodyPr wrap="square" lIns="197301" tIns="83001" rIns="17088" bIns="83001" rtlCol="0" anchor="ctr">
            <a:normAutofit/>
          </a:bodyPr>
          <a:lstStyle/>
          <a:p>
            <a:pPr marL="0" indent="0" algn="l">
              <a:lnSpc>
                <a:spcPts val="2600"/>
              </a:lnSpc>
              <a:buNone/>
            </a:pPr>
            <a:r>
              <a:rPr lang="en-US" sz="2000" dirty="0">
                <a:solidFill>
                  <a:srgbClr val="F7F5EF"/>
                </a:solidFill>
                <a:latin typeface="IBM Plex Sans" pitchFamily="34" charset="0"/>
                <a:ea typeface="IBM Plex Sans" pitchFamily="34" charset="-122"/>
                <a:cs typeface="IBM Plex Sans" pitchFamily="34" charset="-120"/>
              </a:rPr>
              <a:t>New market = re-tuning</a:t>
            </a:r>
            <a:endParaRPr lang="en-US" sz="2000" dirty="0"/>
          </a:p>
        </p:txBody>
      </p:sp>
      <p:sp>
        <p:nvSpPr>
          <p:cNvPr id="17" name="Shape 15"/>
          <p:cNvSpPr/>
          <p:nvPr/>
        </p:nvSpPr>
        <p:spPr>
          <a:xfrm>
            <a:off x="6248400" y="4771777"/>
            <a:ext cx="5130800" cy="1070223"/>
          </a:xfrm>
          <a:custGeom>
            <a:avLst/>
            <a:gdLst/>
            <a:ahLst/>
            <a:cxnLst/>
            <a:rect l="l" t="t" r="r" b="b"/>
            <a:pathLst>
              <a:path w="5130800" h="1070223">
                <a:moveTo>
                  <a:pt x="63500" y="1070223"/>
                </a:moveTo>
                <a:lnTo>
                  <a:pt x="63500" y="1070223"/>
                </a:lnTo>
                <a:arcTo wR="63500" hR="63500" stAng="5400000" swAng="5400000"/>
                <a:lnTo>
                  <a:pt x="0" y="63500"/>
                </a:lnTo>
                <a:arcTo wR="63500" hR="63500" stAng="10800000" swAng="5400000"/>
                <a:lnTo>
                  <a:pt x="63500" y="0"/>
                </a:lnTo>
                <a:arcTo wR="25400" hR="63500" stAng="16200000" swAng="-5400000"/>
                <a:lnTo>
                  <a:pt x="38100" y="1006723"/>
                </a:lnTo>
                <a:arcTo wR="25400" hR="63500" stAng="10800000" swAng="-5400000"/>
                <a:close/>
              </a:path>
            </a:pathLst>
          </a:custGeom>
          <a:solidFill>
            <a:srgbClr val="9AA8C2"/>
          </a:solidFill>
          <a:ln/>
        </p:spPr>
      </p:sp>
      <p:sp>
        <p:nvSpPr>
          <p:cNvPr id="18" name="Text 16"/>
          <p:cNvSpPr/>
          <p:nvPr/>
        </p:nvSpPr>
        <p:spPr>
          <a:xfrm>
            <a:off x="812800" y="6220470"/>
            <a:ext cx="784860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9AA8C2"/>
                </a:solidFill>
                <a:latin typeface="IBM Plex Sans" pitchFamily="34" charset="0"/>
                <a:ea typeface="IBM Plex Sans" pitchFamily="34" charset="-122"/>
                <a:cs typeface="IBM Plex Sans" pitchFamily="34" charset="-120"/>
              </a:rPr>
              <a:t>TiMi · ICLR 2026</a:t>
            </a:r>
            <a:endParaRPr lang="en-US" sz="1300" dirty="0"/>
          </a:p>
        </p:txBody>
      </p:sp>
      <p:sp>
        <p:nvSpPr>
          <p:cNvPr id="19" name="Text 17"/>
          <p:cNvSpPr/>
          <p:nvPr/>
        </p:nvSpPr>
        <p:spPr>
          <a:xfrm>
            <a:off x="10058400" y="6220470"/>
            <a:ext cx="1320800" cy="256530"/>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9AA8C2"/>
                </a:solidFill>
                <a:latin typeface="IBM Plex Mono" pitchFamily="49" charset="0"/>
                <a:ea typeface="IBM Plex Mono" pitchFamily="49" charset="-122"/>
                <a:cs typeface="IBM Plex Mono" pitchFamily="49" charset="-120"/>
              </a:rPr>
              <a:t>10</a:t>
            </a:r>
            <a:endParaRPr lang="en-US" sz="1300" dirty="0"/>
          </a:p>
        </p:txBody>
      </p:sp>
    </p:spTree>
  </p:cSld>
  <p:clrMapOvr>
    <a:masterClrMapping/>
  </p:clrMapOvr>
</p:sld>
</file>

<file path=ppt/theme/theme1.xml><?xml version="1.0" encoding="utf-8"?>
<a:theme xmlns:a="http://schemas.openxmlformats.org/drawingml/2006/main" name="TiMi — Trade in Minutes!">
  <a:themeElements>
    <a:clrScheme name="TiMi — Trade in Minutes!">
      <a:dk1>
        <a:srgbClr val="14213D"/>
      </a:dk1>
      <a:lt1>
        <a:srgbClr val="F7F5EF"/>
      </a:lt1>
      <a:dk2>
        <a:srgbClr val="4D566A"/>
      </a:dk2>
      <a:lt2>
        <a:srgbClr val="E0E0DD"/>
      </a:lt2>
      <a:accent1>
        <a:srgbClr val="A9481A"/>
      </a:accent1>
      <a:accent2>
        <a:srgbClr val="9AA8C2"/>
      </a:accent2>
      <a:accent3>
        <a:srgbClr val="F2B27A"/>
      </a:accent3>
      <a:accent4>
        <a:srgbClr val="E08A3C"/>
      </a:accent4>
      <a:accent5>
        <a:srgbClr val="24345A"/>
      </a:accent5>
      <a:accent6>
        <a:srgbClr val="6B7280"/>
      </a:accent6>
      <a:hlink>
        <a:srgbClr val="0563C1"/>
      </a:hlink>
      <a:folHlink>
        <a:srgbClr val="954F72"/>
      </a:folHlink>
    </a:clrScheme>
    <a:fontScheme name="TiMi — Trade in Minutes!">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TotalTime>
  <Words>1580</Words>
  <Application>Microsoft Macintosh PowerPoint</Application>
  <PresentationFormat>宽屏</PresentationFormat>
  <Paragraphs>130</Paragraphs>
  <Slides>10</Slides>
  <Notes>10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10</vt:i4>
      </vt:variant>
    </vt:vector>
  </HeadingPairs>
  <TitlesOfParts>
    <vt:vector size="15" baseType="lpstr">
      <vt:lpstr>Space Grotesk</vt:lpstr>
      <vt:lpstr>Arial</vt:lpstr>
      <vt:lpstr>IBM Plex Mono</vt:lpstr>
      <vt:lpstr>IBM Plex Sans</vt:lpstr>
      <vt:lpstr>TiMi — Trade in Minutes!</vt:lpstr>
      <vt:lpstr>Trade in Minutes!</vt:lpstr>
      <vt:lpstr>Where LLM trading agents fall short</vt:lpstr>
      <vt:lpstr>Think slowly offline. Trade fast online.</vt:lpstr>
      <vt:lpstr>Policy → optimization → deployment</vt:lpstr>
      <vt:lpstr>Reflection in math, not words</vt:lpstr>
      <vt:lpstr>Stocks + crypto, backtest + live</vt:lpstr>
      <vt:lpstr>Live trading, Jan–Apr 2025</vt:lpstr>
      <vt:lpstr>Fast and capital-efficient</vt:lpstr>
      <vt:lpstr>Every agent earns its place</vt:lpstr>
      <vt:lpstr>LLMs as engineers, not traders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TiMi — Trade in Minutes!</dc:title>
  <dc:subject/>
  <dc:creator/>
  <cp:lastModifiedBy>王怡飞</cp:lastModifiedBy>
  <cp:revision>7</cp:revision>
  <dcterms:created xsi:type="dcterms:W3CDTF">2026-10-12T06:28:39Z</dcterms:created>
  <dcterms:modified xsi:type="dcterms:W3CDTF">2026-10-15T08:37:15Z</dcterms:modified>
</cp:coreProperties>
</file>