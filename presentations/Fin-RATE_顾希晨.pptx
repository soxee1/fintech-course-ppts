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44250" y="6286500"/>
            <a:ext cx="4572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819150"/>
            <a:ext cx="6286500" cy="90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95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Fin-RATE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990725"/>
            <a:ext cx="6477000" cy="1476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 LLMs reliably analyze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financial reports?</a:t>
            </a:r>
            <a:endParaRPr lang="en-US" sz="3300" b="1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04850" y="3193415"/>
            <a:ext cx="6286500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25" b="0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Yidong Jiang et al.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025" b="0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KDD 2026</a:t>
            </a:r>
            <a:endParaRPr lang="en-US" sz="2025" b="0" i="0" u="none" strike="noStrike">
              <a:solidFill>
                <a:srgbClr val="24685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867650" y="971632"/>
            <a:ext cx="3476625" cy="449563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文本框 7"/>
          <p:cNvSpPr txBox="1"/>
          <p:nvPr/>
        </p:nvSpPr>
        <p:spPr>
          <a:xfrm>
            <a:off x="771525" y="43853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汇报人：顾希晨</a:t>
            </a:r>
            <a:endParaRPr lang="zh-CN" altLang="en-US" sz="1800"/>
          </a:p>
          <a:p>
            <a:r>
              <a:rPr lang="zh-CN" altLang="en-US" sz="1800"/>
              <a:t>汇报时间：</a:t>
            </a:r>
            <a:r>
              <a:rPr lang="en-US" altLang="zh-CN" sz="1800"/>
              <a:t>2026-10-8</a:t>
            </a:r>
            <a:endParaRPr lang="en-US" alt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19100"/>
            <a:ext cx="10953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Three tasks in Fin-RATE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44250" y="6286500"/>
            <a:ext cx="4572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362075"/>
            <a:ext cx="10953750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7,500 questions across 43 companies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2228850"/>
          <a:ext cx="10953750" cy="300037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81375"/>
                <a:gridCol w="3667125"/>
                <a:gridCol w="3905250"/>
              </a:tblGrid>
              <a:tr h="750094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Task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Evidence scope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Main challenge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</a:tr>
              <a:tr h="750094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Detail and reasoning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One document chunk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Interpret local evidence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  <a:tr h="750094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Enterprise comparison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Different companies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Keep entities separate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50094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Longitudinal tracking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Same company over time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Align reporting periods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5591175"/>
            <a:ext cx="10953750" cy="5238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 filings 2020–2025: 2,472 filings, 15,311 chunks, 43 companies, 36 industries. Each task: 2,500 questions.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19100"/>
            <a:ext cx="1095375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How Fin-RATE differs from prior benchmarks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44250" y="6286500"/>
            <a:ext cx="4572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362075"/>
            <a:ext cx="1095375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Only benchmark combining cross-company, cross-year, and multi-document reasoning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2159000"/>
          <a:ext cx="1095375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1143000"/>
                <a:gridCol w="1016000"/>
                <a:gridCol w="1016000"/>
                <a:gridCol w="1016000"/>
                <a:gridCol w="1524000"/>
                <a:gridCol w="2698750"/>
              </a:tblGrid>
              <a:tr h="800100"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Benchmark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Cross-Comp.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Cross-Year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Multi-Doc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Analytic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Fine-grained Eval.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Data Sources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FinQA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Annual report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FinanceBench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10-K, 10-Q, 8-K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SEC-QA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×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10-K, 10-Q, 8-K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Fin-RATE (Ours)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✓</a:t>
                      </a:r>
                      <a:endParaRPr lang="en-US" sz="1100"/>
                    </a:p>
                  </a:txBody>
                  <a:tcPr anchor="t" anchorCtr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10-K, 10-Q, 8-K, 6-K...</a:t>
                      </a:r>
                      <a:endParaRPr lang="en-US" sz="1100"/>
                    </a:p>
                  </a:txBody>
                  <a:tcPr anchor="t" anchorCtr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685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5905500"/>
            <a:ext cx="10953750" cy="4762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Fine-grained error diagnosis goes beyond accuracy-only evaluation.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19100"/>
            <a:ext cx="10953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Two evidence settings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44250" y="6286500"/>
            <a:ext cx="4572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743075"/>
            <a:ext cx="52387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Gold context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2562225"/>
            <a:ext cx="5048250" cy="1000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model receives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reference evidence</a:t>
            </a:r>
            <a:endParaRPr lang="en-US" sz="2400" b="0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3962400"/>
            <a:ext cx="5048250" cy="1047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25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Tests reasoning with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025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relevant context available</a:t>
            </a:r>
            <a:endParaRPr lang="en-US" sz="2025" b="0" i="0" u="none" strike="noStrike">
              <a:solidFill>
                <a:srgbClr val="5365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534150" y="1743075"/>
            <a:ext cx="514350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Retrieved context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34150" y="2562225"/>
            <a:ext cx="5048250" cy="1000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retriever selects passages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before the model answers</a:t>
            </a:r>
            <a:endParaRPr lang="en-US" sz="2400" b="0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534150" y="3962400"/>
            <a:ext cx="5048250" cy="1047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25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Tests evidence retrieval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025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and answer generation</a:t>
            </a:r>
            <a:endParaRPr lang="en-US" sz="2025" b="0" i="0" u="none" strike="noStrike">
              <a:solidFill>
                <a:srgbClr val="5365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5524500"/>
            <a:ext cx="1095375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 models tested. Best retriever: R@10=44.8% on DR-QA, but only 5.9% on EC-QA — cross-company retrieval is very hard.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19100"/>
            <a:ext cx="10953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Performance depends on the task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44250" y="6286500"/>
            <a:ext cx="4572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05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09600" y="1600200"/>
          <a:ext cx="10953750" cy="310515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667125"/>
                <a:gridCol w="2428875"/>
                <a:gridCol w="2428875"/>
                <a:gridCol w="2428875"/>
              </a:tblGrid>
              <a:tr h="7762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System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Detail</a:t>
                      </a:r>
                      <a:endParaRPr lang="en-US" sz="1100"/>
                    </a:p>
                    <a:p>
                      <a:pPr marL="0" indent="0" algn="l" defTabSz="914400">
                        <a:lnSpc>
                          <a:spcPct val="100000"/>
                        </a:lnSpc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reasoning</a:t>
                      </a:r>
                      <a:endParaRPr lang="en-US" sz="195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Company</a:t>
                      </a:r>
                      <a:endParaRPr lang="en-US" sz="1100"/>
                    </a:p>
                    <a:p>
                      <a:pPr marL="0" indent="0" algn="l" defTabSz="914400">
                        <a:lnSpc>
                          <a:spcPct val="100000"/>
                        </a:lnSpc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</a:t>
                      </a:r>
                      <a:endParaRPr lang="en-US" sz="195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Time</a:t>
                      </a:r>
                      <a:endParaRPr lang="en-US" sz="1100"/>
                    </a:p>
                    <a:p>
                      <a:pPr marL="0" indent="0" algn="l" defTabSz="914400">
                        <a:lnSpc>
                          <a:spcPct val="100000"/>
                        </a:lnSpc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tracking</a:t>
                      </a:r>
                      <a:endParaRPr lang="en-US" sz="1950" b="1" i="0" u="none" strike="noStrike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</a:tr>
              <a:tr h="7762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Fin-R1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57.48%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3.32%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9.72%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  <a:tr h="7762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GPT-5-websearch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42.96%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43.64%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43.52%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62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Human experts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92.40%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82.68%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85.88%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609600" y="5016500"/>
            <a:ext cx="1076325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Finance-specialized models excel at local detail, but lag far behind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20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general models on cross-company and longitudinal reasoning</a:t>
            </a:r>
            <a:endParaRPr lang="en-US" sz="2200" b="1" i="0" u="none" strike="noStrike">
              <a:solidFill>
                <a:srgbClr val="24685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6162675"/>
            <a:ext cx="1038225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19100"/>
            <a:ext cx="10953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wrong year can reverse the conclusion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44250" y="6286500"/>
            <a:ext cx="4572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390650"/>
            <a:ext cx="10953750" cy="61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25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model recalls the numbers but swaps their years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2362200"/>
          <a:ext cx="10953750" cy="280035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81250"/>
                <a:gridCol w="4286250"/>
                <a:gridCol w="4286250"/>
              </a:tblGrid>
              <a:tr h="7000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Year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 assignment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Model assignment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3A">
                        <a:alpha val="100000"/>
                      </a:srgbClr>
                    </a:solidFill>
                  </a:tcPr>
                </a:tc>
              </a:tr>
              <a:tr h="7000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2022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70%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65%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  <a:tr h="7000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2023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65%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70%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00088"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1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Conclusion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Decrease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950" b="0" i="0" u="none" strike="noStrike">
                          <a:solidFill>
                            <a:srgbClr val="172E3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Increase</a:t>
                      </a:r>
                      <a:endParaRPr lang="en-US" sz="1100"/>
                    </a:p>
                  </a:txBody>
                  <a:tcPr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E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" y="5461000"/>
            <a:ext cx="1095375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Other common errors: entity omission (miss one company), incomplete comparison, and evidence retrieval failures (RAG accuracy &lt; 27%).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19100"/>
            <a:ext cx="10953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Implications and limitations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44250" y="6286500"/>
            <a:ext cx="4572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365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562100"/>
            <a:ext cx="5048250" cy="552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55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Contribution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2247900"/>
            <a:ext cx="5191125" cy="106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25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Realistic financial tasks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325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with specific error diagnosis</a:t>
            </a:r>
            <a:endParaRPr lang="en-US" sz="2325" b="0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515100" y="1562100"/>
            <a:ext cx="5048250" cy="552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550" b="1" i="0" u="none" strike="noStrike">
                <a:solidFill>
                  <a:srgbClr val="24685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Limitations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515100" y="2159000"/>
            <a:ext cx="51435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Limited company &amp; industry coverage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LLM-assisted evaluation</a:t>
            </a:r>
            <a:endParaRPr lang="en-US" sz="2000" b="0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 investment return testing</a:t>
            </a:r>
            <a:endParaRPr lang="en-US" sz="2000" b="0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 retrieval remains weak</a:t>
            </a:r>
            <a:endParaRPr lang="en-US" sz="2000" b="0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" y="4552950"/>
            <a:ext cx="10953750" cy="1104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0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Reliable financial AI must connect each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000" b="1" i="0" u="none" strike="noStrike">
                <a:solidFill>
                  <a:srgbClr val="172E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 to the right evidence</a:t>
            </a:r>
            <a:endParaRPr lang="en-US" sz="3000" b="1" i="0" u="none" strike="noStrike">
              <a:solidFill>
                <a:srgbClr val="172E3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" y="6115050"/>
            <a:ext cx="10477500" cy="3619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2129</Words>
  <Application>WPS 演示</Application>
  <PresentationFormat/>
  <Paragraphs>238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Arial Unicode MS</vt:lpstr>
      <vt:lpstr>Office 主题​​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顾希晨</cp:lastModifiedBy>
  <cp:revision>2</cp:revision>
  <dcterms:created xsi:type="dcterms:W3CDTF">2026-10-30T08:21:39Z</dcterms:created>
  <dcterms:modified xsi:type="dcterms:W3CDTF">2026-10-30T08:24:09Z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{"Label":"1","ContentProducer":"001191110102MACQD9K64010000","ProduceID":"7702372708848389140","ReservedCode1":"","ContentPropagator":"","PropagateID":"","ReservedCode2":""}</vt:lpwstr>
  </property>
  <property fmtid="{D5CDD505-2E9C-101B-9397-08002B2CF9AE}" pid="3" name="ICV">
    <vt:lpwstr>40F9B932929D480EAA172C3C71A43B62_12</vt:lpwstr>
  </property>
  <property fmtid="{D5CDD505-2E9C-101B-9397-08002B2CF9AE}" pid="4" name="KSOProductBuildVer">
    <vt:lpwstr>2052-12.1.0.21171</vt:lpwstr>
  </property>
</Properties>
</file>