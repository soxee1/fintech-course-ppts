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2" r:id="rId7"/>
    <p:sldId id="266" r:id="rId8"/>
    <p:sldId id="267" r:id="rId9"/>
    <p:sldId id="268" r:id="rId10"/>
    <p:sldId id="269" r:id="rId11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C9B"/>
    <a:srgbClr val="0147AA"/>
    <a:srgbClr val="A6C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23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0B1F3A"/>
                </a:solidFill>
                <a:latin typeface="+mn-lt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+mn-lt"/>
              </a:rPr>
              <a:t>Accuracy (%), as reported by the authors</a:t>
            </a:r>
            <a:endParaRPr sz="1400" b="0" i="0" u="none" strike="noStrike">
              <a:solidFill>
                <a:srgbClr val="0B1F3A"/>
              </a:solidFill>
              <a:latin typeface="+mn-lt"/>
            </a:endParaRPr>
          </a:p>
        </c:rich>
      </c:tx>
      <c:layout>
        <c:manualLayout>
          <c:xMode val="edge"/>
          <c:yMode val="edge"/>
          <c:x val="0.242796266233766"/>
          <c:y val="0.0476190476190476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4C9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4C9B">
                  <a:alpha val="20000"/>
                </a:srgbClr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4C9B">
                  <a:alpha val="40000"/>
                </a:srgbClr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4C9B">
                  <a:alpha val="60000"/>
                </a:srgbClr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4C9B">
                  <a:alpha val="80000"/>
                </a:srgbClr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C9B"/>
              </a:solidFill>
              <a:effectLst/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FFD</c:v>
                </c:pt>
                <c:pt idx="1">
                  <c:v>RBM</c:v>
                </c:pt>
                <c:pt idx="2">
                  <c:v>Adaboost+LGBM</c:v>
                </c:pt>
                <c:pt idx="3">
                  <c:v>NAG</c:v>
                </c:pt>
                <c:pt idx="4">
                  <c:v>JNBO-SpinalNet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82.31</c:v>
                </c:pt>
                <c:pt idx="1">
                  <c:v>84.52</c:v>
                </c:pt>
                <c:pt idx="2">
                  <c:v>86.08</c:v>
                </c:pt>
                <c:pt idx="3">
                  <c:v>87.08</c:v>
                </c:pt>
                <c:pt idx="4">
                  <c:v>89.1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4A5A6A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"/>
          <c:min val="70"/>
        </c:scaling>
        <c:delete val="0"/>
        <c:axPos val="l"/>
        <c:majorGridlines>
          <c:spPr>
            <a:ln w="6350" cap="flat" cmpd="sng" algn="ctr">
              <a:solidFill>
                <a:srgbClr val="D5DE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4A5A6A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58b3a1b-404b-4029-b547-a7b51744a48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27800-A35B-4264-8AD3-9B823EDBA09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604E-D88E-44C4-92FF-861F9E26EC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27800-A35B-4264-8AD3-9B823EDBA09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604E-D88E-44C4-92FF-861F9E26EC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27800-A35B-4264-8AD3-9B823EDBA09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604E-D88E-44C4-92FF-861F9E26EC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27800-A35B-4264-8AD3-9B823EDBA09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604E-D88E-44C4-92FF-861F9E26EC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27800-A35B-4264-8AD3-9B823EDBA09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604E-D88E-44C4-92FF-861F9E26EC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27800-A35B-4264-8AD3-9B823EDBA09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604E-D88E-44C4-92FF-861F9E26EC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27800-A35B-4264-8AD3-9B823EDBA09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604E-D88E-44C4-92FF-861F9E26EC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27800-A35B-4264-8AD3-9B823EDBA09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604E-D88E-44C4-92FF-861F9E26EC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27800-A35B-4264-8AD3-9B823EDBA09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604E-D88E-44C4-92FF-861F9E26EC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27800-A35B-4264-8AD3-9B823EDBA09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604E-D88E-44C4-92FF-861F9E26EC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27800-A35B-4264-8AD3-9B823EDBA09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604E-D88E-44C4-92FF-861F9E26EC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27800-A35B-4264-8AD3-9B823EDBA09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6604E-D88E-44C4-92FF-861F9E26EC0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62179"/>
            <a:ext cx="9144000" cy="1428332"/>
          </a:xfrm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3800" b="1" dirty="0">
                <a:solidFill>
                  <a:srgbClr val="004C9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Deep Learning-Based Credit Card </a:t>
            </a:r>
            <a:br>
              <a:rPr lang="en-US" sz="3800" b="1" dirty="0">
                <a:solidFill>
                  <a:srgbClr val="004C9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rPr>
            </a:br>
            <a:r>
              <a:rPr lang="en-US" sz="3800" b="1" dirty="0">
                <a:solidFill>
                  <a:srgbClr val="004C9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Fraud Detection in Federated Learning</a:t>
            </a:r>
            <a:br>
              <a:rPr lang="en-US" sz="3800" dirty="0">
                <a:solidFill>
                  <a:srgbClr val="004C9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rPr>
            </a:br>
            <a:endParaRPr lang="en-US" sz="3800" dirty="0">
              <a:solidFill>
                <a:srgbClr val="004C9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68115"/>
            <a:ext cx="9144000" cy="1428115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4C9B"/>
                </a:solidFill>
                <a:latin typeface="Calibri" panose="020F0502020204030204" charset="0"/>
                <a:cs typeface="Calibri" panose="020F0502020204030204" charset="0"/>
              </a:rPr>
              <a:t>Authors: </a:t>
            </a:r>
            <a:r>
              <a:rPr lang="en-US" sz="1800" dirty="0" err="1">
                <a:latin typeface="Calibri" panose="020F0502020204030204" charset="0"/>
                <a:cs typeface="Calibri" panose="020F0502020204030204" charset="0"/>
              </a:rPr>
              <a:t>Vadisena</a:t>
            </a:r>
            <a:r>
              <a:rPr lang="en-US" sz="1800" dirty="0">
                <a:latin typeface="Calibri" panose="020F0502020204030204" charset="0"/>
                <a:cs typeface="Calibri" panose="020F0502020204030204" charset="0"/>
              </a:rPr>
              <a:t> Venkata Krishna Reddy, Radha Vijaya Kumar Reddy, </a:t>
            </a:r>
            <a:r>
              <a:rPr lang="en-US" sz="1800" dirty="0" err="1">
                <a:latin typeface="Calibri" panose="020F0502020204030204" charset="0"/>
                <a:cs typeface="Calibri" panose="020F0502020204030204" charset="0"/>
              </a:rPr>
              <a:t>Masthan</a:t>
            </a:r>
            <a:r>
              <a:rPr lang="en-US" sz="1800" dirty="0">
                <a:latin typeface="Calibri" panose="020F0502020204030204" charset="0"/>
                <a:cs typeface="Calibri" panose="020F0502020204030204" charset="0"/>
              </a:rPr>
              <a:t> Siva Krishna </a:t>
            </a:r>
            <a:r>
              <a:rPr lang="en-US" sz="1800" dirty="0" err="1">
                <a:latin typeface="Calibri" panose="020F0502020204030204" charset="0"/>
                <a:cs typeface="Calibri" panose="020F0502020204030204" charset="0"/>
              </a:rPr>
              <a:t>Munaga</a:t>
            </a:r>
            <a:r>
              <a:rPr lang="en-US" sz="1800" dirty="0">
                <a:latin typeface="Calibri" panose="020F0502020204030204" charset="0"/>
                <a:cs typeface="Calibri" panose="020F0502020204030204" charset="0"/>
              </a:rPr>
              <a:t>, Balaji Karnam, Suresh Kumar </a:t>
            </a:r>
            <a:r>
              <a:rPr lang="en-US" sz="1800" dirty="0" err="1">
                <a:latin typeface="Calibri" panose="020F0502020204030204" charset="0"/>
                <a:cs typeface="Calibri" panose="020F0502020204030204" charset="0"/>
              </a:rPr>
              <a:t>Maddila</a:t>
            </a:r>
            <a:r>
              <a:rPr lang="en-US" sz="1800" dirty="0">
                <a:latin typeface="Calibri" panose="020F0502020204030204" charset="0"/>
                <a:cs typeface="Calibri" panose="020F0502020204030204" charset="0"/>
              </a:rPr>
              <a:t>, Chandra Sekhar Kolli</a:t>
            </a:r>
            <a:endParaRPr 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algn="ctr">
              <a:lnSpc>
                <a:spcPct val="100000"/>
              </a:lnSpc>
            </a:pPr>
            <a:r>
              <a:rPr lang="en-US" sz="1800" i="1" dirty="0">
                <a:latin typeface="Calibri" panose="020F0502020204030204" charset="0"/>
                <a:cs typeface="Calibri" panose="020F0502020204030204" charset="0"/>
              </a:rPr>
              <a:t>Expert Systems With Applications </a:t>
            </a:r>
            <a:r>
              <a:rPr lang="en-US" sz="1800" dirty="0">
                <a:latin typeface="Calibri" panose="020F0502020204030204" charset="0"/>
                <a:cs typeface="Calibri" panose="020F0502020204030204" charset="0"/>
              </a:rPr>
              <a:t>(Elsevier) · Vol. 255 · Article 124493 · June 2024 </a:t>
            </a:r>
            <a:endParaRPr 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algn="ctr">
              <a:lnSpc>
                <a:spcPct val="100000"/>
              </a:lnSpc>
            </a:pPr>
            <a:r>
              <a:rPr lang="en-US" sz="1800" dirty="0">
                <a:latin typeface="Calibri" panose="020F0502020204030204" charset="0"/>
                <a:cs typeface="Calibri" panose="020F0502020204030204" charset="0"/>
              </a:rPr>
              <a:t>DOI: 10.1016/j.eswa.2024.124493 · Q1 · SJR 1.939 · h-index 315</a:t>
            </a:r>
            <a:endParaRPr 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algn="just"/>
            <a:endParaRPr 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algn="just"/>
            <a:endParaRPr lang="en-US" sz="18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0" y="2951886"/>
            <a:ext cx="914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 privacy-preserving AI approach for collaborative financial fraud detection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6440" y="-179705"/>
            <a:ext cx="3119120" cy="151765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048000" y="58559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Presented by: Hayam (莫桃) · 26213050559</a:t>
            </a:r>
            <a:endParaRPr lang="en-US" dirty="0">
              <a:solidFill>
                <a:schemeClr val="bg2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524000" y="3394710"/>
            <a:ext cx="9144000" cy="0"/>
          </a:xfrm>
          <a:prstGeom prst="line">
            <a:avLst/>
          </a:prstGeom>
          <a:ln>
            <a:solidFill>
              <a:srgbClr val="004C9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870" y="282575"/>
            <a:ext cx="10515600" cy="1325563"/>
          </a:xfrm>
        </p:spPr>
        <p:txBody>
          <a:bodyPr/>
          <a:lstStyle/>
          <a:p>
            <a:r>
              <a:rPr lang="en-US" sz="3800" b="1" dirty="0">
                <a:solidFill>
                  <a:srgbClr val="004C9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Contents</a:t>
            </a:r>
            <a:endParaRPr lang="en-US" sz="3800" b="1" dirty="0">
              <a:solidFill>
                <a:srgbClr val="004C9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947420" y="1583690"/>
            <a:ext cx="10345420" cy="4770120"/>
            <a:chOff x="1492" y="2606"/>
            <a:chExt cx="16292" cy="7512"/>
          </a:xfrm>
        </p:grpSpPr>
        <p:sp>
          <p:nvSpPr>
            <p:cNvPr id="4" name="Rounded Rectangle 3"/>
            <p:cNvSpPr/>
            <p:nvPr/>
          </p:nvSpPr>
          <p:spPr>
            <a:xfrm>
              <a:off x="1492" y="2606"/>
              <a:ext cx="16292" cy="1329"/>
            </a:xfrm>
            <a:prstGeom prst="roundRect">
              <a:avLst/>
            </a:prstGeom>
            <a:solidFill>
              <a:srgbClr val="004C9B">
                <a:alpha val="35000"/>
              </a:srgbClr>
            </a:solidFill>
            <a:ln>
              <a:solidFill>
                <a:srgbClr val="A6C1D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sz="2000" b="1">
                  <a:solidFill>
                    <a:schemeClr val="tx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 charset="0"/>
                  <a:cs typeface="Calibri" panose="020F0502020204030204" charset="0"/>
                  <a:sym typeface="+mn-ea"/>
                </a:rPr>
                <a:t>            </a:t>
              </a:r>
              <a:r>
                <a:rPr lang="en-US" sz="2400" b="1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The problem</a:t>
              </a:r>
              <a:r>
                <a:rPr lang="en-US" sz="2000" b="1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    </a:t>
              </a:r>
              <a:r>
                <a:rPr lang="en-US" sz="2000" b="1">
                  <a:solidFill>
                    <a:schemeClr val="tx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                                                                </a:t>
              </a:r>
              <a:endParaRPr lang="en-US" sz="2000" b="1">
                <a:solidFill>
                  <a:schemeClr val="tx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492" y="4152"/>
              <a:ext cx="16292" cy="1329"/>
            </a:xfrm>
            <a:prstGeom prst="roundRect">
              <a:avLst/>
            </a:prstGeom>
            <a:solidFill>
              <a:srgbClr val="004C9B">
                <a:alpha val="35000"/>
              </a:srgbClr>
            </a:solidFill>
            <a:ln>
              <a:solidFill>
                <a:srgbClr val="A6C1D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sz="2000" b="1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 charset="0"/>
                  <a:cs typeface="Calibri" panose="020F0502020204030204" charset="0"/>
                  <a:sym typeface="+mn-ea"/>
                </a:rPr>
                <a:t>            </a:t>
              </a:r>
              <a:r>
                <a:rPr lang="en-US" sz="2400" b="1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Proposed method</a:t>
              </a:r>
              <a:endParaRPr lang="en-US" sz="24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492" y="5705"/>
              <a:ext cx="16292" cy="1329"/>
            </a:xfrm>
            <a:prstGeom prst="roundRect">
              <a:avLst/>
            </a:prstGeom>
            <a:solidFill>
              <a:srgbClr val="004C9B">
                <a:alpha val="35000"/>
              </a:srgbClr>
            </a:solidFill>
            <a:ln>
              <a:solidFill>
                <a:srgbClr val="A6C1D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sz="2000" b="1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 charset="0"/>
                  <a:cs typeface="Calibri" panose="020F0502020204030204" charset="0"/>
                  <a:sym typeface="+mn-ea"/>
                </a:rPr>
                <a:t>            </a:t>
              </a:r>
              <a:r>
                <a:rPr lang="en-US" sz="2400" b="1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Federated architecture</a:t>
              </a:r>
              <a:endParaRPr lang="en-US" sz="24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492" y="7244"/>
              <a:ext cx="16292" cy="1329"/>
            </a:xfrm>
            <a:prstGeom prst="roundRect">
              <a:avLst/>
            </a:prstGeom>
            <a:solidFill>
              <a:srgbClr val="004C9B">
                <a:alpha val="35000"/>
              </a:srgbClr>
            </a:solidFill>
            <a:ln>
              <a:solidFill>
                <a:srgbClr val="A6C1D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sz="2000" b="1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 charset="0"/>
                  <a:cs typeface="Calibri" panose="020F0502020204030204" charset="0"/>
                  <a:sym typeface="+mn-ea"/>
                </a:rPr>
                <a:t>            </a:t>
              </a:r>
              <a:r>
                <a:rPr lang="en-US" sz="2400" b="1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The paper’s results</a:t>
              </a:r>
              <a:endParaRPr lang="en-US" sz="24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492" y="8790"/>
              <a:ext cx="16292" cy="1329"/>
            </a:xfrm>
            <a:prstGeom prst="roundRect">
              <a:avLst/>
            </a:prstGeom>
            <a:solidFill>
              <a:srgbClr val="004C9B">
                <a:alpha val="35000"/>
              </a:srgbClr>
            </a:solidFill>
            <a:ln>
              <a:solidFill>
                <a:srgbClr val="A6C1D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sz="2000" b="1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 charset="0"/>
                  <a:cs typeface="Calibri" panose="020F0502020204030204" charset="0"/>
                  <a:sym typeface="+mn-ea"/>
                </a:rPr>
                <a:t>            </a:t>
              </a:r>
              <a:r>
                <a:rPr lang="en-US" sz="2400" b="1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My Kaggle demo</a:t>
              </a:r>
              <a:endParaRPr lang="en-US" sz="24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6" name="Oval 15"/>
          <p:cNvSpPr/>
          <p:nvPr/>
        </p:nvSpPr>
        <p:spPr>
          <a:xfrm>
            <a:off x="1080770" y="1723390"/>
            <a:ext cx="558800" cy="577215"/>
          </a:xfrm>
          <a:prstGeom prst="ellipse">
            <a:avLst/>
          </a:prstGeom>
          <a:solidFill>
            <a:srgbClr val="004C9B"/>
          </a:solidFill>
          <a:ln>
            <a:solidFill>
              <a:srgbClr val="004C9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latin typeface="Calibri" panose="020F0502020204030204" charset="0"/>
                <a:cs typeface="Calibri" panose="020F0502020204030204" charset="0"/>
              </a:rPr>
              <a:t>1</a:t>
            </a:r>
            <a:endParaRPr lang="en-US" sz="24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80770" y="2700655"/>
            <a:ext cx="558800" cy="577215"/>
          </a:xfrm>
          <a:prstGeom prst="ellipse">
            <a:avLst/>
          </a:prstGeom>
          <a:solidFill>
            <a:srgbClr val="004C9B"/>
          </a:solidFill>
          <a:ln>
            <a:solidFill>
              <a:srgbClr val="004C9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latin typeface="Calibri" panose="020F0502020204030204" charset="0"/>
                <a:cs typeface="Calibri" panose="020F0502020204030204" charset="0"/>
              </a:rPr>
              <a:t>2</a:t>
            </a:r>
            <a:endParaRPr lang="en-US" sz="24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80770" y="3677920"/>
            <a:ext cx="558800" cy="577215"/>
          </a:xfrm>
          <a:prstGeom prst="ellipse">
            <a:avLst/>
          </a:prstGeom>
          <a:solidFill>
            <a:srgbClr val="004C9B"/>
          </a:solidFill>
          <a:ln>
            <a:solidFill>
              <a:srgbClr val="004C9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latin typeface="Calibri" panose="020F0502020204030204" charset="0"/>
                <a:cs typeface="Calibri" panose="020F0502020204030204" charset="0"/>
              </a:rPr>
              <a:t>3</a:t>
            </a:r>
            <a:endParaRPr lang="en-US" sz="24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080770" y="4657725"/>
            <a:ext cx="558800" cy="577215"/>
          </a:xfrm>
          <a:prstGeom prst="ellipse">
            <a:avLst/>
          </a:prstGeom>
          <a:solidFill>
            <a:srgbClr val="004C9B"/>
          </a:solidFill>
          <a:ln>
            <a:solidFill>
              <a:srgbClr val="004C9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latin typeface="Calibri" panose="020F0502020204030204" charset="0"/>
                <a:cs typeface="Calibri" panose="020F0502020204030204" charset="0"/>
              </a:rPr>
              <a:t>4</a:t>
            </a:r>
            <a:endParaRPr lang="en-US" sz="24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80770" y="5646420"/>
            <a:ext cx="558800" cy="577215"/>
          </a:xfrm>
          <a:prstGeom prst="ellipse">
            <a:avLst/>
          </a:prstGeom>
          <a:solidFill>
            <a:srgbClr val="004C9B"/>
          </a:solidFill>
          <a:ln>
            <a:solidFill>
              <a:srgbClr val="004C9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latin typeface="Calibri" panose="020F0502020204030204" charset="0"/>
                <a:cs typeface="Calibri" panose="020F0502020204030204" charset="0"/>
              </a:rPr>
              <a:t>5</a:t>
            </a:r>
            <a:endParaRPr lang="en-US" sz="24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7348220" y="1828165"/>
            <a:ext cx="3724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2">
                    <a:lumMod val="2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Rare fraud, private data</a:t>
            </a:r>
            <a:endParaRPr lang="en-US">
              <a:solidFill>
                <a:schemeClr val="bg2">
                  <a:lumMod val="2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7399655" y="2790190"/>
            <a:ext cx="3724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>
                <a:solidFill>
                  <a:schemeClr val="bg2">
                    <a:lumMod val="2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JNBO-S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pinalNet</a:t>
            </a:r>
            <a:endParaRPr lang="en-US">
              <a:solidFill>
                <a:schemeClr val="bg2">
                  <a:lumMod val="25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7399655" y="3769995"/>
            <a:ext cx="3724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charset="0"/>
                <a:sym typeface="+mn-ea"/>
              </a:rPr>
              <a:t>Only model weights travel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charset="0"/>
              <a:sym typeface="+mn-ea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7399655" y="4749800"/>
            <a:ext cx="3724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charset="0"/>
                <a:sym typeface="+mn-ea"/>
              </a:rPr>
              <a:t>Promising, but incomplete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charset="0"/>
              <a:sym typeface="+mn-ea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7399655" y="5729605"/>
            <a:ext cx="3724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charset="0"/>
                <a:sym typeface="+mn-ea"/>
              </a:rPr>
              <a:t>Simplified reproduction and results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4805"/>
            <a:ext cx="10515600" cy="1325563"/>
          </a:xfrm>
        </p:spPr>
        <p:txBody>
          <a:bodyPr>
            <a:normAutofit/>
          </a:bodyPr>
          <a:p>
            <a:r>
              <a:rPr lang="en-US" sz="3800" b="1" dirty="0">
                <a:solidFill>
                  <a:srgbClr val="004C9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Why Fraud Detection Needs Federated Learning?</a:t>
            </a:r>
            <a:endParaRPr lang="en-US" sz="3800" b="1" dirty="0">
              <a:solidFill>
                <a:srgbClr val="004C9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Content Placeholder 20"/>
          <p:cNvSpPr/>
          <p:nvPr>
            <p:ph idx="1"/>
          </p:nvPr>
        </p:nvSpPr>
        <p:spPr>
          <a:xfrm>
            <a:off x="5877560" y="1825625"/>
            <a:ext cx="5669280" cy="4351655"/>
          </a:xfrm>
        </p:spPr>
        <p:txBody>
          <a:bodyPr>
            <a:normAutofit lnSpcReduction="10000"/>
          </a:bodyPr>
          <a:p>
            <a:pPr marL="0" indent="0">
              <a:lnSpc>
                <a:spcPct val="150000"/>
              </a:lnSpc>
              <a:buNone/>
            </a:pPr>
            <a:r>
              <a:rPr lang="en-US" b="1">
                <a:latin typeface="Calibri" panose="020F0502020204030204" charset="0"/>
                <a:cs typeface="Calibri" panose="020F0502020204030204" charset="0"/>
              </a:rPr>
              <a:t>The Core Challenge</a:t>
            </a:r>
            <a:endParaRPr lang="en-US" b="1">
              <a:latin typeface="Calibri" panose="020F0502020204030204" charset="0"/>
              <a:cs typeface="Calibri" panose="020F0502020204030204" charset="0"/>
            </a:endParaRPr>
          </a:p>
          <a:p>
            <a:pPr algn="l">
              <a:lnSpc>
                <a:spcPct val="170000"/>
              </a:lnSpc>
              <a:buFont typeface="Wingdings" panose="05000000000000000000" charset="0"/>
              <a:buChar char="Ø"/>
            </a:pPr>
            <a:r>
              <a:rPr lang="en-US" altLang="en-US" sz="16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Credit card fraud causes billions in annual losses globally</a:t>
            </a:r>
            <a:endParaRPr lang="en-US" altLang="en-US" sz="1600">
              <a:solidFill>
                <a:srgbClr val="0147AA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lnSpc>
                <a:spcPct val="170000"/>
              </a:lnSpc>
              <a:buFont typeface="Wingdings" panose="05000000000000000000" charset="0"/>
              <a:buChar char="Ø"/>
            </a:pP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Fraud is extremely rare: only 492 of 284,807 transactions (0.17%)</a:t>
            </a:r>
            <a:endParaRPr lang="en-US" altLang="en-US" sz="1600">
              <a:latin typeface="Calibri" panose="020F0502020204030204" charset="0"/>
              <a:cs typeface="Calibri" panose="020F0502020204030204" charset="0"/>
            </a:endParaRPr>
          </a:p>
          <a:p>
            <a:pPr algn="l">
              <a:lnSpc>
                <a:spcPct val="170000"/>
              </a:lnSpc>
              <a:buFont typeface="Wingdings" panose="05000000000000000000" charset="0"/>
              <a:buChar char="Ø"/>
            </a:pP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Raw customer data cannot be pooled across institutions due to privacy and regulation</a:t>
            </a:r>
            <a:endParaRPr lang="en-US" altLang="en-US" sz="1600">
              <a:latin typeface="Calibri" panose="020F0502020204030204" charset="0"/>
              <a:cs typeface="Calibri" panose="020F0502020204030204" charset="0"/>
            </a:endParaRPr>
          </a:p>
          <a:p>
            <a:pPr marL="0" indent="0" algn="l">
              <a:lnSpc>
                <a:spcPct val="170000"/>
              </a:lnSpc>
              <a:buFont typeface="Wingdings" panose="05000000000000000000" charset="0"/>
              <a:buNone/>
            </a:pPr>
            <a:r>
              <a:rPr lang="en-US" altLang="en-US" sz="1600" b="1">
                <a:latin typeface="Calibri" panose="020F0502020204030204" charset="0"/>
                <a:cs typeface="Calibri" panose="020F0502020204030204" charset="0"/>
              </a:rPr>
              <a:t>     Key question</a:t>
            </a:r>
            <a:r>
              <a:rPr lang="en-US" altLang="en-US" sz="1600">
                <a:latin typeface="Calibri" panose="020F0502020204030204" charset="0"/>
                <a:cs typeface="Calibri" panose="020F0502020204030204" charset="0"/>
              </a:rPr>
              <a:t>: can banks train one fraud detector together without ever sharing raw data? </a:t>
            </a:r>
            <a:endParaRPr lang="en-US" altLang="en-US" sz="160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240" y="1542415"/>
            <a:ext cx="4918075" cy="4918075"/>
          </a:xfrm>
          <a:prstGeom prst="rect">
            <a:avLst/>
          </a:prstGeom>
        </p:spPr>
      </p:pic>
      <p:sp>
        <p:nvSpPr>
          <p:cNvPr id="48" name="Action Button: Help 47"/>
          <p:cNvSpPr/>
          <p:nvPr/>
        </p:nvSpPr>
        <p:spPr>
          <a:xfrm>
            <a:off x="5953760" y="5049520"/>
            <a:ext cx="203200" cy="254000"/>
          </a:xfrm>
          <a:prstGeom prst="actionButtonHelp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202565"/>
            <a:ext cx="10515600" cy="1325563"/>
          </a:xfrm>
        </p:spPr>
        <p:txBody>
          <a:bodyPr/>
          <a:p>
            <a:r>
              <a:rPr lang="en-US" sz="3800" b="1" dirty="0">
                <a:solidFill>
                  <a:srgbClr val="004C9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Proposed AI Method: JNBO-SpinalNet</a:t>
            </a:r>
            <a:endParaRPr lang="en-US" sz="3800" b="1" dirty="0">
              <a:solidFill>
                <a:srgbClr val="004C9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84" name="Group 83"/>
          <p:cNvGrpSpPr/>
          <p:nvPr>
            <p:custDataLst>
              <p:tags r:id="rId1"/>
            </p:custDataLst>
          </p:nvPr>
        </p:nvGrpSpPr>
        <p:grpSpPr>
          <a:xfrm>
            <a:off x="1685394" y="1605280"/>
            <a:ext cx="8698761" cy="2448560"/>
            <a:chOff x="2521" y="2576"/>
            <a:chExt cx="13907" cy="4032"/>
          </a:xfrm>
        </p:grpSpPr>
        <p:grpSp>
          <p:nvGrpSpPr>
            <p:cNvPr id="79" name="Group 78"/>
            <p:cNvGrpSpPr/>
            <p:nvPr>
              <p:custDataLst>
                <p:tags r:id="rId2"/>
              </p:custDataLst>
            </p:nvPr>
          </p:nvGrpSpPr>
          <p:grpSpPr>
            <a:xfrm>
              <a:off x="3530" y="3009"/>
              <a:ext cx="12898" cy="3416"/>
              <a:chOff x="3642" y="2657"/>
              <a:chExt cx="12898" cy="3416"/>
            </a:xfrm>
          </p:grpSpPr>
          <p:sp>
            <p:nvSpPr>
              <p:cNvPr id="48" name="椭圆"/>
              <p:cNvSpPr/>
              <p:nvPr>
                <p:custDataLst>
                  <p:tags r:id="rId3"/>
                </p:custDataLst>
              </p:nvPr>
            </p:nvSpPr>
            <p:spPr>
              <a:xfrm>
                <a:off x="4587" y="3360"/>
                <a:ext cx="1468" cy="1469"/>
              </a:xfrm>
              <a:prstGeom prst="ellipse">
                <a:avLst/>
              </a:prstGeom>
              <a:noFill/>
              <a:ln w="6350">
                <a:gradFill flip="none" rotWithShape="1">
                  <a:gsLst>
                    <a:gs pos="0">
                      <a:schemeClr val="accent1">
                        <a:alpha val="100000"/>
                      </a:schemeClr>
                    </a:gs>
                    <a:gs pos="88000">
                      <a:schemeClr val="accent1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9710" tIns="54855" rIns="109710" bIns="54855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24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49" name="椭圆 1"/>
              <p:cNvSpPr/>
              <p:nvPr>
                <p:custDataLst>
                  <p:tags r:id="rId4"/>
                </p:custDataLst>
              </p:nvPr>
            </p:nvSpPr>
            <p:spPr>
              <a:xfrm>
                <a:off x="4723" y="3496"/>
                <a:ext cx="1196" cy="1197"/>
              </a:xfrm>
              <a:prstGeom prst="ellipse">
                <a:avLst/>
              </a:prstGeom>
              <a:solidFill>
                <a:srgbClr val="004C9B"/>
              </a:solidFill>
              <a:ln>
                <a:solidFill>
                  <a:srgbClr val="0147AA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>
                    <a:solidFill>
                      <a:schemeClr val="lt1">
                        <a:lumMod val="100000"/>
                      </a:schemeClr>
                    </a:solidFill>
                    <a:latin typeface="+mn-lt"/>
                    <a:sym typeface="+mn-lt"/>
                  </a:rPr>
                  <a:t>01</a:t>
                </a:r>
                <a:endParaRPr lang="en-US" sz="2400" b="1">
                  <a:solidFill>
                    <a:schemeClr val="lt1">
                      <a:lumMod val="100000"/>
                    </a:schemeClr>
                  </a:solidFill>
                  <a:latin typeface="+mn-lt"/>
                  <a:sym typeface="+mn-lt"/>
                </a:endParaRPr>
              </a:p>
            </p:txBody>
          </p:sp>
          <p:sp>
            <p:nvSpPr>
              <p:cNvPr id="50" name="弧形 85"/>
              <p:cNvSpPr/>
              <p:nvPr>
                <p:custDataLst>
                  <p:tags r:id="rId5"/>
                </p:custDataLst>
              </p:nvPr>
            </p:nvSpPr>
            <p:spPr>
              <a:xfrm rot="16200000">
                <a:off x="4479" y="3303"/>
                <a:ext cx="1577" cy="1577"/>
              </a:xfrm>
              <a:prstGeom prst="arc">
                <a:avLst>
                  <a:gd name="adj1" fmla="val 2657162"/>
                  <a:gd name="adj2" fmla="val 8176062"/>
                </a:avLst>
              </a:prstGeom>
              <a:noFill/>
              <a:ln w="38100" cap="rnd">
                <a:solidFill>
                  <a:srgbClr val="0147AA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4C9B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algn="ctr"/>
                <a:endParaRPr lang="en-US" sz="2400" dirty="0">
                  <a:solidFill>
                    <a:prstClr val="white"/>
                  </a:solidFill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51" name="椭圆"/>
              <p:cNvSpPr/>
              <p:nvPr>
                <p:custDataLst>
                  <p:tags r:id="rId6"/>
                </p:custDataLst>
              </p:nvPr>
            </p:nvSpPr>
            <p:spPr>
              <a:xfrm>
                <a:off x="7407" y="3360"/>
                <a:ext cx="1468" cy="1469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147AA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9710" tIns="54855" rIns="109710" bIns="54855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24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52" name="椭圆 2"/>
              <p:cNvSpPr/>
              <p:nvPr>
                <p:custDataLst>
                  <p:tags r:id="rId7"/>
                </p:custDataLst>
              </p:nvPr>
            </p:nvSpPr>
            <p:spPr>
              <a:xfrm>
                <a:off x="7543" y="3496"/>
                <a:ext cx="1196" cy="119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>
                    <a:solidFill>
                      <a:schemeClr val="lt1">
                        <a:lumMod val="100000"/>
                      </a:schemeClr>
                    </a:solidFill>
                    <a:latin typeface="+mn-lt"/>
                    <a:sym typeface="+mn-lt"/>
                  </a:rPr>
                  <a:t>02</a:t>
                </a:r>
                <a:endParaRPr lang="en-US" sz="2400" b="1">
                  <a:solidFill>
                    <a:schemeClr val="lt1">
                      <a:lumMod val="100000"/>
                    </a:schemeClr>
                  </a:solidFill>
                  <a:latin typeface="+mn-lt"/>
                  <a:sym typeface="+mn-lt"/>
                </a:endParaRPr>
              </a:p>
            </p:txBody>
          </p:sp>
          <p:sp>
            <p:nvSpPr>
              <p:cNvPr id="53" name="弧形 85"/>
              <p:cNvSpPr/>
              <p:nvPr>
                <p:custDataLst>
                  <p:tags r:id="rId8"/>
                </p:custDataLst>
              </p:nvPr>
            </p:nvSpPr>
            <p:spPr>
              <a:xfrm rot="16200000">
                <a:off x="7299" y="3303"/>
                <a:ext cx="1577" cy="1577"/>
              </a:xfrm>
              <a:prstGeom prst="arc">
                <a:avLst>
                  <a:gd name="adj1" fmla="val 2657162"/>
                  <a:gd name="adj2" fmla="val 8176062"/>
                </a:avLst>
              </a:prstGeom>
              <a:noFill/>
              <a:ln w="38100" cap="rnd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24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54" name="椭圆"/>
              <p:cNvSpPr/>
              <p:nvPr>
                <p:custDataLst>
                  <p:tags r:id="rId9"/>
                </p:custDataLst>
              </p:nvPr>
            </p:nvSpPr>
            <p:spPr>
              <a:xfrm>
                <a:off x="10227" y="3360"/>
                <a:ext cx="1468" cy="1469"/>
              </a:xfrm>
              <a:prstGeom prst="ellipse">
                <a:avLst/>
              </a:prstGeom>
              <a:noFill/>
              <a:ln w="6350">
                <a:gradFill flip="none" rotWithShape="1">
                  <a:gsLst>
                    <a:gs pos="0">
                      <a:schemeClr val="accent1">
                        <a:alpha val="100000"/>
                      </a:schemeClr>
                    </a:gs>
                    <a:gs pos="88000">
                      <a:schemeClr val="accent1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9710" tIns="54855" rIns="109710" bIns="54855"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24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55" name="椭圆 3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364" y="3496"/>
                <a:ext cx="1196" cy="1197"/>
              </a:xfrm>
              <a:prstGeom prst="ellipse">
                <a:avLst/>
              </a:prstGeom>
              <a:solidFill>
                <a:srgbClr val="0147AA"/>
              </a:solidFill>
              <a:ln>
                <a:solidFill>
                  <a:srgbClr val="0147AA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>
                    <a:solidFill>
                      <a:schemeClr val="lt1">
                        <a:lumMod val="100000"/>
                      </a:schemeClr>
                    </a:solidFill>
                    <a:latin typeface="+mn-lt"/>
                    <a:sym typeface="+mn-lt"/>
                  </a:rPr>
                  <a:t>03</a:t>
                </a:r>
                <a:endParaRPr lang="en-US" sz="2400" b="1">
                  <a:solidFill>
                    <a:schemeClr val="lt1">
                      <a:lumMod val="100000"/>
                    </a:schemeClr>
                  </a:solidFill>
                  <a:latin typeface="+mn-lt"/>
                  <a:sym typeface="+mn-lt"/>
                </a:endParaRPr>
              </a:p>
            </p:txBody>
          </p:sp>
          <p:sp>
            <p:nvSpPr>
              <p:cNvPr id="56" name="弧形 85"/>
              <p:cNvSpPr/>
              <p:nvPr>
                <p:custDataLst>
                  <p:tags r:id="rId11"/>
                </p:custDataLst>
              </p:nvPr>
            </p:nvSpPr>
            <p:spPr>
              <a:xfrm rot="16200000">
                <a:off x="10119" y="3303"/>
                <a:ext cx="1577" cy="1577"/>
              </a:xfrm>
              <a:prstGeom prst="arc">
                <a:avLst>
                  <a:gd name="adj1" fmla="val 2657162"/>
                  <a:gd name="adj2" fmla="val 8176062"/>
                </a:avLst>
              </a:prstGeom>
              <a:noFill/>
              <a:ln w="38100" cap="rnd">
                <a:solidFill>
                  <a:srgbClr val="0147AA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147AA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2400" b="0" i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57" name="椭圆"/>
              <p:cNvSpPr/>
              <p:nvPr>
                <p:custDataLst>
                  <p:tags r:id="rId12"/>
                </p:custDataLst>
              </p:nvPr>
            </p:nvSpPr>
            <p:spPr>
              <a:xfrm>
                <a:off x="13783" y="3360"/>
                <a:ext cx="1468" cy="1469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9710" tIns="54855" rIns="109710" bIns="54855" rtlCol="0" anchor="ctr">
                <a:noAutofit/>
              </a:bodyPr>
              <a:p>
                <a:pPr algn="ctr"/>
                <a:endParaRPr lang="en-US" sz="2400" dirty="0">
                  <a:solidFill>
                    <a:prstClr val="white"/>
                  </a:solidFill>
                  <a:latin typeface="+mn-lt"/>
                  <a:sym typeface="Arial" panose="020B0604020202020204" pitchFamily="34" charset="0"/>
                </a:endParaRPr>
              </a:p>
            </p:txBody>
          </p:sp>
          <p:grpSp>
            <p:nvGrpSpPr>
              <p:cNvPr id="78" name="Group 77"/>
              <p:cNvGrpSpPr/>
              <p:nvPr>
                <p:custDataLst>
                  <p:tags r:id="rId13"/>
                </p:custDataLst>
              </p:nvPr>
            </p:nvGrpSpPr>
            <p:grpSpPr>
              <a:xfrm>
                <a:off x="13675" y="3303"/>
                <a:ext cx="1576" cy="1576"/>
                <a:chOff x="12939" y="3303"/>
                <a:chExt cx="1576" cy="1576"/>
              </a:xfrm>
            </p:grpSpPr>
            <p:sp>
              <p:nvSpPr>
                <p:cNvPr id="58" name="椭圆 4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13183" y="3496"/>
                  <a:ext cx="1196" cy="119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 anchor="ctr" anchorCtr="0">
                  <a:noAutofit/>
                </a:bodyPr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400" b="1">
                      <a:solidFill>
                        <a:schemeClr val="lt1">
                          <a:lumMod val="100000"/>
                        </a:schemeClr>
                      </a:solidFill>
                      <a:latin typeface="+mn-lt"/>
                      <a:sym typeface="+mn-lt"/>
                    </a:rPr>
                    <a:t>04</a:t>
                  </a:r>
                  <a:endParaRPr lang="en-US" sz="2400" b="1">
                    <a:solidFill>
                      <a:schemeClr val="lt1">
                        <a:lumMod val="100000"/>
                      </a:schemeClr>
                    </a:solidFill>
                    <a:latin typeface="+mn-lt"/>
                    <a:sym typeface="+mn-lt"/>
                  </a:endParaRPr>
                </a:p>
              </p:txBody>
            </p:sp>
            <p:sp>
              <p:nvSpPr>
                <p:cNvPr id="59" name="弧形 85"/>
                <p:cNvSpPr/>
                <p:nvPr>
                  <p:custDataLst>
                    <p:tags r:id="rId15"/>
                  </p:custDataLst>
                </p:nvPr>
              </p:nvSpPr>
              <p:spPr>
                <a:xfrm rot="16200000">
                  <a:off x="12939" y="3303"/>
                  <a:ext cx="1577" cy="1577"/>
                </a:xfrm>
                <a:prstGeom prst="arc">
                  <a:avLst>
                    <a:gd name="adj1" fmla="val 2657162"/>
                    <a:gd name="adj2" fmla="val 8176062"/>
                  </a:avLst>
                </a:prstGeom>
                <a:noFill/>
                <a:ln w="38100" cap="rnd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:endParaRPr kumimoji="0" lang="en-US" sz="2400" b="0" i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sym typeface="Arial" panose="020B0604020202020204" pitchFamily="34" charset="0"/>
                  </a:endParaRPr>
                </a:p>
              </p:txBody>
            </p:sp>
          </p:grpSp>
          <p:cxnSp>
            <p:nvCxnSpPr>
              <p:cNvPr id="66" name="直接连接符 65"/>
              <p:cNvCxnSpPr/>
              <p:nvPr>
                <p:custDataLst>
                  <p:tags r:id="rId16"/>
                </p:custDataLst>
              </p:nvPr>
            </p:nvCxnSpPr>
            <p:spPr>
              <a:xfrm>
                <a:off x="6082" y="4091"/>
                <a:ext cx="1325" cy="4"/>
              </a:xfrm>
              <a:prstGeom prst="line">
                <a:avLst/>
              </a:prstGeom>
              <a:ln w="15875"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>
                <p:custDataLst>
                  <p:tags r:id="rId17"/>
                </p:custDataLst>
              </p:nvPr>
            </p:nvCxnSpPr>
            <p:spPr>
              <a:xfrm>
                <a:off x="8902" y="4090"/>
                <a:ext cx="1325" cy="4"/>
              </a:xfrm>
              <a:prstGeom prst="line">
                <a:avLst/>
              </a:prstGeom>
              <a:ln w="15875">
                <a:solidFill>
                  <a:srgbClr val="0147AA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>
                <a:endCxn id="57" idx="2"/>
              </p:cNvCxnSpPr>
              <p:nvPr>
                <p:custDataLst>
                  <p:tags r:id="rId18"/>
                </p:custDataLst>
              </p:nvPr>
            </p:nvCxnSpPr>
            <p:spPr>
              <a:xfrm>
                <a:off x="11722" y="4090"/>
                <a:ext cx="2061" cy="4"/>
              </a:xfrm>
              <a:prstGeom prst="line">
                <a:avLst/>
              </a:prstGeom>
              <a:ln w="15875"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矩形 6"/>
              <p:cNvSpPr/>
              <p:nvPr>
                <p:custDataLst>
                  <p:tags r:id="rId19"/>
                </p:custDataLst>
              </p:nvPr>
            </p:nvSpPr>
            <p:spPr>
              <a:xfrm>
                <a:off x="3642" y="2657"/>
                <a:ext cx="3780" cy="6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 lIns="0" tIns="0" rIns="0" bIns="0" rtlCol="0" anchor="t" anchorCtr="0">
                <a:norm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b="1">
                    <a:solidFill>
                      <a:srgbClr val="004C9B"/>
                    </a:solidFill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Quantile normalization</a:t>
                </a:r>
                <a:endParaRPr lang="en-US" sz="1600" b="1">
                  <a:solidFill>
                    <a:srgbClr val="004C9B"/>
                  </a:solidFill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</p:txBody>
          </p:sp>
          <p:sp>
            <p:nvSpPr>
              <p:cNvPr id="62" name="矩形 8"/>
              <p:cNvSpPr/>
              <p:nvPr>
                <p:custDataLst>
                  <p:tags r:id="rId20"/>
                </p:custDataLst>
              </p:nvPr>
            </p:nvSpPr>
            <p:spPr>
              <a:xfrm>
                <a:off x="9045" y="2657"/>
                <a:ext cx="3780" cy="6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 lIns="0" tIns="0" rIns="0" bIns="0" rtlCol="0" anchor="t" anchorCtr="0">
                <a:norm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b="1">
                    <a:solidFill>
                      <a:srgbClr val="0147AA"/>
                    </a:solidFill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Bootstrap resampling</a:t>
                </a:r>
                <a:endParaRPr lang="en-US" sz="1600" b="1">
                  <a:solidFill>
                    <a:srgbClr val="0147AA"/>
                  </a:solidFill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</p:txBody>
          </p:sp>
          <p:sp>
            <p:nvSpPr>
              <p:cNvPr id="63" name="矩形 10"/>
              <p:cNvSpPr/>
              <p:nvPr>
                <p:custDataLst>
                  <p:tags r:id="rId21"/>
                </p:custDataLst>
              </p:nvPr>
            </p:nvSpPr>
            <p:spPr>
              <a:xfrm>
                <a:off x="5920" y="4880"/>
                <a:ext cx="4444" cy="11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 lIns="0" tIns="0" rIns="0" bIns="0" rtlCol="0" anchor="b" anchorCtr="0"/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b="1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Feature selection</a:t>
                </a:r>
                <a:endParaRPr lang="en-US" sz="1600" b="1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b="1" dirty="0">
                    <a:solidFill>
                      <a:srgbClr val="0B1F3A"/>
                    </a:solidFill>
                    <a:latin typeface="Calibri" panose="020F0502020204030204" charset="0"/>
                    <a:ea typeface="Calibri" panose="020F0502020204030204" pitchFamily="34" charset="-122"/>
                    <a:cs typeface="Calibri" panose="020F0502020204030204" charset="0"/>
                    <a:sym typeface="+mn-ea"/>
                  </a:rPr>
                  <a:t>(Fisher + Bray-Curtis + Jeffrey divergence)</a:t>
                </a:r>
                <a:endParaRPr lang="en-US" sz="1600" b="1" dirty="0">
                  <a:solidFill>
                    <a:srgbClr val="0B1F3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charset="0"/>
                  <a:sym typeface="+mn-ea"/>
                </a:endParaRPr>
              </a:p>
            </p:txBody>
          </p:sp>
          <p:sp>
            <p:nvSpPr>
              <p:cNvPr id="65" name="矩形 12"/>
              <p:cNvSpPr/>
              <p:nvPr>
                <p:custDataLst>
                  <p:tags r:id="rId22"/>
                </p:custDataLst>
              </p:nvPr>
            </p:nvSpPr>
            <p:spPr>
              <a:xfrm>
                <a:off x="12760" y="4881"/>
                <a:ext cx="3780" cy="6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square" lIns="0" tIns="0" rIns="0" bIns="0" rtlCol="0" anchor="b" anchorCtr="0">
                <a:norm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b="1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SpinalNet classifier</a:t>
                </a:r>
                <a:endParaRPr lang="en-US" sz="1600" b="1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</p:txBody>
          </p:sp>
        </p:grpSp>
        <p:sp>
          <p:nvSpPr>
            <p:cNvPr id="80" name="Text Box 79"/>
            <p:cNvSpPr txBox="1"/>
            <p:nvPr/>
          </p:nvSpPr>
          <p:spPr>
            <a:xfrm>
              <a:off x="2521" y="2865"/>
              <a:ext cx="735" cy="3386"/>
            </a:xfrm>
            <a:prstGeom prst="rect">
              <a:avLst/>
            </a:prstGeom>
            <a:noFill/>
          </p:spPr>
          <p:txBody>
            <a:bodyPr vert="mongolianVert" wrap="square" rtlCol="0">
              <a:spAutoFit/>
            </a:bodyPr>
            <a:p>
              <a:pPr algn="ctr"/>
              <a:r>
                <a:rPr lang="en-US" b="1">
                  <a:solidFill>
                    <a:srgbClr val="004C9B"/>
                  </a:solidFill>
                  <a:latin typeface="Calibri" panose="020F0502020204030204" charset="0"/>
                  <a:cs typeface="Calibri" panose="020F0502020204030204" charset="0"/>
                </a:rPr>
                <a:t>Data preprocessing</a:t>
              </a:r>
              <a:endParaRPr lang="en-US" b="1">
                <a:solidFill>
                  <a:srgbClr val="004C9B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392" y="2576"/>
              <a:ext cx="9392" cy="4032"/>
            </a:xfrm>
            <a:prstGeom prst="rect">
              <a:avLst/>
            </a:prstGeom>
            <a:noFill/>
            <a:ln>
              <a:solidFill>
                <a:srgbClr val="0147AA"/>
              </a:solidFill>
              <a:prstDash val="lg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85" name="Rounded Rectangle 84"/>
          <p:cNvSpPr/>
          <p:nvPr/>
        </p:nvSpPr>
        <p:spPr>
          <a:xfrm>
            <a:off x="1066800" y="4521200"/>
            <a:ext cx="4622165" cy="2101215"/>
          </a:xfrm>
          <a:prstGeom prst="roundRect">
            <a:avLst/>
          </a:prstGeom>
          <a:solidFill>
            <a:srgbClr val="004C9B">
              <a:alpha val="35000"/>
            </a:srgbClr>
          </a:solidFill>
          <a:ln>
            <a:solidFill>
              <a:srgbClr val="0147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en-US" b="1">
                <a:latin typeface="Calibri" panose="020F0502020204030204" charset="0"/>
                <a:cs typeface="Calibri" panose="020F0502020204030204" charset="0"/>
              </a:rPr>
              <a:t>SpinalNet = the classifier</a:t>
            </a:r>
            <a:endParaRPr lang="en-US" b="1"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altLang="en-US" sz="1400">
                <a:latin typeface="Calibri" panose="020F0502020204030204" charset="0"/>
                <a:cs typeface="Calibri" panose="020F0502020204030204" charset="0"/>
              </a:rPr>
              <a:t>Processes input features in </a:t>
            </a:r>
            <a:r>
              <a:rPr lang="en-US" altLang="en-US" sz="1400" b="1">
                <a:latin typeface="Calibri" panose="020F0502020204030204" charset="0"/>
                <a:cs typeface="Calibri" panose="020F0502020204030204" charset="0"/>
              </a:rPr>
              <a:t>chunked segments</a:t>
            </a:r>
            <a:r>
              <a:rPr lang="en-US" altLang="en-US" sz="1400">
                <a:latin typeface="Calibri" panose="020F0502020204030204" charset="0"/>
                <a:cs typeface="Calibri" panose="020F0502020204030204" charset="0"/>
              </a:rPr>
              <a:t> rather than full-batch, enabling efficient gradient flow and reduced overfitting on imbalanced data.</a:t>
            </a:r>
            <a:endParaRPr lang="en-US" altLang="en-US" sz="14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6101080" y="4511040"/>
            <a:ext cx="4622165" cy="2100580"/>
          </a:xfrm>
          <a:prstGeom prst="roundRect">
            <a:avLst/>
          </a:prstGeom>
          <a:solidFill>
            <a:srgbClr val="004C9B">
              <a:alpha val="35000"/>
            </a:srgbClr>
          </a:solidFill>
          <a:ln>
            <a:solidFill>
              <a:srgbClr val="004C9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en-US" b="1">
              <a:latin typeface="Calibri" panose="020F0502020204030204" charset="0"/>
              <a:cs typeface="Calibri" panose="020F0502020204030204" charset="0"/>
            </a:endParaRPr>
          </a:p>
          <a:p>
            <a:pPr algn="just"/>
            <a:endParaRPr lang="en-US" b="1">
              <a:latin typeface="Calibri" panose="020F0502020204030204" charset="0"/>
              <a:cs typeface="Calibri" panose="020F0502020204030204" charset="0"/>
            </a:endParaRPr>
          </a:p>
          <a:p>
            <a:pPr algn="just"/>
            <a:r>
              <a:rPr lang="en-US" b="1">
                <a:latin typeface="Calibri" panose="020F0502020204030204" charset="0"/>
                <a:cs typeface="Calibri" panose="020F0502020204030204" charset="0"/>
              </a:rPr>
              <a:t>JNBO = the optimizer (JNBO = JSO + NBO)</a:t>
            </a:r>
            <a:endParaRPr lang="en-US" b="1"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>
                <a:latin typeface="Calibri" panose="020F0502020204030204" charset="0"/>
                <a:cs typeface="Calibri" panose="020F0502020204030204" charset="0"/>
              </a:rPr>
              <a:t>JSO (</a:t>
            </a:r>
            <a:r>
              <a:rPr lang="en-US" altLang="en-US" sz="1400" b="1">
                <a:latin typeface="Calibri" panose="020F0502020204030204" charset="0"/>
                <a:cs typeface="Calibri" panose="020F0502020204030204" charset="0"/>
              </a:rPr>
              <a:t>Jellyfish Search Optimization):</a:t>
            </a:r>
            <a:r>
              <a:rPr lang="en-US" altLang="en-US" sz="1400">
                <a:latin typeface="Calibri" panose="020F0502020204030204" charset="0"/>
                <a:cs typeface="Calibri" panose="020F0502020204030204" charset="0"/>
              </a:rPr>
              <a:t> exploration of the search space</a:t>
            </a:r>
            <a:endParaRPr lang="en-US" altLang="en-US" sz="1400"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400" b="1">
                <a:latin typeface="Calibri" panose="020F0502020204030204" charset="0"/>
                <a:cs typeface="Calibri" panose="020F0502020204030204" charset="0"/>
              </a:rPr>
              <a:t>NBO (Namib Beetle Optimization):</a:t>
            </a:r>
            <a:r>
              <a:rPr lang="en-US" altLang="en-US" sz="1400">
                <a:latin typeface="Calibri" panose="020F0502020204030204" charset="0"/>
                <a:cs typeface="Calibri" panose="020F0502020204030204" charset="0"/>
              </a:rPr>
              <a:t> exploitation of promising regions</a:t>
            </a:r>
            <a:endParaRPr lang="en-US" altLang="en-US" sz="1400">
              <a:latin typeface="Calibri" panose="020F0502020204030204" charset="0"/>
              <a:cs typeface="Calibri" panose="020F050202020403020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1400">
                <a:latin typeface="Calibri" panose="020F0502020204030204" charset="0"/>
                <a:cs typeface="Calibri" panose="020F0502020204030204" charset="0"/>
              </a:rPr>
              <a:t>Together they tune SpinalNet's for optimal fraud detection performance.</a:t>
            </a:r>
            <a:endParaRPr lang="en-US" altLang="en-US" sz="1400"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600">
              <a:latin typeface="Calibri" panose="020F0502020204030204" charset="0"/>
              <a:cs typeface="Calibri" panose="020F0502020204030204" charset="0"/>
            </a:endParaRPr>
          </a:p>
          <a:p>
            <a:pPr algn="just"/>
            <a:endParaRPr lang="en-US" altLang="en-US" sz="16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40" y="192405"/>
            <a:ext cx="10515600" cy="1325563"/>
          </a:xfrm>
        </p:spPr>
        <p:txBody>
          <a:bodyPr>
            <a:normAutofit/>
          </a:bodyPr>
          <a:p>
            <a:pPr algn="l">
              <a:buClrTx/>
              <a:buSzTx/>
              <a:buFontTx/>
            </a:pPr>
            <a:r>
              <a:rPr lang="en-US" sz="3800" b="1" dirty="0">
                <a:solidFill>
                  <a:srgbClr val="004C9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Federated Learning: Train Together, Keep Data Local</a:t>
            </a:r>
            <a:endParaRPr lang="en-US" sz="3800" b="1" dirty="0">
              <a:solidFill>
                <a:srgbClr val="004C9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89405"/>
            <a:ext cx="6186170" cy="4774565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7432675" y="1680845"/>
            <a:ext cx="4556125" cy="4277702"/>
            <a:chOff x="11784" y="2920"/>
            <a:chExt cx="7175" cy="6010"/>
          </a:xfrm>
        </p:grpSpPr>
        <p:sp>
          <p:nvSpPr>
            <p:cNvPr id="11" name="Text Box 10"/>
            <p:cNvSpPr txBox="1"/>
            <p:nvPr/>
          </p:nvSpPr>
          <p:spPr>
            <a:xfrm>
              <a:off x="11792" y="2920"/>
              <a:ext cx="5968" cy="11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>
                  <a:latin typeface="Calibri" panose="020F0502020204030204" charset="0"/>
                  <a:cs typeface="Calibri" panose="020F0502020204030204" charset="0"/>
                </a:rPr>
                <a:t>Local training</a:t>
              </a:r>
              <a:endParaRPr lang="en-US" b="1">
                <a:latin typeface="Calibri" panose="020F0502020204030204" charset="0"/>
                <a:cs typeface="Calibri" panose="020F0502020204030204" charset="0"/>
              </a:endParaRPr>
            </a:p>
            <a:p>
              <a:pPr indent="0">
                <a:buFont typeface="Arial" panose="020B0604020202020204" pitchFamily="34" charset="0"/>
                <a:buNone/>
              </a:pPr>
              <a:r>
                <a:rPr lang="en-US" altLang="en-US" sz="1600">
                  <a:latin typeface="Calibri" panose="020F0502020204030204" charset="0"/>
                  <a:cs typeface="Calibri" panose="020F0502020204030204" charset="0"/>
                </a:rPr>
                <a:t>Each node trains on its </a:t>
              </a:r>
              <a:r>
                <a:rPr lang="en-US" altLang="en-US" sz="1600" b="1">
                  <a:latin typeface="Calibri" panose="020F0502020204030204" charset="0"/>
                  <a:cs typeface="Calibri" panose="020F0502020204030204" charset="0"/>
                </a:rPr>
                <a:t>own private data</a:t>
              </a:r>
              <a:endParaRPr lang="en-US" altLang="en-US" sz="1600">
                <a:latin typeface="Calibri" panose="020F0502020204030204" charset="0"/>
                <a:cs typeface="Calibri" panose="020F0502020204030204" charset="0"/>
              </a:endParaRPr>
            </a:p>
            <a:p>
              <a:pPr indent="0">
                <a:buFont typeface="Arial" panose="020B0604020202020204" pitchFamily="34" charset="0"/>
                <a:buNone/>
              </a:pPr>
              <a:endParaRPr lang="en-US" altLang="en-US" sz="1600">
                <a:latin typeface="Calibri" panose="020F0502020204030204" charset="0"/>
                <a:cs typeface="Calibri" panose="020F0502020204030204" charset="0"/>
              </a:endParaRPr>
            </a:p>
            <a:p>
              <a:pPr indent="0">
                <a:buFont typeface="Arial" panose="020B0604020202020204" pitchFamily="34" charset="0"/>
                <a:buNone/>
              </a:pPr>
              <a:endParaRPr lang="en-US" altLang="en-US" sz="1600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11792" y="4152"/>
              <a:ext cx="7167" cy="11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>
                  <a:latin typeface="Calibri" panose="020F0502020204030204" charset="0"/>
                  <a:cs typeface="Calibri" panose="020F0502020204030204" charset="0"/>
                </a:rPr>
                <a:t>Weight sharing</a:t>
              </a:r>
              <a:endParaRPr lang="en-US" b="1">
                <a:latin typeface="Calibri" panose="020F0502020204030204" charset="0"/>
                <a:cs typeface="Calibri" panose="020F0502020204030204" charset="0"/>
              </a:endParaRPr>
            </a:p>
            <a:p>
              <a:pPr indent="0">
                <a:buFont typeface="Arial" panose="020B0604020202020204" pitchFamily="34" charset="0"/>
                <a:buNone/>
              </a:pPr>
              <a:r>
                <a:rPr lang="en-US" altLang="en-US" sz="1600">
                  <a:latin typeface="Calibri" panose="020F0502020204030204" charset="0"/>
                  <a:cs typeface="Calibri" panose="020F0502020204030204" charset="0"/>
                </a:rPr>
                <a:t>Only </a:t>
              </a:r>
              <a:r>
                <a:rPr lang="en-US" altLang="en-US" sz="1600" b="1">
                  <a:latin typeface="Calibri" panose="020F0502020204030204" charset="0"/>
                  <a:cs typeface="Calibri" panose="020F0502020204030204" charset="0"/>
                </a:rPr>
                <a:t>model updates</a:t>
              </a:r>
              <a:r>
                <a:rPr lang="en-US" altLang="en-US" sz="1600">
                  <a:latin typeface="Calibri" panose="020F0502020204030204" charset="0"/>
                  <a:cs typeface="Calibri" panose="020F0502020204030204" charset="0"/>
                </a:rPr>
                <a:t> (not raw data) are transmitted</a:t>
              </a:r>
              <a:endParaRPr lang="en-US" altLang="en-US" sz="1600">
                <a:latin typeface="Calibri" panose="020F0502020204030204" charset="0"/>
                <a:cs typeface="Calibri" panose="020F0502020204030204" charset="0"/>
              </a:endParaRPr>
            </a:p>
            <a:p>
              <a:pPr indent="0">
                <a:buFont typeface="Arial" panose="020B0604020202020204" pitchFamily="34" charset="0"/>
                <a:buNone/>
              </a:pPr>
              <a:endParaRPr lang="en-US" altLang="en-US" sz="1600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11792" y="5384"/>
              <a:ext cx="6991" cy="11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>
                  <a:latin typeface="Calibri" panose="020F0502020204030204" charset="0"/>
                  <a:cs typeface="Calibri" panose="020F0502020204030204" charset="0"/>
                </a:rPr>
                <a:t>Aggregation</a:t>
              </a:r>
              <a:endParaRPr lang="en-US" b="1">
                <a:latin typeface="Calibri" panose="020F0502020204030204" charset="0"/>
                <a:cs typeface="Calibri" panose="020F0502020204030204" charset="0"/>
              </a:endParaRPr>
            </a:p>
            <a:p>
              <a:pPr indent="0">
                <a:buFont typeface="Arial" panose="020B0604020202020204" pitchFamily="34" charset="0"/>
                <a:buNone/>
              </a:pPr>
              <a:r>
                <a:rPr lang="en-US" altLang="en-US" sz="1600">
                  <a:latin typeface="Calibri" panose="020F0502020204030204" charset="0"/>
                  <a:cs typeface="Calibri" panose="020F0502020204030204" charset="0"/>
                </a:rPr>
                <a:t>Server </a:t>
              </a:r>
              <a:r>
                <a:rPr lang="en-US" altLang="en-US" sz="1600" b="1">
                  <a:latin typeface="Calibri" panose="020F0502020204030204" charset="0"/>
                  <a:cs typeface="Calibri" panose="020F0502020204030204" charset="0"/>
                </a:rPr>
                <a:t>aggregates</a:t>
              </a:r>
              <a:r>
                <a:rPr lang="en-US" altLang="en-US" sz="1600">
                  <a:latin typeface="Calibri" panose="020F0502020204030204" charset="0"/>
                  <a:cs typeface="Calibri" panose="020F0502020204030204" charset="0"/>
                </a:rPr>
                <a:t> local models into a global mode</a:t>
              </a:r>
              <a:endParaRPr lang="en-US" altLang="en-US" sz="1600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4" name="Text Box 13"/>
            <p:cNvSpPr txBox="1"/>
            <p:nvPr/>
          </p:nvSpPr>
          <p:spPr>
            <a:xfrm>
              <a:off x="11784" y="6616"/>
              <a:ext cx="6991" cy="11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>
                  <a:latin typeface="Calibri" panose="020F0502020204030204" charset="0"/>
                  <a:cs typeface="Calibri" panose="020F0502020204030204" charset="0"/>
                </a:rPr>
                <a:t>Iteration</a:t>
              </a:r>
              <a:endParaRPr lang="en-US" b="1">
                <a:latin typeface="Calibri" panose="020F0502020204030204" charset="0"/>
                <a:cs typeface="Calibri" panose="020F0502020204030204" charset="0"/>
              </a:endParaRPr>
            </a:p>
            <a:p>
              <a:pPr indent="0">
                <a:buFont typeface="Arial" panose="020B0604020202020204" pitchFamily="34" charset="0"/>
                <a:buNone/>
              </a:pPr>
              <a:r>
                <a:rPr lang="en-US" altLang="en-US" sz="1600">
                  <a:latin typeface="Calibri" panose="020F0502020204030204" charset="0"/>
                  <a:cs typeface="Calibri" panose="020F0502020204030204" charset="0"/>
                </a:rPr>
                <a:t>Global model returns to nodes; </a:t>
              </a:r>
              <a:r>
                <a:rPr lang="en-US" altLang="en-US" sz="1600" b="1">
                  <a:latin typeface="Calibri" panose="020F0502020204030204" charset="0"/>
                  <a:cs typeface="Calibri" panose="020F0502020204030204" charset="0"/>
                </a:rPr>
                <a:t>cycle repeats</a:t>
              </a:r>
              <a:endParaRPr lang="en-US" altLang="en-US" sz="1600" b="1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5" name="Text Box 14"/>
            <p:cNvSpPr txBox="1"/>
            <p:nvPr/>
          </p:nvSpPr>
          <p:spPr>
            <a:xfrm>
              <a:off x="11792" y="7778"/>
              <a:ext cx="6991" cy="11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>
                  <a:latin typeface="Calibri" panose="020F0502020204030204" charset="0"/>
                  <a:cs typeface="Calibri" panose="020F0502020204030204" charset="0"/>
                </a:rPr>
                <a:t>Paper limitation </a:t>
              </a:r>
              <a:endParaRPr lang="en-US" b="1">
                <a:latin typeface="Calibri" panose="020F0502020204030204" charset="0"/>
                <a:cs typeface="Calibri" panose="020F0502020204030204" charset="0"/>
              </a:endParaRPr>
            </a:p>
            <a:p>
              <a:pPr indent="0" algn="l">
                <a:buFont typeface="Arial" panose="020B0604020202020204" pitchFamily="34" charset="0"/>
                <a:buNone/>
              </a:pPr>
              <a:r>
                <a:rPr lang="en-US" altLang="en-US" sz="1600">
                  <a:latin typeface="Calibri" panose="020F0502020204030204" charset="0"/>
                  <a:cs typeface="Calibri" panose="020F0502020204030204" charset="0"/>
                </a:rPr>
                <a:t>The number of clients, exact data split, and communication rounds are not clearly specified in the original paper.</a:t>
              </a:r>
              <a:endParaRPr lang="en-US" altLang="en-US" sz="160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800" b="1" dirty="0">
                <a:solidFill>
                  <a:srgbClr val="004C9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Reported Results: Promising but incomplete</a:t>
            </a:r>
            <a:endParaRPr lang="en-US"/>
          </a:p>
        </p:txBody>
      </p:sp>
      <p:graphicFrame>
        <p:nvGraphicFramePr>
          <p:cNvPr id="9" name="Chart 0"/>
          <p:cNvGraphicFramePr/>
          <p:nvPr/>
        </p:nvGraphicFramePr>
        <p:xfrm>
          <a:off x="924560" y="1590040"/>
          <a:ext cx="625856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8025130" y="2764790"/>
            <a:ext cx="3458845" cy="2886075"/>
            <a:chOff x="12280" y="3794"/>
            <a:chExt cx="5447" cy="4016"/>
          </a:xfrm>
        </p:grpSpPr>
        <p:sp>
          <p:nvSpPr>
            <p:cNvPr id="10" name="care"/>
            <p:cNvSpPr/>
            <p:nvPr/>
          </p:nvSpPr>
          <p:spPr>
            <a:xfrm>
              <a:off x="12280" y="3794"/>
              <a:ext cx="5447" cy="4016"/>
            </a:xfrm>
            <a:prstGeom prst="roundRect">
              <a:avLst>
                <a:gd name="adj" fmla="val 4068"/>
              </a:avLst>
            </a:prstGeom>
            <a:solidFill>
              <a:srgbClr val="004C9B">
                <a:alpha val="20000"/>
              </a:srgbClr>
            </a:solidFill>
            <a:ln w="12700">
              <a:solidFill>
                <a:srgbClr val="EAF2F5"/>
              </a:solidFill>
              <a:prstDash val="solid"/>
            </a:ln>
          </p:spPr>
          <p:txBody>
            <a:bodyPr/>
            <a:p>
              <a:endParaRPr lang="en-US"/>
            </a:p>
          </p:txBody>
        </p:sp>
        <p:sp>
          <p:nvSpPr>
            <p:cNvPr id="11" name="Text 2"/>
            <p:cNvSpPr txBox="1"/>
            <p:nvPr/>
          </p:nvSpPr>
          <p:spPr>
            <a:xfrm>
              <a:off x="12603" y="4171"/>
              <a:ext cx="4801" cy="80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04C9B"/>
                  </a:solidFill>
                  <a:latin typeface="Calibri" panose="020F0502020204030204" charset="0"/>
                  <a:ea typeface="Cambria" panose="02040503050406030204" pitchFamily="34" charset="-122"/>
                  <a:cs typeface="Calibri" panose="020F0502020204030204" charset="0"/>
                </a:rPr>
                <a:t>Read with care</a:t>
              </a:r>
              <a:endParaRPr lang="en-US" b="1" dirty="0">
                <a:solidFill>
                  <a:srgbClr val="004C9B"/>
                </a:solidFill>
                <a:latin typeface="Calibri" panose="020F0502020204030204" charset="0"/>
                <a:ea typeface="Cambria" panose="02040503050406030204" pitchFamily="34" charset="-122"/>
                <a:cs typeface="Calibri" panose="020F0502020204030204" charset="0"/>
              </a:endParaRPr>
            </a:p>
          </p:txBody>
        </p:sp>
        <p:sp>
          <p:nvSpPr>
            <p:cNvPr id="12" name="Text 3"/>
            <p:cNvSpPr txBox="1"/>
            <p:nvPr/>
          </p:nvSpPr>
          <p:spPr>
            <a:xfrm>
              <a:off x="12568" y="4829"/>
              <a:ext cx="4801" cy="277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8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B1F3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charset="0"/>
                </a:rPr>
                <a:t>No precision, recall, F1 or AUC reported</a:t>
              </a:r>
              <a:endParaRPr lang="en-US" sz="1400" dirty="0">
                <a:latin typeface="Calibri" panose="020F0502020204030204" charset="0"/>
                <a:cs typeface="Calibri" panose="020F0502020204030204" charset="0"/>
              </a:endParaRPr>
            </a:p>
            <a:p>
              <a:pPr marL="342900" indent="-342900">
                <a:spcAft>
                  <a:spcPts val="8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B1F3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charset="0"/>
                </a:rPr>
                <a:t>No ablation: JNBO's own gain is untested</a:t>
              </a:r>
              <a:endParaRPr lang="en-US" sz="1400" dirty="0">
                <a:latin typeface="Calibri" panose="020F0502020204030204" charset="0"/>
                <a:cs typeface="Calibri" panose="020F0502020204030204" charset="0"/>
              </a:endParaRPr>
            </a:p>
            <a:p>
              <a:pPr marL="342900" indent="-342900">
                <a:spcAft>
                  <a:spcPts val="8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B1F3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charset="0"/>
                </a:rPr>
                <a:t>Clients, rounds and data split not specified</a:t>
              </a:r>
              <a:endParaRPr lang="en-US" sz="1400" dirty="0">
                <a:solidFill>
                  <a:srgbClr val="0B1F3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charset="0"/>
              </a:endParaRPr>
            </a:p>
            <a:p>
              <a:pPr marL="342900" indent="-342900">
                <a:spcAft>
                  <a:spcPts val="8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B1F3A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charset="0"/>
                </a:rPr>
                <a:t>No public code available</a:t>
              </a:r>
              <a:endParaRPr lang="en-US" sz="1400" dirty="0">
                <a:solidFill>
                  <a:srgbClr val="0B1F3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2405"/>
            <a:ext cx="10515600" cy="1325563"/>
          </a:xfrm>
        </p:spPr>
        <p:txBody>
          <a:bodyPr>
            <a:normAutofit/>
          </a:bodyPr>
          <a:p>
            <a:r>
              <a:rPr lang="en-US" sz="3800" b="1" dirty="0">
                <a:solidFill>
                  <a:srgbClr val="004C9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From Paper to Practice: My Demo</a:t>
            </a:r>
            <a:endParaRPr lang="en-US" sz="3800" b="1" dirty="0">
              <a:solidFill>
                <a:srgbClr val="004C9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386205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750"/>
                <a:gridCol w="1487170"/>
                <a:gridCol w="1487170"/>
                <a:gridCol w="1487170"/>
                <a:gridCol w="1487170"/>
                <a:gridCol w="1487170"/>
              </a:tblGrid>
              <a:tr h="50292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 (test set: 74 frauds)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rgbClr val="004C9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Precision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rgbClr val="004C9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rgbClr val="004C9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rgbClr val="004C9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Frauds caught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rgbClr val="004C9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False alarms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rgbClr val="004C9B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Federated SpinalNet + JNBO (paper-style)</a:t>
                      </a:r>
                      <a:endParaRPr lang="en-US" sz="1200" b="1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rgbClr val="A6C1D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0.891</a:t>
                      </a:r>
                      <a:endParaRPr lang="en-US" sz="1200" b="1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rgbClr val="A6C1D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0.770</a:t>
                      </a:r>
                      <a:endParaRPr lang="en-US" sz="1200" b="1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rgbClr val="A6C1D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0.826</a:t>
                      </a:r>
                      <a:endParaRPr lang="en-US" sz="1200" b="1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rgbClr val="A6C1D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57 / 74</a:t>
                      </a:r>
                      <a:endParaRPr lang="en-US" sz="1200" b="1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rgbClr val="A6C1D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1200" b="1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rgbClr val="A6C1DC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Federated SpinalNet + Adam (reference)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0.881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0.797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0.837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59 / 74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Logistic regression (reference)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0.844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0.730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0.783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54 / 74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Centralized SpinalNet + Adam (reference)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0.684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0.730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0.706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54 / 74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</a:t>
                      </a:r>
                      <a:endParaRPr lang="en-US" sz="1200" dirty="0">
                        <a:solidFill>
                          <a:srgbClr val="0B1F3A"/>
                        </a:solidFill>
                        <a:latin typeface="Calibri" panose="020F050202020403020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73152" marR="73152" marT="27432" marB="27432"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Untitl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05" y="4064635"/>
            <a:ext cx="10232390" cy="25152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59460"/>
            <a:ext cx="10515600" cy="5417820"/>
          </a:xfrm>
        </p:spPr>
        <p:txBody>
          <a:bodyPr anchor="ctr" anchorCtr="0"/>
          <a:p>
            <a:pPr marL="0" indent="0" algn="ctr">
              <a:lnSpc>
                <a:spcPct val="80000"/>
              </a:lnSpc>
              <a:buNone/>
            </a:pPr>
            <a:r>
              <a:rPr lang="en-US" sz="6000" b="1" dirty="0">
                <a:solidFill>
                  <a:srgbClr val="004C9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ea typeface="+mj-ea"/>
                <a:cs typeface="Calibri" panose="020F0502020204030204" charset="0"/>
              </a:rPr>
              <a:t>Thank you for your attention</a:t>
            </a:r>
            <a:endParaRPr lang="en-US" sz="6000" b="1" dirty="0">
              <a:solidFill>
                <a:srgbClr val="004C9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alibri" panose="020F0502020204030204" charset="0"/>
              <a:ea typeface="+mj-ea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5.2,&quot;left&quot;:126.6,&quot;top&quot;:126.4,&quot;width&quot;:704.4}"/>
</p:tagLst>
</file>

<file path=ppt/tags/tag2.xml><?xml version="1.0" encoding="utf-8"?>
<p:tagLst xmlns:p="http://schemas.openxmlformats.org/presentationml/2006/main">
  <p:tag name="KSO_WM_DIAGRAM_VIRTUALLY_FRAME" val="{&quot;height&quot;:198.4,&quot;left&quot;:138.8,&quot;top&quot;:122.4,&quot;width&quot;:692.2}"/>
</p:tagLst>
</file>

<file path=ppt/tags/tag3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8212_2*m_h_i*1_1_2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38212_2*m_h_i*1_1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38212_2*m_h_i*1_1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38212_2*m_h_i*1_2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38212_2*m_h_i*1_2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38212_2*m_h_i*1_2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238212_2*m_h_i*1_3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20238212_2*m_h_i*1_3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4"/>
  <p:tag name="KSO_WM_UNIT_ID" val="diagram20238212_2*m_h_i*1_3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3"/>
  <p:tag name="KSO_WM_UNIT_ID" val="diagram20238212_2*m_h_i*1_4_3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DIAGRAM_VIRTUALLY_FRAME" val="{&quot;height&quot;:174.7874389648438,&quot;left&quot;:55.174957275390625,&quot;top&quot;:128.85,&quot;width&quot;:849.6500854492188}"/>
</p:tagLst>
</file>

<file path=ppt/tags/tag14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4_1"/>
  <p:tag name="KSO_WM_UNIT_ID" val="diagram20238212_2*m_h_i*1_4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4"/>
  <p:tag name="KSO_WM_UNIT_ID" val="diagram20238212_2*m_h_i*1_4_4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8212_2*m_h_i*1_2_2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8212_2*m_h_i*1_3_2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38212_2*m_h_i*1_4_2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38212_2*m_h_a*1_1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Your title her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38212_2*m_h_a*1_3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Your title her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38212_2*m_h_a*1_2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Your title her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3"/>
  <p:tag name="KSO_WM_DIAGRAM_VIRTUALLY_FRAME" val="{&quot;height&quot;:255.2,&quot;left&quot;:126.6,&quot;top&quot;:126.4,&quot;width&quot;:704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20238212_2*m_h_a*1_4_1"/>
  <p:tag name="KSO_WM_TEMPLATE_CATEGORY" val="diagram"/>
  <p:tag name="KSO_WM_TEMPLATE_INDEX" val="20238212"/>
  <p:tag name="KSO_WM_UNIT_LAYERLEVEL" val="1_1_1"/>
  <p:tag name="KSO_WM_TAG_VERSION" val="3.0"/>
  <p:tag name="KSO_WM_BEAUTIFY_FLAG" val="#wm#"/>
  <p:tag name="KSO_WM_UNIT_PRESET_TEXT" val="Your title her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resource_record_key" val="{&quot;70&quot;:[3322089,3319204,3318477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2781</Words>
  <Application>WPS Presentation</Application>
  <PresentationFormat>Widescreen</PresentationFormat>
  <Paragraphs>177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Wingdings</vt:lpstr>
      <vt:lpstr>Cambria</vt:lpstr>
      <vt:lpstr>Calibri</vt:lpstr>
      <vt:lpstr>Aptos</vt:lpstr>
      <vt:lpstr>Segoe UI</vt:lpstr>
      <vt:lpstr>Microsoft YaHei</vt:lpstr>
      <vt:lpstr>Arial Unicode MS</vt:lpstr>
      <vt:lpstr>Aptos Display</vt:lpstr>
      <vt:lpstr>Segoe UI Variable Display</vt:lpstr>
      <vt:lpstr>Office Theme</vt:lpstr>
      <vt:lpstr>Deep Learning-Based Credit Card  Fraud Detection in Federated Learning </vt:lpstr>
      <vt:lpstr>Contents</vt:lpstr>
      <vt:lpstr>Why Fraud Detection Needs Federated Learning?</vt:lpstr>
      <vt:lpstr>Proposed AI Method: JNBO-SpinalNet</vt:lpstr>
      <vt:lpstr>Federated Learning: Train Together, Keep Data Local</vt:lpstr>
      <vt:lpstr>Reported Results: Promising but incomplete</vt:lpstr>
      <vt:lpstr>From Paper to Practice: My Demo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Hayam Moutaoukil</dc:creator>
  <cp:lastModifiedBy>Hayam Moutaoukil</cp:lastModifiedBy>
  <cp:revision>21</cp:revision>
  <dcterms:created xsi:type="dcterms:W3CDTF">2026-10-02T11:53:00Z</dcterms:created>
  <dcterms:modified xsi:type="dcterms:W3CDTF">2026-10-30T05:44:40Z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4F2F6789F06D4821A9B1ADEE55A2146C_12</vt:lpwstr>
  </property>
</Properties>
</file>